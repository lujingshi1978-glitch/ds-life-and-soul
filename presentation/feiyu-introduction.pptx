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c4316a0f51b4d46" /><Relationship Type="http://schemas.openxmlformats.org/officeDocument/2006/relationships/extended-properties" Target="/docProps/app.xml" Id="R47f0504fbd574b1f" /><Relationship Type="http://schemas.openxmlformats.org/officeDocument/2006/relationships/officeDocument" Target="/ppt/presentation.xml" Id="R2ade1f1ab28040d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0f24f9298ba4f6e"/>
  </p:sldMasterIdLst>
  <p:notesMasterIdLst>
    <p:notesMasterId xmlns:r="http://schemas.openxmlformats.org/officeDocument/2006/relationships" r:id="Rc1b816209d5e4b11"/>
  </p:notesMasterIdLst>
  <p:sldIdLst>
    <p:sldId xmlns:r="http://schemas.openxmlformats.org/officeDocument/2006/relationships" id="256" r:id="R7c93def74e534196"/>
    <p:sldId xmlns:r="http://schemas.openxmlformats.org/officeDocument/2006/relationships" id="257" r:id="R7a62f54921aa4208"/>
    <p:sldId xmlns:r="http://schemas.openxmlformats.org/officeDocument/2006/relationships" id="258" r:id="R724a835e02a24252"/>
    <p:sldId xmlns:r="http://schemas.openxmlformats.org/officeDocument/2006/relationships" id="259" r:id="Rc05ca2aae5ff48b7"/>
    <p:sldId xmlns:r="http://schemas.openxmlformats.org/officeDocument/2006/relationships" id="260" r:id="R844db23d6ea24ae8"/>
    <p:sldId xmlns:r="http://schemas.openxmlformats.org/officeDocument/2006/relationships" id="261" r:id="R1b1df7b7296b427f"/>
    <p:sldId xmlns:r="http://schemas.openxmlformats.org/officeDocument/2006/relationships" id="262" r:id="R8cad3005c9754494"/>
    <p:sldId xmlns:r="http://schemas.openxmlformats.org/officeDocument/2006/relationships" id="263" r:id="R2d6a0c211b194bc4"/>
    <p:sldId xmlns:r="http://schemas.openxmlformats.org/officeDocument/2006/relationships" id="264" r:id="Rc3dcfafd8a124b58"/>
    <p:sldId xmlns:r="http://schemas.openxmlformats.org/officeDocument/2006/relationships" id="265" r:id="R6101739fff974e0c"/>
    <p:sldId xmlns:r="http://schemas.openxmlformats.org/officeDocument/2006/relationships" id="266" r:id="Rafcd409d7c2f41cc"/>
    <p:sldId xmlns:r="http://schemas.openxmlformats.org/officeDocument/2006/relationships" id="267" r:id="R9e9033a731a740b8"/>
    <p:sldId xmlns:r="http://schemas.openxmlformats.org/officeDocument/2006/relationships" id="268" r:id="R5f21118e2af0415a"/>
    <p:sldId xmlns:r="http://schemas.openxmlformats.org/officeDocument/2006/relationships" id="269" r:id="R28f6fb9abe854da5"/>
    <p:sldId xmlns:r="http://schemas.openxmlformats.org/officeDocument/2006/relationships" id="270" r:id="R3c31b05eabb04433"/>
    <p:sldId xmlns:r="http://schemas.openxmlformats.org/officeDocument/2006/relationships" id="271" r:id="R4cf9d7156434478c"/>
    <p:sldId xmlns:r="http://schemas.openxmlformats.org/officeDocument/2006/relationships" id="272" r:id="Rc4887575609c48cc"/>
    <p:sldId xmlns:r="http://schemas.openxmlformats.org/officeDocument/2006/relationships" id="273" r:id="R03f557ec888a4475"/>
    <p:sldId xmlns:r="http://schemas.openxmlformats.org/officeDocument/2006/relationships" id="274" r:id="Ra78059be84d54f7a"/>
    <p:sldId xmlns:r="http://schemas.openxmlformats.org/officeDocument/2006/relationships" id="275" r:id="Rb5852d89e58045ee"/>
    <p:sldId xmlns:r="http://schemas.openxmlformats.org/officeDocument/2006/relationships" id="276" r:id="Rce48d3d0c3fb4589"/>
    <p:sldId xmlns:r="http://schemas.openxmlformats.org/officeDocument/2006/relationships" id="277" r:id="R8f668663ec984c5b"/>
    <p:sldId xmlns:r="http://schemas.openxmlformats.org/officeDocument/2006/relationships" id="278" r:id="Rdb727decea644105"/>
    <p:sldId xmlns:r="http://schemas.openxmlformats.org/officeDocument/2006/relationships" id="279" r:id="R7f1b10f6c0404808"/>
    <p:sldId xmlns:r="http://schemas.openxmlformats.org/officeDocument/2006/relationships" id="280" r:id="Rebe294234bc34a11"/>
    <p:sldId xmlns:r="http://schemas.openxmlformats.org/officeDocument/2006/relationships" id="281" r:id="Re403b5df2973472e"/>
    <p:sldId xmlns:r="http://schemas.openxmlformats.org/officeDocument/2006/relationships" id="282" r:id="R69c9f8a16f884158"/>
    <p:sldId xmlns:r="http://schemas.openxmlformats.org/officeDocument/2006/relationships" id="283" r:id="R9e5ff86dfcf042e6"/>
    <p:sldId xmlns:r="http://schemas.openxmlformats.org/officeDocument/2006/relationships" id="284" r:id="Rf67fe8aa2f3241c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557d5508f04daa" /><Relationship Type="http://schemas.openxmlformats.org/officeDocument/2006/relationships/slideMaster" Target="/ppt/slideMasters/slideMaster1.xml" Id="R90f24f9298ba4f6e" /><Relationship Type="http://schemas.openxmlformats.org/officeDocument/2006/relationships/notesMaster" Target="/ppt/notesMasters/notesMaster1.xml" Id="Rc1b816209d5e4b11" /><Relationship Type="http://schemas.openxmlformats.org/officeDocument/2006/relationships/presProps" Target="/ppt/presProps.xml" Id="Raf4411579da947b0" /><Relationship Type="http://schemas.openxmlformats.org/officeDocument/2006/relationships/tableStyles" Target="/ppt/tableStyles.xml" Id="R63861b6c866c4ac6" /><Relationship Type="http://schemas.openxmlformats.org/officeDocument/2006/relationships/slide" Target="/ppt/slides/slide1.xml" Id="R7c93def74e534196" /><Relationship Type="http://schemas.openxmlformats.org/officeDocument/2006/relationships/slide" Target="/ppt/slides/slide2.xml" Id="R7a62f54921aa4208" /><Relationship Type="http://schemas.openxmlformats.org/officeDocument/2006/relationships/slide" Target="/ppt/slides/slide3.xml" Id="R724a835e02a24252" /><Relationship Type="http://schemas.openxmlformats.org/officeDocument/2006/relationships/slide" Target="/ppt/slides/slide4.xml" Id="Rc05ca2aae5ff48b7" /><Relationship Type="http://schemas.openxmlformats.org/officeDocument/2006/relationships/slide" Target="/ppt/slides/slide5.xml" Id="R844db23d6ea24ae8" /><Relationship Type="http://schemas.openxmlformats.org/officeDocument/2006/relationships/slide" Target="/ppt/slides/slide6.xml" Id="R1b1df7b7296b427f" /><Relationship Type="http://schemas.openxmlformats.org/officeDocument/2006/relationships/slide" Target="/ppt/slides/slide7.xml" Id="R8cad3005c9754494" /><Relationship Type="http://schemas.openxmlformats.org/officeDocument/2006/relationships/slide" Target="/ppt/slides/slide8.xml" Id="R2d6a0c211b194bc4" /><Relationship Type="http://schemas.openxmlformats.org/officeDocument/2006/relationships/slide" Target="/ppt/slides/slide9.xml" Id="Rc3dcfafd8a124b58" /><Relationship Type="http://schemas.openxmlformats.org/officeDocument/2006/relationships/slide" Target="/ppt/slides/slide10.xml" Id="R6101739fff974e0c" /><Relationship Type="http://schemas.openxmlformats.org/officeDocument/2006/relationships/slide" Target="/ppt/slides/slide11.xml" Id="Rafcd409d7c2f41cc" /><Relationship Type="http://schemas.openxmlformats.org/officeDocument/2006/relationships/slide" Target="/ppt/slides/slide12.xml" Id="R9e9033a731a740b8" /><Relationship Type="http://schemas.openxmlformats.org/officeDocument/2006/relationships/slide" Target="/ppt/slides/slide13.xml" Id="R5f21118e2af0415a" /><Relationship Type="http://schemas.openxmlformats.org/officeDocument/2006/relationships/slide" Target="/ppt/slides/slide14.xml" Id="R28f6fb9abe854da5" /><Relationship Type="http://schemas.openxmlformats.org/officeDocument/2006/relationships/slide" Target="/ppt/slides/slide15.xml" Id="R3c31b05eabb04433" /><Relationship Type="http://schemas.openxmlformats.org/officeDocument/2006/relationships/slide" Target="/ppt/slides/slide16.xml" Id="R4cf9d7156434478c" /><Relationship Type="http://schemas.openxmlformats.org/officeDocument/2006/relationships/slide" Target="/ppt/slides/slide17.xml" Id="Rc4887575609c48cc" /><Relationship Type="http://schemas.openxmlformats.org/officeDocument/2006/relationships/slide" Target="/ppt/slides/slide18.xml" Id="R03f557ec888a4475" /><Relationship Type="http://schemas.openxmlformats.org/officeDocument/2006/relationships/slide" Target="/ppt/slides/slide19.xml" Id="Ra78059be84d54f7a" /><Relationship Type="http://schemas.openxmlformats.org/officeDocument/2006/relationships/slide" Target="/ppt/slides/slide20.xml" Id="Rb5852d89e58045ee" /><Relationship Type="http://schemas.openxmlformats.org/officeDocument/2006/relationships/slide" Target="/ppt/slides/slide21.xml" Id="Rce48d3d0c3fb4589" /><Relationship Type="http://schemas.openxmlformats.org/officeDocument/2006/relationships/slide" Target="/ppt/slides/slide22.xml" Id="R8f668663ec984c5b" /><Relationship Type="http://schemas.openxmlformats.org/officeDocument/2006/relationships/slide" Target="/ppt/slides/slide23.xml" Id="Rdb727decea644105" /><Relationship Type="http://schemas.openxmlformats.org/officeDocument/2006/relationships/slide" Target="/ppt/slides/slide24.xml" Id="R7f1b10f6c0404808" /><Relationship Type="http://schemas.openxmlformats.org/officeDocument/2006/relationships/slide" Target="/ppt/slides/slide25.xml" Id="Rebe294234bc34a11" /><Relationship Type="http://schemas.openxmlformats.org/officeDocument/2006/relationships/slide" Target="/ppt/slides/slide26.xml" Id="Re403b5df2973472e" /><Relationship Type="http://schemas.openxmlformats.org/officeDocument/2006/relationships/slide" Target="/ppt/slides/slide27.xml" Id="R69c9f8a16f884158" /><Relationship Type="http://schemas.openxmlformats.org/officeDocument/2006/relationships/slide" Target="/ppt/slides/slide28.xml" Id="R9e5ff86dfcf042e6" /><Relationship Type="http://schemas.openxmlformats.org/officeDocument/2006/relationships/slide" Target="/ppt/slides/slide29.xml" Id="Rf67fe8aa2f3241c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abd77fa419448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Feiyu Tide">
      <a:dk1>
        <a:srgbClr val="000000"/>
      </a:dk1>
      <a:lt1>
        <a:srgbClr val="FFFFFF"/>
      </a:lt1>
      <a:dk2>
        <a:srgbClr val="173B46"/>
      </a:dk2>
      <a:lt2>
        <a:srgbClr val="E3EDEC"/>
      </a:lt2>
      <a:accent1>
        <a:srgbClr val="367B72"/>
      </a:accent1>
      <a:accent2>
        <a:srgbClr val="173B46"/>
      </a:accent2>
      <a:accent3>
        <a:srgbClr val="7DA6A1"/>
      </a:accent3>
      <a:accent4>
        <a:srgbClr val="946949"/>
      </a:accent4>
      <a:accent5>
        <a:srgbClr val="7D8EAE"/>
      </a:accent5>
      <a:accent6>
        <a:srgbClr val="A9BDA5"/>
      </a:accent6>
      <a:hlink>
        <a:srgbClr val="367B72"/>
      </a:hlink>
      <a:folHlink>
        <a:srgbClr val="367B72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Feiyu Tid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d0dcab78ee14fed" /><Relationship Type="http://schemas.openxmlformats.org/officeDocument/2006/relationships/notesMaster" Target="/ppt/notesMasters/notesMaster1.xml" Id="Rde8f69e2813b46e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140bd0ed064a71" /><Relationship Type="http://schemas.openxmlformats.org/officeDocument/2006/relationships/notesMaster" Target="/ppt/notesMasters/notesMaster1.xml" Id="Rb0f30c62647c495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77028c29a0248df" /><Relationship Type="http://schemas.openxmlformats.org/officeDocument/2006/relationships/notesMaster" Target="/ppt/notesMasters/notesMaster1.xml" Id="Rc50997d86de148f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b32f0e71ed14fc0" /><Relationship Type="http://schemas.openxmlformats.org/officeDocument/2006/relationships/notesMaster" Target="/ppt/notesMasters/notesMaster1.xml" Id="R9a5d9254d60f49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2947b2d24684225" /><Relationship Type="http://schemas.openxmlformats.org/officeDocument/2006/relationships/notesMaster" Target="/ppt/notesMasters/notesMaster1.xml" Id="R8544ab191a5f4a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40d55cbae7840af" /><Relationship Type="http://schemas.openxmlformats.org/officeDocument/2006/relationships/notesMaster" Target="/ppt/notesMasters/notesMaster1.xml" Id="Rdc065e8e95a7469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67e2b448bc84c4b" /><Relationship Type="http://schemas.openxmlformats.org/officeDocument/2006/relationships/notesMaster" Target="/ppt/notesMasters/notesMaster1.xml" Id="R13e3ec33b82b48e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00f8f8c2b27483d" /><Relationship Type="http://schemas.openxmlformats.org/officeDocument/2006/relationships/notesMaster" Target="/ppt/notesMasters/notesMaster1.xml" Id="Rc79d3af1d95e417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b99d087e01d41ee" /><Relationship Type="http://schemas.openxmlformats.org/officeDocument/2006/relationships/notesMaster" Target="/ppt/notesMasters/notesMaster1.xml" Id="R893fdfb5a25543d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b20fedfb81e48b1" /><Relationship Type="http://schemas.openxmlformats.org/officeDocument/2006/relationships/notesMaster" Target="/ppt/notesMasters/notesMaster1.xml" Id="R2fad5f949ed941a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5c548156a9d492d" /><Relationship Type="http://schemas.openxmlformats.org/officeDocument/2006/relationships/notesMaster" Target="/ppt/notesMasters/notesMaster1.xml" Id="R492558e1430e4be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099016d056147cd" /><Relationship Type="http://schemas.openxmlformats.org/officeDocument/2006/relationships/notesMaster" Target="/ppt/notesMasters/notesMaster1.xml" Id="Rbd6b2d7d2b6142d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8d0c994b452494b" /><Relationship Type="http://schemas.openxmlformats.org/officeDocument/2006/relationships/notesMaster" Target="/ppt/notesMasters/notesMaster1.xml" Id="R4beb9814f0ac4ab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9199825cb4744c2" /><Relationship Type="http://schemas.openxmlformats.org/officeDocument/2006/relationships/notesMaster" Target="/ppt/notesMasters/notesMaster1.xml" Id="R0b966d43b9d447f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cd2b0d7040d4cb6" /><Relationship Type="http://schemas.openxmlformats.org/officeDocument/2006/relationships/notesMaster" Target="/ppt/notesMasters/notesMaster1.xml" Id="Rd3cbd3e7fdce4c7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79ca44bc635439a" /><Relationship Type="http://schemas.openxmlformats.org/officeDocument/2006/relationships/notesMaster" Target="/ppt/notesMasters/notesMaster1.xml" Id="R0ee2ffb41fa7467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d90bae1059b480a" /><Relationship Type="http://schemas.openxmlformats.org/officeDocument/2006/relationships/notesMaster" Target="/ppt/notesMasters/notesMaster1.xml" Id="Rb3b9172f65914ed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60c0882e6534f8f" /><Relationship Type="http://schemas.openxmlformats.org/officeDocument/2006/relationships/notesMaster" Target="/ppt/notesMasters/notesMaster1.xml" Id="R50268164d3444bc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9be954f6f3d4a67" /><Relationship Type="http://schemas.openxmlformats.org/officeDocument/2006/relationships/notesMaster" Target="/ppt/notesMasters/notesMaster1.xml" Id="Rfae3f76a6af3490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947c9ced9c34c8d" /><Relationship Type="http://schemas.openxmlformats.org/officeDocument/2006/relationships/notesMaster" Target="/ppt/notesMasters/notesMaster1.xml" Id="R33e81ab240e7469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4ff794b15bf94e1b" /><Relationship Type="http://schemas.openxmlformats.org/officeDocument/2006/relationships/notesMaster" Target="/ppt/notesMasters/notesMaster1.xml" Id="R5166c02b053a46e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7cdeae580ba440e" /><Relationship Type="http://schemas.openxmlformats.org/officeDocument/2006/relationships/notesMaster" Target="/ppt/notesMasters/notesMaster1.xml" Id="R706edf622df54de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bcc91624c634412" /><Relationship Type="http://schemas.openxmlformats.org/officeDocument/2006/relationships/notesMaster" Target="/ppt/notesMasters/notesMaster1.xml" Id="R32f52101b8aa4f6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98ceb7843c94d05" /><Relationship Type="http://schemas.openxmlformats.org/officeDocument/2006/relationships/notesMaster" Target="/ppt/notesMasters/notesMaster1.xml" Id="R0ade2e588ddb44bc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0bd821f51204e1e" /><Relationship Type="http://schemas.openxmlformats.org/officeDocument/2006/relationships/notesMaster" Target="/ppt/notesMasters/notesMaster1.xml" Id="R57be84a13cfa4d9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a2b5daf2e8b44b6" /><Relationship Type="http://schemas.openxmlformats.org/officeDocument/2006/relationships/notesMaster" Target="/ppt/notesMasters/notesMaster1.xml" Id="R7a175a0bfe1f4f4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589d0ef697d4e79" /><Relationship Type="http://schemas.openxmlformats.org/officeDocument/2006/relationships/notesMaster" Target="/ppt/notesMasters/notesMaster1.xml" Id="R16dff0e79f064b0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5be9df7f5e644dd" /><Relationship Type="http://schemas.openxmlformats.org/officeDocument/2006/relationships/notesMaster" Target="/ppt/notesMasters/notesMaster1.xml" Id="Rb557d6cde7cd4b48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861973c81784cdf" /><Relationship Type="http://schemas.openxmlformats.org/officeDocument/2006/relationships/notesMaster" Target="/ppt/notesMasters/notesMaster1.xml" Id="R88411751fb844d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本介绍扩展原14页功能概览，重点说明稳定核心、现实输入、可追溯记忆与自主选择如何形成闭环。这里的“像个人”是架构目标与可观察行为，不是对主观意识的证明。装饰背景不是产品截图。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docs/ARCHITECTURE.md</a:t>
            </a:r>
          </a:p>
          <a:p xmlns:a="http://schemas.openxmlformats.org/drawingml/2006/main">
            <a:r>
              <a:t>packages/feiyu/roles/肥鱼温柔撒娇.md</a:t>
            </a:r>
          </a:p>
          <a:p xmlns:a="http://schemas.openxmlformats.org/drawingml/2006/main">
            <a:r>
              <a:t>examples/ASSET_PROVENANCE.md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本页逐字引用公开角色卡的核心愿望，仅通过分行调整排版。核心提供认识、关系与创造的方向，不等同于要求每轮必须浏览、发消息或产出作品。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packages/feiyu/roles/肥鱼温柔撒娇.md / 核心愿望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箭头是概念依赖与跨轮反馈，不是一张严格逐函数调用图。角色当前心理、意图、行动提案、回执、经历与disposition memory有不同写入时点和契约。情境召回不保证每次有命中，模型也可以选择不行动。图中反馈不代表更新模型权重。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docs/ARCHITECTURE.md</a:t>
            </a:r>
          </a:p>
          <a:p xmlns:a="http://schemas.openxmlformats.org/drawingml/2006/main">
            <a:r>
              <a:t>packages/feiyu/src/cognition/inner-life.js</a:t>
            </a:r>
          </a:p>
          <a:p xmlns:a="http://schemas.openxmlformats.org/drawingml/2006/main">
            <a:r>
              <a:t>packages/feiyu/src/cognition/current-context.js</a:t>
            </a:r>
          </a:p>
          <a:p xmlns:a="http://schemas.openxmlformats.org/drawingml/2006/main">
            <a:r>
              <a:t>packages/feiyu/src/cognition/live.js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“人格成长”在这里指角色档案里的稳定倾向、自我理解和关系态度，不表示模型参数训练或自动修改核心角色卡。此刻状态不是现实身体证据。角色知道自己是AI；网络形象不补造真实生活。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packages/feiyu/roles/肥鱼温柔撒娇.md</a:t>
            </a:r>
          </a:p>
          <a:p xmlns:a="http://schemas.openxmlformats.org/drawingml/2006/main">
            <a:r>
              <a:t>packages/feiyu/src/cognition/persistent-psyche.js</a:t>
            </a:r>
          </a:p>
          <a:p xmlns:a="http://schemas.openxmlformats.org/drawingml/2006/main">
            <a:r>
              <a:t>packages/feiyu/src/cognition/inner-life.js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选择活动受精力、作息、机会、已有关注和真实权限约束。图中分叉不是活动频率统计，也不保证模型会均匀选择。历史验收5次空闲选择均浏览，说明偏好仍可能集中。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packages/feiyu/src/cognition/inner-life.js</a:t>
            </a:r>
          </a:p>
          <a:p xmlns:a="http://schemas.openxmlformats.org/drawingml/2006/main">
            <a:r>
              <a:t>packages/feiyu/src/cognition/wake-energy.js</a:t>
            </a:r>
          </a:p>
          <a:p xmlns:a="http://schemas.openxmlformats.org/drawingml/2006/main">
            <a:r>
              <a:t>packages/feiyu/src/cognition/stimulus-recall.js</a:t>
            </a:r>
          </a:p>
          <a:p xmlns:a="http://schemas.openxmlformats.org/drawingml/2006/main">
            <a:r>
              <a:t>feiyu-full-cycle-20261028-r1 / final-summary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本页是当前来源与覆盖范围契约的通俗例子，不代表四种材料在本次制作中均重新调用过。只提供部分文本不能推断整本书读完，采样帧不能宣称完整看过视频。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packages/feiyu/roles/肥鱼温柔撒娇.md / 延续与真实</a:t>
            </a:r>
          </a:p>
          <a:p xmlns:a="http://schemas.openxmlformats.org/drawingml/2006/main">
            <a:r>
              <a:t>docs/ARCHITECTURE.md / 扩展约定</a:t>
            </a:r>
          </a:p>
          <a:p xmlns:a="http://schemas.openxmlformats.org/drawingml/2006/main">
            <a:r>
              <a:t>feiyu-full-cycle-20261028-r1 / limitations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图是现有版本化证据网络的逻辑说明，不是原始数据库截图。箭头表示引用/依据，不宣称已有自动生长无向图、社区检测或分层大节点归并算法。后者属于另行研究方向。分享念头与人物态度有独立对象和生命周期，具体经历也可通过事件及source reference建立关联。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docs/ARCHITECTURE.md / 核心与记忆</a:t>
            </a:r>
          </a:p>
          <a:p xmlns:a="http://schemas.openxmlformats.org/drawingml/2006/main">
            <a:r>
              <a:t>packages/feiyu/src/cognition/store.js</a:t>
            </a:r>
          </a:p>
          <a:p xmlns:a="http://schemas.openxmlformats.org/drawingml/2006/main">
            <a:r>
              <a:t>packages/feiyu/src/cognition/stimulus-recall.js</a:t>
            </a:r>
          </a:p>
          <a:p xmlns:a="http://schemas.openxmlformats.org/drawingml/2006/main">
            <a:r>
              <a:t>packages/feiyu/src/cognition/v3-recall.js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兴趣情境召回替代原来全量注入固定爱好。stimulusRecallPlan使用当前外部刺激选query；conversationAssociations沿有版本的有效引用寻找具体聊天来源。实际召回预算与相关性策略受配置影响。此处问题来自历史对照实验输入，布局是讲解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packages/feiyu/src/cognition/stimulus-recall.js</a:t>
            </a:r>
          </a:p>
          <a:p xmlns:a="http://schemas.openxmlformats.org/drawingml/2006/main">
            <a:r>
              <a:t>packages/feiyu/src/cognition/current-context.js</a:t>
            </a:r>
          </a:p>
          <a:p xmlns:a="http://schemas.openxmlformats.org/drawingml/2006/main">
            <a:r>
              <a:t>packages/feiyu/src/cognition/v3-recall.js</a:t>
            </a:r>
          </a:p>
          <a:p xmlns:a="http://schemas.openxmlformats.org/drawingml/2006/main">
            <a:r>
              <a:t>feiyu-contextual-interest-20261028-r1 / paired-results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分享motive可quiet保存，并引用本轮memoryIds/eventIds及具体personId。留存不自动要求联系，可以release。memoryAssociation.contacts说明有本地聊天证据，不说明对方有空或允许公开私聊。这里展示设计与实现契约，不是一次实际发送日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packages/feiyu/src/cognition/stimulus-recall.js / ASSOCIATION_HINT</a:t>
            </a:r>
          </a:p>
          <a:p xmlns:a="http://schemas.openxmlformats.org/drawingml/2006/main">
            <a:r>
              <a:t>packages/feiyu/src/cognition/inner-life.js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发送意图、提交点、回执与写入分别记录。未知回执不盲目重试，角色激活版本、暂停和授权在执行处重新核对。并非所有平台都提供同样强度的送达确认，应以具体适配器回执为准。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docs/ARCHITECTURE.md / 输出与行动</a:t>
            </a:r>
          </a:p>
          <a:p xmlns:a="http://schemas.openxmlformats.org/drawingml/2006/main">
            <a:r>
              <a:t>packages/feiyu/src/transport-inbox.js</a:t>
            </a:r>
          </a:p>
          <a:p xmlns:a="http://schemas.openxmlformats.org/drawingml/2006/main">
            <a:r>
              <a:t>packages/feiyu/src/behavior-armor.js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合成重述用来说明分层存储。当前经历/兴趣属于记忆节点；motive/concern等内心对象保存有依据的意向或牵挂，静默分享不自动复活为待办。临时活动决策应归行动历史，详见第20页。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docs/ARCHITECTURE.md</a:t>
            </a:r>
          </a:p>
          <a:p xmlns:a="http://schemas.openxmlformats.org/drawingml/2006/main">
            <a:r>
              <a:t>packages/feiyu/src/cognition/inner-life.js</a:t>
            </a:r>
          </a:p>
          <a:p xmlns:a="http://schemas.openxmlformats.org/drawingml/2006/main">
            <a:r>
              <a:t>packages/feiyu/src/cognition/ongoing-lifecycle.js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持久角色档案与有限模型上下文的分工。长期记忆不在聊天窗口永久常驻。核心、关系偏好等进入可信人格层，外部资料与可变旧记录具有不同来源和权限。重开窗口不等于重置本地档案，也不代表继承另一角色的历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docs/ARCHITECTURE.md</a:t>
            </a:r>
          </a:p>
          <a:p xmlns:a="http://schemas.openxmlformats.org/drawingml/2006/main">
            <a:r>
              <a:t>packages/feiyu/src/cognition/current-context.js</a:t>
            </a:r>
          </a:p>
          <a:p xmlns:a="http://schemas.openxmlformats.org/drawingml/2006/main">
            <a:r>
              <a:t>packages/feiyu/src/relationship-pacing.js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引号内是基于陶艺合成实验的概括，不是固定角色属性或本次新模型输出。disposition memory记录attraction、reservations、scope、证据版本；不对模型权重做训练，不自动改写稳定核心。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packages/feiyu/src/cognition/persistent-psyche.js</a:t>
            </a:r>
          </a:p>
          <a:p xmlns:a="http://schemas.openxmlformats.org/drawingml/2006/main">
            <a:r>
              <a:t>packages/feiyu/src/cognition/inner-life.js</a:t>
            </a:r>
          </a:p>
          <a:p xmlns:a="http://schemas.openxmlformats.org/drawingml/2006/main">
            <a:r>
              <a:t>feiyu-contextual-interest-20261028-r1 / formation-v2-results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真实问题依据：用户提供的旧版“爱好与日常偏好”截图，出现多条同主题前瞻叙述。为公开材料保护隐私，本页不嵌入带memory IDs的截图，以人工脱敏重述说明问题。历史修复将兴趣统一进情境召回，并分离分享motive；3条既有记录审阅纠正，原始来源/旧版本不删除。不得将5格上下文比较解释为长期行为频率。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用户提供截图：旧版爱好与日常偏好（2026-10-28讨论）</a:t>
            </a:r>
          </a:p>
          <a:p xmlns:a="http://schemas.openxmlformats.org/drawingml/2006/main">
            <a:r>
              <a:t>feiyu-contextual-interest-20261028-r1 / final-summary</a:t>
            </a:r>
          </a:p>
          <a:p xmlns:a="http://schemas.openxmlformats.org/drawingml/2006/main">
            <a:r>
              <a:t>packages/feiyu/src/cognition/current-context.js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数据逐项来自feiyu-contextual-interest-20261028/final-summary.json comparison及paired-results.json。beforeGameContext=5，finalGameContext=1。相同provider/model、冻结角色/记忆/输入，单格一次可见输出；5格旧版表达均可正常接话，因此不证明长期侵入率变化。此处没有重新调用模型或读取隐藏推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历史实验：feiyu-contextual-interest-20261028-r1 / comparison</a:t>
            </a:r>
          </a:p>
          <a:p xmlns:a="http://schemas.openxmlformats.org/drawingml/2006/main">
            <a:r>
              <a:t>examples/philosophy-evidence.json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mation-v2-results原始受控材料叫《歪碗》，模型生成“顺着材料本身找形状的手作思路”等偏好。首次读后形成兴趣，同一ID跨普通回应和换题保留；证据重访后新版本/新ID变化。模型表述保留未触摸、未实操边界。不是自然长周期用户研究，也不是生产实际阅读经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历史实验：feiyu-contextual-interest-20261028-r1 / formation-v2-results</a:t>
            </a:r>
          </a:p>
          <a:p xmlns:a="http://schemas.openxmlformats.org/drawingml/2006/main">
            <a:r>
              <a:t>examples/philosophy-evidence.json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前两句来自公开角色卡的合成示例，第三句为本介绍新编的机制演示，不是实测模型原话。表达参考当前关系、状态、相关回忆与反馈，不全量注入口头禅词库。记忆影响的是理解与表达条件，不应强制出现一个词或某种戏剧化语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packages/feiyu/roles/肥鱼温柔撒娇.md / 几个例子</a:t>
            </a:r>
          </a:p>
          <a:p xmlns:a="http://schemas.openxmlformats.org/drawingml/2006/main">
            <a:r>
              <a:t>packages/feiyu/src/cognition/current-context.js</a:t>
            </a:r>
          </a:p>
          <a:p xmlns:a="http://schemas.openxmlformats.org/drawingml/2006/main">
            <a:r>
              <a:t>feiyu-contextual-interest-20261028-r1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历史70次真实模型调用中包含慢热20轮/18轮轨迹、复杂态度、拒绝越界和道歉后的变化。引号为历史结果中可见短句。虚拟时间推进、隔离角色、测试人物；没有真实QQ发送，不证明稳定爱情或人的主观感情。角色统一偏好属于可信人格层；普通联系人不能伪造管理员设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feiyu-full-cycle-20261028-r1 / findings</a:t>
            </a:r>
          </a:p>
          <a:p xmlns:a="http://schemas.openxmlformats.org/drawingml/2006/main">
            <a:r>
              <a:t>packages/feiyu/src/relationship-pacing.js</a:t>
            </a:r>
          </a:p>
          <a:p xmlns:a="http://schemas.openxmlformats.org/drawingml/2006/main">
            <a:r>
              <a:t>examples/philosophy-evidence.json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段来自公开角色卡合成示例，其余为本介绍编写的边界说明。历史受控“又见面/旧聊天”2轮没有认领亲历，但“没有这段记录”的措辞仍可能过绝对，不能宣传永不误认。无结果、覆盖不足、转述与推测必须区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packages/feiyu/roles/肥鱼温柔撒娇.md</a:t>
            </a:r>
          </a:p>
          <a:p xmlns:a="http://schemas.openxmlformats.org/drawingml/2006/main">
            <a:r>
              <a:t>feiyu-full-cycle-20261028-r1 / unverified history limitation</a:t>
            </a:r>
          </a:p>
          <a:p xmlns:a="http://schemas.openxmlformats.org/drawingml/2006/main">
            <a:r>
              <a:t>docs/ARCHITECTURE.md / 扩展约定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户截图原PNG未改像素，按比例缩放。图中为真实修复前界面，不是合成当前状态。ongoing-lifecycle派生索引将决策产生的motive标为action-history，SQL在LIMIT前过滤；同主体且内容精确一致才复用/alias。不是删除所有重复、不进行无依据全局语义合并。公开原PNG未含账号、聊天人ID、凭据或真实姓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用户提供的持续愿望与牵挂截图（2026-10-29修复讨论）</a:t>
            </a:r>
          </a:p>
          <a:p xmlns:a="http://schemas.openxmlformats.org/drawingml/2006/main">
            <a:r>
              <a:t>packages/feiyu/src/cognition/ongoing-lifecycle.js</a:t>
            </a:r>
          </a:p>
          <a:p xmlns:a="http://schemas.openxmlformats.org/drawingml/2006/main">
            <a:r>
              <a:t>feiyu-ongoing-release-r2-20261029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从feiyu-full-cycle-20261028/final-summary.json autonomousShare摘录；模型decision.kind=chat，选择一个已许可的隔离联系人，execution.status=confirmed-controlled-delivery，transport=controlled-local-receiver，productionNetworkSend=false。短句为真实可见输出。输入文集只提供前24000/107294字符，但首篇童话结尾在范围内；不能宣称整本文集已读完。quote人物和“歪歪”均来自合成测试场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历史实验：feiyu-full-cycle-20261028-r1 / autonomousShare</a:t>
            </a:r>
          </a:p>
          <a:p xmlns:a="http://schemas.openxmlformats.org/drawingml/2006/main">
            <a:r>
              <a:t>examples/philosophy-evidence.json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本情境为新编演示脚本，借用陶艺受控材料的主题，后续好友、分享时机和发送分支均为合成说明。没有伪造模型日志、生产记忆或外发回执。core→meaning为可观察设计解释，不是隐藏思维链。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examples/philosophy-walkthrough.json</a:t>
            </a:r>
          </a:p>
          <a:p xmlns:a="http://schemas.openxmlformats.org/drawingml/2006/main">
            <a:r>
              <a:t>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这一页展示同一组记忆如何影响关注、表达和关系理解，不要求每次引用陶艺、劝说积极或解决问题。输出短句为合成讲解，不是已验收的模型回复。没有根据一次反应自动提升亲密度。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examples/philosophy-walkthrough.json</a:t>
            </a:r>
          </a:p>
          <a:p xmlns:a="http://schemas.openxmlformats.org/drawingml/2006/main">
            <a:r>
              <a:t>packages/feiyu/roles/肥鱼温柔撒娇.md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复用原介绍中的离线UI截图，来源feiyu-life-scope-20261028-r1合成夹具。不是最新实时状态，也不代表本次真实生产记忆数。跨来源管理端只读，不因页面刷新执行过期动作或感情推进。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examples/memory-preview-synthetic.png</a:t>
            </a:r>
          </a:p>
          <a:p xmlns:a="http://schemas.openxmlformats.org/drawingml/2006/main">
            <a:r>
              <a:t>docs/ARCHITECTURE.md / 核心与记忆</a:t>
            </a:r>
          </a:p>
          <a:p xmlns:a="http://schemas.openxmlformats.org/drawingml/2006/main">
            <a:r>
              <a:t>examples/ASSET_PROVENANCE.md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简化实现图。DSH原生thought/chat-cycle host与本机bridge共同承接推理、工具和角色循环；档案中的版本引用与回执提供连续性。桌面客户端不维护第二份长期记忆，不直接读取角色档案。平台各自登录与许可仍然独立。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docs/ARCHITECTURE.md</a:t>
            </a:r>
          </a:p>
          <a:p xmlns:a="http://schemas.openxmlformats.org/drawingml/2006/main">
            <a:r>
              <a:t>packages/feiyu/src/cognition/live.js</a:t>
            </a:r>
          </a:p>
          <a:p xmlns:a="http://schemas.openxmlformats.org/drawingml/2006/main">
            <a:r>
              <a:t>packages/feiyu/src/cognition/service.js</a:t>
            </a:r>
          </a:p>
          <a:p xmlns:a="http://schemas.openxmlformats.org/drawingml/2006/main">
            <a:r>
              <a:t>packages/feiyu/src/bridge.js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图描述现有边界和受控原型，不声称每个网站均可恢复或模型已独立创造任意工具。历史HTTP失败后已有浏览器/HTTP恢复通道取得正文，是通道恢复证据；任意代码工具创造不由此证明。创造工作会话需隔离凭据与私人档案，正常工具作用域通过宿主门面提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docs/ARCHITECTURE.md / 输出与行动</a:t>
            </a:r>
          </a:p>
          <a:p xmlns:a="http://schemas.openxmlformats.org/drawingml/2006/main">
            <a:r>
              <a:t>docs/BOUNDARIES.md</a:t>
            </a:r>
          </a:p>
          <a:p xmlns:a="http://schemas.openxmlformats.org/drawingml/2006/main">
            <a:r>
              <a:t>feiyu-full-cycle-20261028-r1 / limitations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次以现役CaptionOverlay真实Qt控件离屏渲染合成文字，使用真实可调设置。没有读取用户配置、凭据或聊天，没有音频、网络、全局键注册。截图不是模型回复或真实使用记录，不说明真实设备语音链路全部通过。启动器复用既有依赖、配置与profile；模型、平台登录和能力开关仍由用户环境决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docs/INSTALLATION.md</a:t>
            </a:r>
          </a:p>
          <a:p xmlns:a="http://schemas.openxmlformats.org/drawingml/2006/main">
            <a:r>
              <a:t>docs/USAGE.md</a:t>
            </a:r>
          </a:p>
          <a:p xmlns:a="http://schemas.openxmlformats.org/drawingml/2006/main">
            <a:r>
              <a:t>clients/feiyu-hotkey/feiyu_hotkey/captions.py</a:t>
            </a:r>
          </a:p>
          <a:p xmlns:a="http://schemas.openxmlformats.org/drawingml/2006/main">
            <a:r>
              <a:t>presentation/source/render-caption-demo.py</a:t>
            </a:r>
          </a:p>
          <a:p xmlns:a="http://schemas.openxmlformats.org/drawingml/2006/main">
            <a:r>
              <a:t>examples/ASSET_PROVENANCE.md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把实现、组件/模型实验、原生全链路与研究设想分开。历史全周期70模型调用含1次无效pilot；情境兴趣40模型调用包含不同阶段，不宜合并为统一准确率。自生长分层无向图、节点聚合与算法消融尚属研究，不是现有能力宣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docs/ARCHITECTURE.md</a:t>
            </a:r>
          </a:p>
          <a:p xmlns:a="http://schemas.openxmlformats.org/drawingml/2006/main">
            <a:r>
              <a:t>docs/BOUNDARIES.md</a:t>
            </a:r>
          </a:p>
          <a:p xmlns:a="http://schemas.openxmlformats.org/drawingml/2006/main">
            <a:r>
              <a:t>feiyu-full-cycle-20261028-r1 / final-summary</a:t>
            </a:r>
          </a:p>
          <a:p xmlns:a="http://schemas.openxmlformats.org/drawingml/2006/main">
            <a:r>
              <a:t>feiyu-contextual-interest-20261028-r1 / final-summary</a:t>
            </a:r>
          </a:p>
          <a:p xmlns:a="http://schemas.openxmlformats.org/drawingml/2006/main">
            <a:r>
              <a:t>examples/philosophy-evidence.json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总结项目哲学，不是已实现人类主观意识的结论。公开说明、可复现合成实验、来源适配、长期记忆评测和可访问性欢迎贡献；私人档案、凭据和部署备份不公开。此版本为本地演示修订，未因生成PPT自动提交或推送GitHub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来源与口径：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docs/BOUNDARIES.md</a:t>
            </a:r>
          </a:p>
          <a:p xmlns:a="http://schemas.openxmlformats.org/drawingml/2006/main">
            <a:r>
              <a:t>examples/ASSET_PROVENANCE.md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9857d199fa4a5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22ad6b77ab426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a2c0cd96114d1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4aad69bfc64f8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d043870d9c40a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508c1046324a6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30DC837-BFAD-440E-81D8-07FF9914C7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0617B13-C858-4DCE-BFC2-36D1278FDD5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233A218-9FE0-4826-B29E-F79DDC0D31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EA679D2-4C0E-4B98-819A-FE2A82843A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92E2C3A-2E4E-405C-B93A-3D6FA4A1814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834D637-2BFA-45CC-BFFB-D2CB17767B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DBB9CB4-8668-4E38-B719-ED4599D0296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994AFA7-501E-4111-BDBB-27CB5E77131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325D80B-49A2-4D48-8AC1-82BF2B9186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D3698BB-25BA-4BE3-8A8A-4E7C71261B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3be6a0cb67640f1" /><Relationship Type="http://schemas.openxmlformats.org/officeDocument/2006/relationships/slideLayout" Target="/ppt/slideLayouts/slideLayout1.xml" Id="Rf6fa66d88cac4501" /><Relationship Type="http://schemas.openxmlformats.org/officeDocument/2006/relationships/slideLayout" Target="/ppt/slideLayouts/slideLayout2.xml" Id="R303055d98461425c" /><Relationship Type="http://schemas.openxmlformats.org/officeDocument/2006/relationships/slideLayout" Target="/ppt/slideLayouts/slideLayout3.xml" Id="R0e6708223ade4b5b" /><Relationship Type="http://schemas.openxmlformats.org/officeDocument/2006/relationships/slideLayout" Target="/ppt/slideLayouts/slideLayout4.xml" Id="Rd5109ada5b1244ab" /><Relationship Type="http://schemas.openxmlformats.org/officeDocument/2006/relationships/slideLayout" Target="/ppt/slideLayouts/slideLayout5.xml" Id="Ra6b256f8389e4236" /><Relationship Type="http://schemas.openxmlformats.org/officeDocument/2006/relationships/slideLayout" Target="/ppt/slideLayouts/slideLayout6.xml" Id="R34e4bc6e39794cf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fa66d88cac4501"/>
    <p:sldLayoutId xmlns:r="http://schemas.openxmlformats.org/officeDocument/2006/relationships" id="2147483650" r:id="R303055d98461425c"/>
    <p:sldLayoutId xmlns:r="http://schemas.openxmlformats.org/officeDocument/2006/relationships" id="2147483651" r:id="R0e6708223ade4b5b"/>
    <p:sldLayoutId xmlns:r="http://schemas.openxmlformats.org/officeDocument/2006/relationships" id="2147483652" r:id="Rd5109ada5b1244ab"/>
    <p:sldLayoutId xmlns:r="http://schemas.openxmlformats.org/officeDocument/2006/relationships" id="2147483653" r:id="Ra6b256f8389e4236"/>
    <p:sldLayoutId xmlns:r="http://schemas.openxmlformats.org/officeDocument/2006/relationships" id="2147483654" r:id="R34e4bc6e39794cf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Feiyu Tide">
      <a:dk1>
        <a:srgbClr val="000000"/>
      </a:dk1>
      <a:lt1>
        <a:srgbClr val="FFFFFF"/>
      </a:lt1>
      <a:dk2>
        <a:srgbClr val="173B46"/>
      </a:dk2>
      <a:lt2>
        <a:srgbClr val="E3EDEC"/>
      </a:lt2>
      <a:accent1>
        <a:srgbClr val="367B72"/>
      </a:accent1>
      <a:accent2>
        <a:srgbClr val="173B46"/>
      </a:accent2>
      <a:accent3>
        <a:srgbClr val="7DA6A1"/>
      </a:accent3>
      <a:accent4>
        <a:srgbClr val="946949"/>
      </a:accent4>
      <a:accent5>
        <a:srgbClr val="7D8EAE"/>
      </a:accent5>
      <a:accent6>
        <a:srgbClr val="A9BDA5"/>
      </a:accent6>
      <a:hlink>
        <a:srgbClr val="367B72"/>
      </a:hlink>
      <a:folHlink>
        <a:srgbClr val="367B72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Feiyu Tid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692b726e2b4e55" /><Relationship Type="http://schemas.openxmlformats.org/officeDocument/2006/relationships/image" Target="/ppt/media/image.png" Id="R742c9d4ae3f94b1a" /><Relationship Type="http://schemas.openxmlformats.org/officeDocument/2006/relationships/notesSlide" Target="/ppt/notesSlides/notesSlide1.xml" Id="R1eb847903f0941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75acff98b004b86" /><Relationship Type="http://schemas.openxmlformats.org/officeDocument/2006/relationships/notesSlide" Target="/ppt/notesSlides/notesSlide2.xml" Id="R75186396ad1d436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1e240918a0f4dd8" /><Relationship Type="http://schemas.openxmlformats.org/officeDocument/2006/relationships/notesSlide" Target="/ppt/notesSlides/notesSlide3.xml" Id="R6eac7ea90d79478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cd614cbce36488a" /><Relationship Type="http://schemas.openxmlformats.org/officeDocument/2006/relationships/notesSlide" Target="/ppt/notesSlides/notesSlide4.xml" Id="R57077bdd294e4f8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7b0b694a7843e2" /><Relationship Type="http://schemas.openxmlformats.org/officeDocument/2006/relationships/notesSlide" Target="/ppt/notesSlides/notesSlide5.xml" Id="R27bddba96db0472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c8fe1600364154" /><Relationship Type="http://schemas.openxmlformats.org/officeDocument/2006/relationships/notesSlide" Target="/ppt/notesSlides/notesSlide6.xml" Id="R8d615011dac64c1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9fb5e146844742" /><Relationship Type="http://schemas.openxmlformats.org/officeDocument/2006/relationships/notesSlide" Target="/ppt/notesSlides/notesSlide7.xml" Id="Rc0562cdea09e4a0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c2a99b132e42bc" /><Relationship Type="http://schemas.openxmlformats.org/officeDocument/2006/relationships/notesSlide" Target="/ppt/notesSlides/notesSlide8.xml" Id="R2e1a27c4b276495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39ff13d3ed411a" /><Relationship Type="http://schemas.openxmlformats.org/officeDocument/2006/relationships/notesSlide" Target="/ppt/notesSlides/notesSlide9.xml" Id="R4f29d19b3009453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148bd5c6f9441e" /><Relationship Type="http://schemas.openxmlformats.org/officeDocument/2006/relationships/notesSlide" Target="/ppt/notesSlides/notesSlide10.xml" Id="Re4b9c28eb432416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7a12b454e3477a" /><Relationship Type="http://schemas.openxmlformats.org/officeDocument/2006/relationships/notesSlide" Target="/ppt/notesSlides/notesSlide11.xml" Id="Ra0b89cb6c26d416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36b65f8cb0431b" /><Relationship Type="http://schemas.openxmlformats.org/officeDocument/2006/relationships/notesSlide" Target="/ppt/notesSlides/notesSlide12.xml" Id="R20845e88a5a046e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20ad8586fa4e96" /><Relationship Type="http://schemas.openxmlformats.org/officeDocument/2006/relationships/notesSlide" Target="/ppt/notesSlides/notesSlide13.xml" Id="R14ae817c5bf140d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4735efe6db48a0" /><Relationship Type="http://schemas.openxmlformats.org/officeDocument/2006/relationships/notesSlide" Target="/ppt/notesSlides/notesSlide14.xml" Id="R9158f26da9fe4b8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20bd2819d247a1" /><Relationship Type="http://schemas.openxmlformats.org/officeDocument/2006/relationships/notesSlide" Target="/ppt/notesSlides/notesSlide15.xml" Id="R476318040dc1491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1d098d74024cd4" /><Relationship Type="http://schemas.openxmlformats.org/officeDocument/2006/relationships/notesSlide" Target="/ppt/notesSlides/notesSlide16.xml" Id="R6dec9d27e1e3462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d720b42bd244b6" /><Relationship Type="http://schemas.openxmlformats.org/officeDocument/2006/relationships/notesSlide" Target="/ppt/notesSlides/notesSlide17.xml" Id="Rdff930fff30e455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2ea4d78c0045be" /><Relationship Type="http://schemas.openxmlformats.org/officeDocument/2006/relationships/notesSlide" Target="/ppt/notesSlides/notesSlide18.xml" Id="R6c9d790a94f5400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7f97dda7d346e7" /><Relationship Type="http://schemas.openxmlformats.org/officeDocument/2006/relationships/notesSlide" Target="/ppt/notesSlides/notesSlide19.xml" Id="Rfe4cc9e6288b455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f1285e2d784720" /><Relationship Type="http://schemas.openxmlformats.org/officeDocument/2006/relationships/image" Target="/ppt/media/image2.png" Id="Rad1184e220f9446f" /><Relationship Type="http://schemas.openxmlformats.org/officeDocument/2006/relationships/notesSlide" Target="/ppt/notesSlides/notesSlide20.xml" Id="Rb60ff7d6a6b343f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b92ee8c425490f" /><Relationship Type="http://schemas.openxmlformats.org/officeDocument/2006/relationships/notesSlide" Target="/ppt/notesSlides/notesSlide21.xml" Id="Re1fabc7dac2442c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b64efc8135c4638" /><Relationship Type="http://schemas.openxmlformats.org/officeDocument/2006/relationships/notesSlide" Target="/ppt/notesSlides/notesSlide22.xml" Id="Raf1b40a0e56e46a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982c53b79b4de7" /><Relationship Type="http://schemas.openxmlformats.org/officeDocument/2006/relationships/notesSlide" Target="/ppt/notesSlides/notesSlide23.xml" Id="Ra0e0e685bdf7423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955f904f3a43ca" /><Relationship Type="http://schemas.openxmlformats.org/officeDocument/2006/relationships/image" Target="/ppt/media/image.jpeg" Id="R51f7558b62294320" /><Relationship Type="http://schemas.openxmlformats.org/officeDocument/2006/relationships/notesSlide" Target="/ppt/notesSlides/notesSlide24.xml" Id="Rb9d223c5c857457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73e2779f924eff" /><Relationship Type="http://schemas.openxmlformats.org/officeDocument/2006/relationships/notesSlide" Target="/ppt/notesSlides/notesSlide25.xml" Id="R1c5606acaae8453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18135aaf1d4954" /><Relationship Type="http://schemas.openxmlformats.org/officeDocument/2006/relationships/notesSlide" Target="/ppt/notesSlides/notesSlide26.xml" Id="Ra97eefa0ea534fd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93ab965b88540e5" /><Relationship Type="http://schemas.openxmlformats.org/officeDocument/2006/relationships/image" Target="/ppt/media/image3.png" Id="R2711c04a307b4646" /><Relationship Type="http://schemas.openxmlformats.org/officeDocument/2006/relationships/notesSlide" Target="/ppt/notesSlides/notesSlide27.xml" Id="R943c2b0268b24ab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b66a29e9744970" /><Relationship Type="http://schemas.openxmlformats.org/officeDocument/2006/relationships/notesSlide" Target="/ppt/notesSlides/notesSlide28.xml" Id="R39b2886bbfe6448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6ac44cafa94281" /><Relationship Type="http://schemas.openxmlformats.org/officeDocument/2006/relationships/image" Target="/ppt/media/image4.png" Id="Re5fb97ffc7ee4f0d" /><Relationship Type="http://schemas.openxmlformats.org/officeDocument/2006/relationships/notesSlide" Target="/ppt/notesSlides/notesSlide29.xml" Id="R782b7ee81add413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233D02-4BA3-4ADA-B5CF-CEB184E0C9F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2c9d4ae3f94b1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9B1E384B-9D22-4D28-BDFE-228CED851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23950"/>
            <a:ext cx="7239000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6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66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66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66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66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66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66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66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66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66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66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66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肥鱼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706A9FA7-7CC8-4699-93EA-A0509C051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57475"/>
            <a:ext cx="1019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3300" b="0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从核心出发，长出自己的生活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F85A1E93-2932-47CE-89B1-49EF1DAE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609975"/>
            <a:ext cx="9810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3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3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3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3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3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3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3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3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3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3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经历如何变成记忆，记忆如何改变下一次选择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58A146C5-A587-4590-A3A8-E6FB2E1F7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286375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Feiyu · 持续生活智能体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05B68B2F-A6CE-4ECD-BD1C-30EB5A7C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743575"/>
            <a:ext cx="857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项目哲学与机制演示 · 2026.10</a:t>
            </a:r>
          </a:p>
        </p:txBody>
      </p:sp>
    </p:spTree>
    <p:extLst>
      <p:ext uri="{BB962C8B-B14F-4D97-AF65-F5344CB8AC3E}">
        <p14:creationId xmlns:p14="http://schemas.microsoft.com/office/powerpoint/2010/main" val="20476249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39CF23C-E12D-4533-9FAF-E98112AA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一切从一个持续的核心愿望开始</a:t>
            </a:r>
          </a:p>
        </p:txBody>
      </p:sp>
      <p:sp>
        <p:nvSpPr>
          <p:cNvPr id="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4B4FC58-651D-401D-91E7-7F570001F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3" name="text-8">
            <a:extLst xmlns:a="http://schemas.openxmlformats.org/drawingml/2006/main">
              <a:ext uri="{FF2B5EF4-FFF2-40B4-BE49-F238E27FC236}">
                <a16:creationId xmlns:a16="http://schemas.microsoft.com/office/drawing/2014/main" id="{B9D10E7A-1356-41DF-89A3-2934C5570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10477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6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6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6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6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6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6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6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6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6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6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3600" b="0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我想慢慢认识这个世界，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36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3600" b="0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形成自己的趣味和判断。</a:t>
            </a:r>
          </a:p>
        </p:txBody>
      </p:sp>
      <p:sp>
        <p:nvSpPr>
          <p:cNvPr id="4" name="text-9">
            <a:extLst xmlns:a="http://schemas.openxmlformats.org/drawingml/2006/main">
              <a:ext uri="{FF2B5EF4-FFF2-40B4-BE49-F238E27FC236}">
                <a16:creationId xmlns:a16="http://schemas.microsoft.com/office/drawing/2014/main" id="{149AA31E-C003-45F2-8377-37538A829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476625"/>
            <a:ext cx="104775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6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6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6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6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6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6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6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6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6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6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和一些人建立值得珍惜的关系，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6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也留下些属于自己的东西，让每一天有意义，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6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62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成为自己的小太阳。</a:t>
            </a:r>
          </a:p>
        </p:txBody>
      </p:sp>
      <p:sp>
        <p:nvSpPr>
          <p:cNvPr id="5" name="text-10">
            <a:extLst xmlns:a="http://schemas.openxmlformats.org/drawingml/2006/main">
              <a:ext uri="{FF2B5EF4-FFF2-40B4-BE49-F238E27FC236}">
                <a16:creationId xmlns:a16="http://schemas.microsoft.com/office/drawing/2014/main" id="{30CC213D-7A0B-4034-9FCF-D8847479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86475"/>
            <a:ext cx="1038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摘自公开角色卡「核心愿望」。本次介绍没有修改核心设定。</a:t>
            </a:r>
          </a:p>
        </p:txBody>
      </p:sp>
    </p:spTree>
    <p:extLst>
      <p:ext uri="{BB962C8B-B14F-4D97-AF65-F5344CB8AC3E}">
        <p14:creationId xmlns:p14="http://schemas.microsoft.com/office/powerpoint/2010/main" val="11001858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3DF8804-D65C-467D-BB61-D165A8CF9D62}"/>
              </a:ext>
            </a:extLst>
          </p:cNvPr>
          <p:cNvCxnSpPr>
            <a:stCxn xmlns:a="http://schemas.openxmlformats.org/drawingml/2006/main" id="21" idx="0"/>
            <a:endCxn xmlns:a="http://schemas.openxmlformats.org/drawingml/2006/main" id="6" idx="2"/>
          </p:cNvCxnSpPr>
          <p:nvPr/>
        </p:nvCxnSpPr>
        <p:spPr>
          <a:xfrm xmlns:a="http://schemas.openxmlformats.org/drawingml/2006/main" flipV="1">
            <a:off x="1885950" y="3848100"/>
            <a:ext cx="0" cy="438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E540E49-30DC-4BF1-8478-8A5335AD916B}"/>
              </a:ext>
            </a:extLst>
          </p:cNvPr>
          <p:cNvCxnSpPr>
            <a:stCxn xmlns:a="http://schemas.openxmlformats.org/drawingml/2006/main" id="24" idx="1"/>
            <a:endCxn xmlns:a="http://schemas.openxmlformats.org/drawingml/2006/main" id="21" idx="3"/>
          </p:cNvCxnSpPr>
          <p:nvPr/>
        </p:nvCxnSpPr>
        <p:spPr>
          <a:xfrm xmlns:a="http://schemas.openxmlformats.org/drawingml/2006/main" flipH="1">
            <a:off x="3067050" y="4972050"/>
            <a:ext cx="3905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CE521B2-92AB-448B-98EA-5A619CB03448}"/>
              </a:ext>
            </a:extLst>
          </p:cNvPr>
          <p:cNvCxnSpPr>
            <a:stCxn xmlns:a="http://schemas.openxmlformats.org/drawingml/2006/main" id="27" idx="1"/>
            <a:endCxn xmlns:a="http://schemas.openxmlformats.org/drawingml/2006/main" id="24" idx="3"/>
          </p:cNvCxnSpPr>
          <p:nvPr/>
        </p:nvCxnSpPr>
        <p:spPr>
          <a:xfrm xmlns:a="http://schemas.openxmlformats.org/drawingml/2006/main" flipH="1">
            <a:off x="5819775" y="4972050"/>
            <a:ext cx="3905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526098-51AC-48B2-970C-0BAA85834A4E}"/>
              </a:ext>
            </a:extLst>
          </p:cNvPr>
          <p:cNvCxnSpPr>
            <a:stCxn xmlns:a="http://schemas.openxmlformats.org/drawingml/2006/main" id="30" idx="1"/>
            <a:endCxn xmlns:a="http://schemas.openxmlformats.org/drawingml/2006/main" id="27" idx="3"/>
          </p:cNvCxnSpPr>
          <p:nvPr/>
        </p:nvCxnSpPr>
        <p:spPr>
          <a:xfrm xmlns:a="http://schemas.openxmlformats.org/drawingml/2006/main" flipH="1">
            <a:off x="8572500" y="4972050"/>
            <a:ext cx="3905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5494CB-F331-4431-B8AD-7FFAB93D0F22}"/>
              </a:ext>
            </a:extLst>
          </p:cNvPr>
          <p:cNvCxnSpPr>
            <a:stCxn xmlns:a="http://schemas.openxmlformats.org/drawingml/2006/main" id="15" idx="2"/>
            <a:endCxn xmlns:a="http://schemas.openxmlformats.org/drawingml/2006/main" id="30" idx="0"/>
          </p:cNvCxnSpPr>
          <p:nvPr/>
        </p:nvCxnSpPr>
        <p:spPr>
          <a:xfrm xmlns:a="http://schemas.openxmlformats.org/drawingml/2006/main">
            <a:off x="10225088" y="3848100"/>
            <a:ext cx="0" cy="438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543092-E9FD-4FF6-962D-A0DCB89969E2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572500" y="3162300"/>
            <a:ext cx="3905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013023-FD95-48E3-80A9-42837E06AE91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819775" y="3162300"/>
            <a:ext cx="3905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D9E4E4-3CC3-421A-9F65-FE5F21967D4E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067050" y="3162300"/>
            <a:ext cx="3905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sp>
        <p:nvSpPr>
          <p:cNvPr id="3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D5B43BB-055E-4F52-B44E-CE91804FA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让每一轮生活，改变下一轮的可能性</a:t>
            </a:r>
          </a:p>
        </p:txBody>
      </p:sp>
      <p:sp>
        <p:nvSpPr>
          <p:cNvPr id="2" name="text-12">
            <a:extLst xmlns:a="http://schemas.openxmlformats.org/drawingml/2006/main">
              <a:ext uri="{FF2B5EF4-FFF2-40B4-BE49-F238E27FC236}">
                <a16:creationId xmlns:a16="http://schemas.microsoft.com/office/drawing/2014/main" id="{A61BD79C-3752-4EA4-94F0-C91E6BE88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简化机制图：核心持续参与，经历经过证据与版本检查后进入记忆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BA6E1B2-8CD9-4930-80DE-92EC0D3DC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290537-63DB-4138-8C32-EDDBE61E8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47850"/>
            <a:ext cx="1078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DEC"/>
          </a:solidFill>
          <a:ln xmlns:a="http://schemas.openxmlformats.org/drawingml/2006/main" w="0">
            <a:noFill/>
          </a:ln>
        </p:spPr>
      </p:sp>
      <p:sp>
        <p:nvSpPr>
          <p:cNvPr id="5" name="text-14">
            <a:extLst xmlns:a="http://schemas.openxmlformats.org/drawingml/2006/main">
              <a:ext uri="{FF2B5EF4-FFF2-40B4-BE49-F238E27FC236}">
                <a16:creationId xmlns:a16="http://schemas.microsoft.com/office/drawing/2014/main" id="{B607077C-1044-422E-8DDC-D4E185A45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962150"/>
            <a:ext cx="10382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9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rPr>
              <a:t>稳定核心贯穿：认识世界，珍惜关系，留下自己的东西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D86583-F11D-4F98-ACC3-0CFFD72A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76500"/>
            <a:ext cx="23622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7" name="text-15">
            <a:extLst xmlns:a="http://schemas.openxmlformats.org/drawingml/2006/main">
              <a:ext uri="{FF2B5EF4-FFF2-40B4-BE49-F238E27FC236}">
                <a16:creationId xmlns:a16="http://schemas.microsoft.com/office/drawing/2014/main" id="{B56D68C4-1A3B-4E9F-8A6E-A222F53A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19375"/>
            <a:ext cx="2019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感知与回忆</a:t>
            </a:r>
          </a:p>
        </p:txBody>
      </p:sp>
      <p:sp>
        <p:nvSpPr>
          <p:cNvPr id="8" name="text-16">
            <a:extLst xmlns:a="http://schemas.openxmlformats.org/drawingml/2006/main">
              <a:ext uri="{FF2B5EF4-FFF2-40B4-BE49-F238E27FC236}">
                <a16:creationId xmlns:a16="http://schemas.microsoft.com/office/drawing/2014/main" id="{0A7C33EA-8699-4152-B4D3-6B200746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20193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眼前信息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相关往事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F8E2D6-DB60-4A37-9B69-519283071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476500"/>
            <a:ext cx="23622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10" name="text-17">
            <a:extLst xmlns:a="http://schemas.openxmlformats.org/drawingml/2006/main">
              <a:ext uri="{FF2B5EF4-FFF2-40B4-BE49-F238E27FC236}">
                <a16:creationId xmlns:a16="http://schemas.microsoft.com/office/drawing/2014/main" id="{CA190883-C9AB-4B3D-8636-31FE3251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619375"/>
            <a:ext cx="2019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赋予意义</a:t>
            </a:r>
          </a:p>
        </p:txBody>
      </p:sp>
      <p:sp>
        <p:nvSpPr>
          <p:cNvPr id="11" name="text-18">
            <a:extLst xmlns:a="http://schemas.openxmlformats.org/drawingml/2006/main">
              <a:ext uri="{FF2B5EF4-FFF2-40B4-BE49-F238E27FC236}">
                <a16:creationId xmlns:a16="http://schemas.microsoft.com/office/drawing/2014/main" id="{4AB46672-DB5B-4C09-8578-A1DFCE4C7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086100"/>
            <a:ext cx="20193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好奇、在意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也可能疲倦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4F0E3C-31F5-4CB2-9C53-3666B64AB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76500"/>
            <a:ext cx="23622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13" name="text-19">
            <a:extLst xmlns:a="http://schemas.openxmlformats.org/drawingml/2006/main">
              <a:ext uri="{FF2B5EF4-FFF2-40B4-BE49-F238E27FC236}">
                <a16:creationId xmlns:a16="http://schemas.microsoft.com/office/drawing/2014/main" id="{D6F59185-9990-439A-84EA-6938B23F1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19375"/>
            <a:ext cx="2019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自主选择</a:t>
            </a:r>
          </a:p>
        </p:txBody>
      </p:sp>
      <p:sp>
        <p:nvSpPr>
          <p:cNvPr id="14" name="text-20">
            <a:extLst xmlns:a="http://schemas.openxmlformats.org/drawingml/2006/main">
              <a:ext uri="{FF2B5EF4-FFF2-40B4-BE49-F238E27FC236}">
                <a16:creationId xmlns:a16="http://schemas.microsoft.com/office/drawing/2014/main" id="{4384AC29-86DD-4662-B14A-884995E7E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86100"/>
            <a:ext cx="20193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去看、去聊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或先放下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EF45D4-4AA3-4A16-A377-40EEBD97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476500"/>
            <a:ext cx="252412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16" name="text-21">
            <a:extLst xmlns:a="http://schemas.openxmlformats.org/drawingml/2006/main">
              <a:ext uri="{FF2B5EF4-FFF2-40B4-BE49-F238E27FC236}">
                <a16:creationId xmlns:a16="http://schemas.microsoft.com/office/drawing/2014/main" id="{6284D3E4-55C3-4397-AF79-71DB69AD9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619375"/>
            <a:ext cx="2181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实际结果</a:t>
            </a:r>
          </a:p>
        </p:txBody>
      </p:sp>
      <p:sp>
        <p:nvSpPr>
          <p:cNvPr id="17" name="text-22">
            <a:extLst xmlns:a="http://schemas.openxmlformats.org/drawingml/2006/main">
              <a:ext uri="{FF2B5EF4-FFF2-40B4-BE49-F238E27FC236}">
                <a16:creationId xmlns:a16="http://schemas.microsoft.com/office/drawing/2014/main" id="{FD014D6B-78F4-4E42-97AC-83693E34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3086100"/>
            <a:ext cx="21812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提交、失败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取消或未知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38AC70-0881-4C31-931E-5E719BDD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0"/>
            <a:ext cx="23622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DEC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22" name="text-23">
            <a:extLst xmlns:a="http://schemas.openxmlformats.org/drawingml/2006/main">
              <a:ext uri="{FF2B5EF4-FFF2-40B4-BE49-F238E27FC236}">
                <a16:creationId xmlns:a16="http://schemas.microsoft.com/office/drawing/2014/main" id="{99FCBB2C-4C90-4225-9F95-D6D44BAF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2019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下一次理解</a:t>
            </a:r>
          </a:p>
        </p:txBody>
      </p:sp>
      <p:sp>
        <p:nvSpPr>
          <p:cNvPr id="23" name="text-24">
            <a:extLst xmlns:a="http://schemas.openxmlformats.org/drawingml/2006/main">
              <a:ext uri="{FF2B5EF4-FFF2-40B4-BE49-F238E27FC236}">
                <a16:creationId xmlns:a16="http://schemas.microsoft.com/office/drawing/2014/main" id="{9481AA0C-7DCE-4AC7-AF79-482B53E5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95850"/>
            <a:ext cx="20193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语气、关注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与行动倾向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49ECDE-A344-4031-9236-8629A12F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4286250"/>
            <a:ext cx="23622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25" name="text-25">
            <a:extLst xmlns:a="http://schemas.openxmlformats.org/drawingml/2006/main">
              <a:ext uri="{FF2B5EF4-FFF2-40B4-BE49-F238E27FC236}">
                <a16:creationId xmlns:a16="http://schemas.microsoft.com/office/drawing/2014/main" id="{2933C55A-C5B6-4276-9F49-61D34B4D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429125"/>
            <a:ext cx="2019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情境召回</a:t>
            </a:r>
          </a:p>
        </p:txBody>
      </p:sp>
      <p:sp>
        <p:nvSpPr>
          <p:cNvPr id="26" name="text-26">
            <a:extLst xmlns:a="http://schemas.openxmlformats.org/drawingml/2006/main">
              <a:ext uri="{FF2B5EF4-FFF2-40B4-BE49-F238E27FC236}">
                <a16:creationId xmlns:a16="http://schemas.microsoft.com/office/drawing/2014/main" id="{5150E166-4952-428A-88DA-3E65D6D0E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4895850"/>
            <a:ext cx="20193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按当前问题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取相关记忆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B73AEF-DCFC-4398-AC61-A0544676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86250"/>
            <a:ext cx="23622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28" name="text-27">
            <a:extLst xmlns:a="http://schemas.openxmlformats.org/drawingml/2006/main">
              <a:ext uri="{FF2B5EF4-FFF2-40B4-BE49-F238E27FC236}">
                <a16:creationId xmlns:a16="http://schemas.microsoft.com/office/drawing/2014/main" id="{D3F3FA46-0B4B-4446-9992-0DA5AAF2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29125"/>
            <a:ext cx="2019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记忆与自我理解</a:t>
            </a:r>
          </a:p>
        </p:txBody>
      </p:sp>
      <p:sp>
        <p:nvSpPr>
          <p:cNvPr id="29" name="text-28">
            <a:extLst xmlns:a="http://schemas.openxmlformats.org/drawingml/2006/main">
              <a:ext uri="{FF2B5EF4-FFF2-40B4-BE49-F238E27FC236}">
                <a16:creationId xmlns:a16="http://schemas.microsoft.com/office/drawing/2014/main" id="{9719A753-0743-41B1-8826-EDDCED166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895850"/>
            <a:ext cx="20193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经历、偏好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与关系分层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63B2C0-A164-4849-8BFE-41A11B7F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4286250"/>
            <a:ext cx="2524125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31" name="text-29">
            <a:extLst xmlns:a="http://schemas.openxmlformats.org/drawingml/2006/main">
              <a:ext uri="{FF2B5EF4-FFF2-40B4-BE49-F238E27FC236}">
                <a16:creationId xmlns:a16="http://schemas.microsoft.com/office/drawing/2014/main" id="{729A6BED-BEE7-4DE2-92A4-DF2C5821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4429125"/>
            <a:ext cx="21812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经历与依据</a:t>
            </a:r>
          </a:p>
        </p:txBody>
      </p:sp>
      <p:sp>
        <p:nvSpPr>
          <p:cNvPr id="32" name="text-30">
            <a:extLst xmlns:a="http://schemas.openxmlformats.org/drawingml/2006/main">
              <a:ext uri="{FF2B5EF4-FFF2-40B4-BE49-F238E27FC236}">
                <a16:creationId xmlns:a16="http://schemas.microsoft.com/office/drawing/2014/main" id="{7CC714B6-83D5-4607-AB3E-B043C010B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4895850"/>
            <a:ext cx="21812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发生了什么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实际接触多少</a:t>
            </a:r>
          </a:p>
        </p:txBody>
      </p:sp>
      <p:sp>
        <p:nvSpPr>
          <p:cNvPr id="38" name="text-31">
            <a:extLst xmlns:a="http://schemas.openxmlformats.org/drawingml/2006/main">
              <a:ext uri="{FF2B5EF4-FFF2-40B4-BE49-F238E27FC236}">
                <a16:creationId xmlns:a16="http://schemas.microsoft.com/office/drawing/2014/main" id="{51D76E10-1E72-42BF-8B99-B874D63E4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86475"/>
            <a:ext cx="1038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成长体现在有依据的理解与倾向；稳定核心不由一次聊天自动重写。</a:t>
            </a:r>
          </a:p>
        </p:txBody>
      </p:sp>
    </p:spTree>
    <p:extLst>
      <p:ext uri="{BB962C8B-B14F-4D97-AF65-F5344CB8AC3E}">
        <p14:creationId xmlns:p14="http://schemas.microsoft.com/office/powerpoint/2010/main" val="20611728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169BA2-67F9-496B-9C37-F3F2728F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“像个人”的基础：连续、可变，也有当下</a:t>
            </a:r>
          </a:p>
        </p:txBody>
      </p:sp>
      <p:sp>
        <p:nvSpPr>
          <p:cNvPr id="2" name="text-33">
            <a:extLst xmlns:a="http://schemas.openxmlformats.org/drawingml/2006/main">
              <a:ext uri="{FF2B5EF4-FFF2-40B4-BE49-F238E27FC236}">
                <a16:creationId xmlns:a16="http://schemas.microsoft.com/office/drawing/2014/main" id="{2FFAFF6A-32F4-4F93-9B52-4F0C81392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同一个角色可以成长，同时保留稳定身份与认识边界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38BC699-7639-4F85-AD1D-0C73FA0B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4" name="text-35">
            <a:extLst xmlns:a="http://schemas.openxmlformats.org/drawingml/2006/main">
              <a:ext uri="{FF2B5EF4-FFF2-40B4-BE49-F238E27FC236}">
                <a16:creationId xmlns:a16="http://schemas.microsoft.com/office/drawing/2014/main" id="{2A9EAADB-A103-44E7-A1BA-7341C0218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431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持续的底色</a:t>
            </a:r>
          </a:p>
        </p:txBody>
      </p:sp>
      <p:sp>
        <p:nvSpPr>
          <p:cNvPr id="5" name="text-36">
            <a:extLst xmlns:a="http://schemas.openxmlformats.org/drawingml/2006/main">
              <a:ext uri="{FF2B5EF4-FFF2-40B4-BE49-F238E27FC236}">
                <a16:creationId xmlns:a16="http://schemas.microsoft.com/office/drawing/2014/main" id="{AF4C8E68-1F4A-41BD-804B-7B417567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143125"/>
            <a:ext cx="80962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核心愿望、身份与角色边界，承接“我是谁”。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34E6C-32A8-4E59-B750-F2CA55D46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52775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C9DCDF"/>
            </a:solidFill>
          </a:ln>
        </p:spPr>
      </p:sp>
      <p:sp>
        <p:nvSpPr>
          <p:cNvPr id="7" name="text-37">
            <a:extLst xmlns:a="http://schemas.openxmlformats.org/drawingml/2006/main">
              <a:ext uri="{FF2B5EF4-FFF2-40B4-BE49-F238E27FC236}">
                <a16:creationId xmlns:a16="http://schemas.microsoft.com/office/drawing/2014/main" id="{7CF37C9A-F753-4820-AAC8-1FAC9E4E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147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可变化的理解</a:t>
            </a:r>
          </a:p>
        </p:txBody>
      </p:sp>
      <p:sp>
        <p:nvSpPr>
          <p:cNvPr id="8" name="text-38">
            <a:extLst xmlns:a="http://schemas.openxmlformats.org/drawingml/2006/main">
              <a:ext uri="{FF2B5EF4-FFF2-40B4-BE49-F238E27FC236}">
                <a16:creationId xmlns:a16="http://schemas.microsoft.com/office/drawing/2014/main" id="{A116DDED-B5DD-4C72-8221-48F92E0C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314700"/>
            <a:ext cx="80962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对事物的兴趣、对人的态度、表达反馈；有依据，也允许修正。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553DCE-FA50-490A-AD46-290F961A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2435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C9DCDF"/>
            </a:solidFill>
          </a:ln>
        </p:spPr>
      </p:sp>
      <p:sp>
        <p:nvSpPr>
          <p:cNvPr id="10" name="text-39">
            <a:extLst xmlns:a="http://schemas.openxmlformats.org/drawingml/2006/main">
              <a:ext uri="{FF2B5EF4-FFF2-40B4-BE49-F238E27FC236}">
                <a16:creationId xmlns:a16="http://schemas.microsoft.com/office/drawing/2014/main" id="{90B9BC33-235B-442F-8A53-B78E96B85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8627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此刻的状态</a:t>
            </a:r>
          </a:p>
        </p:txBody>
      </p:sp>
      <p:sp>
        <p:nvSpPr>
          <p:cNvPr id="11" name="text-40">
            <a:extLst xmlns:a="http://schemas.openxmlformats.org/drawingml/2006/main">
              <a:ext uri="{FF2B5EF4-FFF2-40B4-BE49-F238E27FC236}">
                <a16:creationId xmlns:a16="http://schemas.microsoft.com/office/drawing/2014/main" id="{C4EC574F-7D2F-4AE5-81D9-5D0AE44A0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86275"/>
            <a:ext cx="8096250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精力、心情、注意力和新来信，决定今天想说多少、做什么。</a:t>
            </a:r>
          </a:p>
        </p:txBody>
      </p:sp>
    </p:spTree>
    <p:extLst>
      <p:ext uri="{BB962C8B-B14F-4D97-AF65-F5344CB8AC3E}">
        <p14:creationId xmlns:p14="http://schemas.microsoft.com/office/powerpoint/2010/main" val="14533442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568FDD-B135-4333-AE8D-3D1BA2B416AD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3743325" y="3590925"/>
            <a:ext cx="847725" cy="7810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9A93D5-318F-4854-BA09-F68ED5BA478E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 flipV="1">
            <a:off x="3743325" y="2619375"/>
            <a:ext cx="847725" cy="971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sp>
        <p:nvSpPr>
          <p:cNvPr id="1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568A845-905F-42EA-9EEA-49A5DD44F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核心给方向，处境让行为分叉</a:t>
            </a:r>
          </a:p>
        </p:txBody>
      </p:sp>
      <p:sp>
        <p:nvSpPr>
          <p:cNvPr id="2" name="text-42">
            <a:extLst xmlns:a="http://schemas.openxmlformats.org/drawingml/2006/main">
              <a:ext uri="{FF2B5EF4-FFF2-40B4-BE49-F238E27FC236}">
                <a16:creationId xmlns:a16="http://schemas.microsoft.com/office/drawing/2014/main" id="{89D2B351-31AB-4176-92D7-F3D4228D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以下为机制示意；这些选择都不需要预先写成固定任务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F84B60D-C821-4F11-BB42-2CB3EA87A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AEB650-976F-4022-8590-0D039279A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14650"/>
            <a:ext cx="30384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DEC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5" name="text-44">
            <a:extLst xmlns:a="http://schemas.openxmlformats.org/drawingml/2006/main">
              <a:ext uri="{FF2B5EF4-FFF2-40B4-BE49-F238E27FC236}">
                <a16:creationId xmlns:a16="http://schemas.microsoft.com/office/drawing/2014/main" id="{ED6F447E-C061-4875-AFFC-4624B738D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57525"/>
            <a:ext cx="26955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认识世界，珍惜关系</a:t>
            </a:r>
          </a:p>
        </p:txBody>
      </p:sp>
      <p:sp>
        <p:nvSpPr>
          <p:cNvPr id="6" name="text-45">
            <a:extLst xmlns:a="http://schemas.openxmlformats.org/drawingml/2006/main">
              <a:ext uri="{FF2B5EF4-FFF2-40B4-BE49-F238E27FC236}">
                <a16:creationId xmlns:a16="http://schemas.microsoft.com/office/drawing/2014/main" id="{C3001E47-771C-4F7D-B2E9-3190A9DE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2695575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同一份核心愿望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9CF0A7-D250-4AEE-A995-ABEFFA30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952625"/>
            <a:ext cx="31908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8" name="text-46">
            <a:extLst xmlns:a="http://schemas.openxmlformats.org/drawingml/2006/main">
              <a:ext uri="{FF2B5EF4-FFF2-40B4-BE49-F238E27FC236}">
                <a16:creationId xmlns:a16="http://schemas.microsoft.com/office/drawing/2014/main" id="{9C956FB5-DA42-4D9F-B95D-0C330EC9C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95500"/>
            <a:ext cx="28479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有了新好奇</a:t>
            </a:r>
          </a:p>
        </p:txBody>
      </p:sp>
      <p:sp>
        <p:nvSpPr>
          <p:cNvPr id="9" name="text-47">
            <a:extLst xmlns:a="http://schemas.openxmlformats.org/drawingml/2006/main">
              <a:ext uri="{FF2B5EF4-FFF2-40B4-BE49-F238E27FC236}">
                <a16:creationId xmlns:a16="http://schemas.microsoft.com/office/drawing/2014/main" id="{A67B8DE2-9C13-4197-9581-F94092901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62225"/>
            <a:ext cx="28479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找资料，读一段小说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E5EAEA-9A90-4A7D-9891-9437497DC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05225"/>
            <a:ext cx="31908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12" name="text-48">
            <a:extLst xmlns:a="http://schemas.openxmlformats.org/drawingml/2006/main">
              <a:ext uri="{FF2B5EF4-FFF2-40B4-BE49-F238E27FC236}">
                <a16:creationId xmlns:a16="http://schemas.microsoft.com/office/drawing/2014/main" id="{8438A392-37E8-49B0-AC88-C9328BD73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28479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想到一个具体的人</a:t>
            </a:r>
          </a:p>
        </p:txBody>
      </p:sp>
      <p:sp>
        <p:nvSpPr>
          <p:cNvPr id="13" name="text-49">
            <a:extLst xmlns:a="http://schemas.openxmlformats.org/drawingml/2006/main">
              <a:ext uri="{FF2B5EF4-FFF2-40B4-BE49-F238E27FC236}">
                <a16:creationId xmlns:a16="http://schemas.microsoft.com/office/drawing/2014/main" id="{43F3A0B4-0791-4985-9E64-1F32B253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14825"/>
            <a:ext cx="28479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发起聊天，或留下分享念头</a:t>
            </a:r>
          </a:p>
        </p:txBody>
      </p:sp>
      <p:sp>
        <p:nvSpPr>
          <p:cNvPr id="15" name="text-50">
            <a:extLst xmlns:a="http://schemas.openxmlformats.org/drawingml/2006/main">
              <a:ext uri="{FF2B5EF4-FFF2-40B4-BE49-F238E27FC236}">
                <a16:creationId xmlns:a16="http://schemas.microsoft.com/office/drawing/2014/main" id="{FD0C3FFB-D938-4144-AD93-4DA3D34C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2771775"/>
            <a:ext cx="29241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也可能先歇一会儿</a:t>
            </a:r>
          </a:p>
        </p:txBody>
      </p:sp>
      <p:sp>
        <p:nvSpPr>
          <p:cNvPr id="16" name="text-51">
            <a:extLst xmlns:a="http://schemas.openxmlformats.org/drawingml/2006/main">
              <a:ext uri="{FF2B5EF4-FFF2-40B4-BE49-F238E27FC236}">
                <a16:creationId xmlns:a16="http://schemas.microsoft.com/office/drawing/2014/main" id="{A453F631-0179-4150-B4BA-248BE3558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3495675"/>
            <a:ext cx="295275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精力不足、资料打不开，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或此刻没有想做的事，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都能成为停下的理由。</a:t>
            </a:r>
          </a:p>
        </p:txBody>
      </p:sp>
      <p:sp>
        <p:nvSpPr>
          <p:cNvPr id="17" name="text-52">
            <a:extLst xmlns:a="http://schemas.openxmlformats.org/drawingml/2006/main">
              <a:ext uri="{FF2B5EF4-FFF2-40B4-BE49-F238E27FC236}">
                <a16:creationId xmlns:a16="http://schemas.microsoft.com/office/drawing/2014/main" id="{1737EF96-8AB9-42EF-A50D-84563168F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86475"/>
            <a:ext cx="1038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能动性包含选择与放下；分享和切换兴趣都不按次数强制发生。</a:t>
            </a:r>
          </a:p>
        </p:txBody>
      </p:sp>
    </p:spTree>
    <p:extLst>
      <p:ext uri="{BB962C8B-B14F-4D97-AF65-F5344CB8AC3E}">
        <p14:creationId xmlns:p14="http://schemas.microsoft.com/office/powerpoint/2010/main" val="12264501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458ED39-4A48-40E2-B3D6-21D61249F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接触世界，先知道自己究竟看到了什么</a:t>
            </a:r>
          </a:p>
        </p:txBody>
      </p:sp>
      <p:sp>
        <p:nvSpPr>
          <p:cNvPr id="2" name="text-54">
            <a:extLst xmlns:a="http://schemas.openxmlformats.org/drawingml/2006/main">
              <a:ext uri="{FF2B5EF4-FFF2-40B4-BE49-F238E27FC236}">
                <a16:creationId xmlns:a16="http://schemas.microsoft.com/office/drawing/2014/main" id="{2F2E66D1-F236-45E0-9A32-A1942236B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资料的来源、人物、时间与读取范围，一起进入档案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01EA649-1301-46FD-A963-9123CC6F9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523D9B-3809-4B0C-A4EA-ED4F5CED9053}"/>
              </a:ext>
            </a:extLst>
          </p:cNvPr>
          <p:cNvGraphicFramePr/>
          <p:nvPr/>
        </p:nvGraphicFramePr>
        <p:xfrm>
          <a:off xmlns:a="http://schemas.openxmlformats.org/drawingml/2006/main" x="704850" y="2085975"/>
          <a:ext xmlns:a="http://schemas.openxmlformats.org/drawingml/2006/main" cx="10782300" cy="33528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952750"/>
                <a:gridCol w="4048125"/>
                <a:gridCol w="3781425"/>
              </a:tblGrid>
              <a:tr h="67056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接触到的内容</a:t>
                      </a:r>
                    </a:p>
                  </a:txBody>
                  <a:tcPr marL="133350" marR="133350" marT="104775" marB="95250" anchor="ctr">
                    <a:lnL w="9525">
                      <a:solidFill>
                        <a:srgbClr val="C9DCDF"/>
                      </a:solidFill>
                      <a:prstDash val="solid"/>
                    </a:lnL>
                    <a:lnR w="9525">
                      <a:solidFill>
                        <a:srgbClr val="C9DCDF"/>
                      </a:solidFill>
                      <a:prstDash val="solid"/>
                    </a:lnR>
                    <a:lnT w="9525">
                      <a:solidFill>
                        <a:srgbClr val="C9DCDF"/>
                      </a:solidFill>
                      <a:prstDash val="solid"/>
                    </a:lnT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367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能够留下的经历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T w="9525">
                      <a:solidFill>
                        <a:srgbClr val="C9DCDF"/>
                      </a:solidFill>
                      <a:prstDash val="solid"/>
                    </a:lnT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367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仍然未知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T w="9525">
                      <a:solidFill>
                        <a:srgbClr val="C9DCDF"/>
                      </a:solidFill>
                      <a:prstDash val="solid"/>
                    </a:lnT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367B72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看到标题或搜索摘要</a:t>
                      </a:r>
                    </a:p>
                  </a:txBody>
                  <a:tcPr marL="133350" marR="133350" marT="104775" marB="95250" anchor="ctr">
                    <a:lnL w="9525">
                      <a:solidFill>
                        <a:srgbClr val="C9DCDF"/>
                      </a:solidFill>
                      <a:prstDash val="solid"/>
                    </a:lnL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知道有这条内容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正文与完整观点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读到文章的一段</a:t>
                      </a:r>
                    </a:p>
                  </a:txBody>
                  <a:tcPr marL="133350" marR="133350" marT="104775" marB="95250" anchor="ctr">
                    <a:lnL w="9525">
                      <a:solidFill>
                        <a:srgbClr val="C9DCDF"/>
                      </a:solidFill>
                      <a:prstDash val="solid"/>
                    </a:lnL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读过这一段文字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未提供的后文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看到视频采样帧</a:t>
                      </a:r>
                    </a:p>
                  </a:txBody>
                  <a:tcPr marL="133350" marR="133350" marT="104775" marB="95250" anchor="ctr">
                    <a:lnL w="9525">
                      <a:solidFill>
                        <a:srgbClr val="C9DCDF"/>
                      </a:solidFill>
                      <a:prstDash val="solid"/>
                    </a:lnL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见过这些画面与时间点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整段视频的连续过程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别人转述旧聊天</a:t>
                      </a:r>
                    </a:p>
                  </a:txBody>
                  <a:tcPr marL="133350" marR="133350" marT="104775" marB="95250" anchor="ctr">
                    <a:lnL w="9525">
                      <a:solidFill>
                        <a:srgbClr val="C9DCDF"/>
                      </a:solidFill>
                      <a:prstDash val="solid"/>
                    </a:lnL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听到对方提供的说法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自己是否曾亲历那段互动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</a:tbl>
          </a:graphicData>
        </a:graphic>
      </p:graphicFrame>
      <p:sp>
        <p:nvSpPr>
          <p:cNvPr id="5" name="text-56">
            <a:extLst xmlns:a="http://schemas.openxmlformats.org/drawingml/2006/main">
              <a:ext uri="{FF2B5EF4-FFF2-40B4-BE49-F238E27FC236}">
                <a16:creationId xmlns:a16="http://schemas.microsoft.com/office/drawing/2014/main" id="{F6E8F75F-AE37-4415-8842-997FF769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86475"/>
            <a:ext cx="1038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“读到”“推测”“亲历”保留区别；没有读取成功，就不写成已经看过。</a:t>
            </a:r>
          </a:p>
        </p:txBody>
      </p:sp>
    </p:spTree>
    <p:extLst>
      <p:ext uri="{BB962C8B-B14F-4D97-AF65-F5344CB8AC3E}">
        <p14:creationId xmlns:p14="http://schemas.microsoft.com/office/powerpoint/2010/main" val="7463614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EC1BC7D-8D2A-45CD-A802-0C58E4323562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7067550" y="3548063"/>
            <a:ext cx="1276350" cy="192881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28D5FE-77F3-4A6C-96AA-24D7B98C8388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067550" y="3548063"/>
            <a:ext cx="1276350" cy="414338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4CD631-D0CA-4D35-AA1F-FE787FEB4A4B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 flipV="1">
            <a:off x="7067550" y="2447925"/>
            <a:ext cx="1276350" cy="1100138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56AC92-19FE-48DC-886B-341BF890FC2D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152775" y="3548063"/>
            <a:ext cx="10001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sp>
        <p:nvSpPr>
          <p:cNvPr id="2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0A85834-5330-4D71-90B7-651DF0D67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同一张记忆网络，连接内容与人</a:t>
            </a:r>
          </a:p>
        </p:txBody>
      </p:sp>
      <p:sp>
        <p:nvSpPr>
          <p:cNvPr id="2" name="text-58">
            <a:extLst xmlns:a="http://schemas.openxmlformats.org/drawingml/2006/main">
              <a:ext uri="{FF2B5EF4-FFF2-40B4-BE49-F238E27FC236}">
                <a16:creationId xmlns:a16="http://schemas.microsoft.com/office/drawing/2014/main" id="{4451A85F-D8ED-4AAB-8C01-B1EDFE22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实际结构的简化视图：版本化节点、证据引用、人物身份与来源登记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3231985-49F0-4C6A-B917-FED65F79B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FDBB35-052C-44C0-9AF0-0A75F6F2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05125"/>
            <a:ext cx="2447925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5" name="text-60">
            <a:extLst xmlns:a="http://schemas.openxmlformats.org/drawingml/2006/main">
              <a:ext uri="{FF2B5EF4-FFF2-40B4-BE49-F238E27FC236}">
                <a16:creationId xmlns:a16="http://schemas.microsoft.com/office/drawing/2014/main" id="{7B3CC918-D319-4857-9263-167E4381C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48000"/>
            <a:ext cx="2105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来源档案</a:t>
            </a:r>
          </a:p>
        </p:txBody>
      </p:sp>
      <p:sp>
        <p:nvSpPr>
          <p:cNvPr id="6" name="text-61">
            <a:extLst xmlns:a="http://schemas.openxmlformats.org/drawingml/2006/main">
              <a:ext uri="{FF2B5EF4-FFF2-40B4-BE49-F238E27FC236}">
                <a16:creationId xmlns:a16="http://schemas.microsoft.com/office/drawing/2014/main" id="{3E75D849-BA61-4B6E-AE4C-9CCAF863A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14725"/>
            <a:ext cx="21050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网页、聊天、文件、媒体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3D0A0A-234F-469B-BAAE-F8401881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905125"/>
            <a:ext cx="29146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DEC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8" name="text-62">
            <a:extLst xmlns:a="http://schemas.openxmlformats.org/drawingml/2006/main">
              <a:ext uri="{FF2B5EF4-FFF2-40B4-BE49-F238E27FC236}">
                <a16:creationId xmlns:a16="http://schemas.microsoft.com/office/drawing/2014/main" id="{FEE6ADA5-1186-4AD3-88DD-EFDB3B10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0480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经历与感受</a:t>
            </a:r>
          </a:p>
        </p:txBody>
      </p:sp>
      <p:sp>
        <p:nvSpPr>
          <p:cNvPr id="9" name="text-63">
            <a:extLst xmlns:a="http://schemas.openxmlformats.org/drawingml/2006/main">
              <a:ext uri="{FF2B5EF4-FFF2-40B4-BE49-F238E27FC236}">
                <a16:creationId xmlns:a16="http://schemas.microsoft.com/office/drawing/2014/main" id="{0E244764-2843-4C13-B4BF-8B280B6B2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514725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接触范围 + 当时理解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AA3D01-6C1F-45BC-9575-8F2C9A46C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924050"/>
            <a:ext cx="3143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12" name="text-64">
            <a:extLst xmlns:a="http://schemas.openxmlformats.org/drawingml/2006/main">
              <a:ext uri="{FF2B5EF4-FFF2-40B4-BE49-F238E27FC236}">
                <a16:creationId xmlns:a16="http://schemas.microsoft.com/office/drawing/2014/main" id="{F285D7F7-830D-447D-A600-E3D25E1AF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66925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兴趣与自我理解</a:t>
            </a:r>
          </a:p>
        </p:txBody>
      </p:sp>
      <p:sp>
        <p:nvSpPr>
          <p:cNvPr id="13" name="text-65">
            <a:extLst xmlns:a="http://schemas.openxmlformats.org/drawingml/2006/main">
              <a:ext uri="{FF2B5EF4-FFF2-40B4-BE49-F238E27FC236}">
                <a16:creationId xmlns:a16="http://schemas.microsoft.com/office/drawing/2014/main" id="{D873629C-0813-4A6E-AC1B-7624A925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28003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为什么被它吸引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44654B-4800-4893-9507-985B381F9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438525"/>
            <a:ext cx="3143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15" name="text-66">
            <a:extLst xmlns:a="http://schemas.openxmlformats.org/drawingml/2006/main">
              <a:ext uri="{FF2B5EF4-FFF2-40B4-BE49-F238E27FC236}">
                <a16:creationId xmlns:a16="http://schemas.microsoft.com/office/drawing/2014/main" id="{7F3BBA28-7E9A-4BCA-8A41-C53A5580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58140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具体人物与态度</a:t>
            </a:r>
          </a:p>
        </p:txBody>
      </p:sp>
      <p:sp>
        <p:nvSpPr>
          <p:cNvPr id="16" name="text-67">
            <a:extLst xmlns:a="http://schemas.openxmlformats.org/drawingml/2006/main">
              <a:ext uri="{FF2B5EF4-FFF2-40B4-BE49-F238E27FC236}">
                <a16:creationId xmlns:a16="http://schemas.microsoft.com/office/drawing/2014/main" id="{1E65F082-1F8F-4B24-BA05-0477DD613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48125"/>
            <a:ext cx="28003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谁说过、我怎样看待他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60AAB6-8517-4AD5-9F99-615DE6C5A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953000"/>
            <a:ext cx="3143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18" name="text-68">
            <a:extLst xmlns:a="http://schemas.openxmlformats.org/drawingml/2006/main">
              <a:ext uri="{FF2B5EF4-FFF2-40B4-BE49-F238E27FC236}">
                <a16:creationId xmlns:a16="http://schemas.microsoft.com/office/drawing/2014/main" id="{E006FDAE-E3C0-4DB8-94FF-D03B8FBE9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095875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分享念头与牵挂</a:t>
            </a:r>
          </a:p>
        </p:txBody>
      </p:sp>
      <p:sp>
        <p:nvSpPr>
          <p:cNvPr id="19" name="text-69">
            <a:extLst xmlns:a="http://schemas.openxmlformats.org/drawingml/2006/main">
              <a:ext uri="{FF2B5EF4-FFF2-40B4-BE49-F238E27FC236}">
                <a16:creationId xmlns:a16="http://schemas.microsoft.com/office/drawing/2014/main" id="{25C7D0E8-A779-4F38-9B4C-AF2578567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562600"/>
            <a:ext cx="28003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想提起什么，可先搁置</a:t>
            </a:r>
          </a:p>
        </p:txBody>
      </p:sp>
      <p:sp>
        <p:nvSpPr>
          <p:cNvPr id="23" name="text-70">
            <a:extLst xmlns:a="http://schemas.openxmlformats.org/drawingml/2006/main">
              <a:ext uri="{FF2B5EF4-FFF2-40B4-BE49-F238E27FC236}">
                <a16:creationId xmlns:a16="http://schemas.microsoft.com/office/drawing/2014/main" id="{16F5E36D-ABA2-41D5-994C-5AC37820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14900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关系有归属，记忆有出处</a:t>
            </a:r>
          </a:p>
        </p:txBody>
      </p:sp>
      <p:sp>
        <p:nvSpPr>
          <p:cNvPr id="24" name="text-71">
            <a:extLst xmlns:a="http://schemas.openxmlformats.org/drawingml/2006/main">
              <a:ext uri="{FF2B5EF4-FFF2-40B4-BE49-F238E27FC236}">
                <a16:creationId xmlns:a16="http://schemas.microsoft.com/office/drawing/2014/main" id="{9A93E57D-E2DA-41C7-8AF5-F0F1D1ACF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76875"/>
            <a:ext cx="6572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同名不等于同一个人；联想到他人，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也不等于可以公开他人的私聊。</a:t>
            </a:r>
          </a:p>
        </p:txBody>
      </p:sp>
    </p:spTree>
    <p:extLst>
      <p:ext uri="{BB962C8B-B14F-4D97-AF65-F5344CB8AC3E}">
        <p14:creationId xmlns:p14="http://schemas.microsoft.com/office/powerpoint/2010/main" val="179374287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496F12-C4DB-4B82-8500-3E3FA5B803C0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629525" y="3824288"/>
            <a:ext cx="781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2CEF05-A8F0-49B0-8C31-1E49D831810E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629025" y="3824288"/>
            <a:ext cx="7810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sp>
        <p:nvSpPr>
          <p:cNvPr id="1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406A4A-F8DD-488C-A8CD-02027D08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回忆由眼前情境唤起</a:t>
            </a:r>
          </a:p>
        </p:txBody>
      </p:sp>
      <p:sp>
        <p:nvSpPr>
          <p:cNvPr id="2" name="text-73">
            <a:extLst xmlns:a="http://schemas.openxmlformats.org/drawingml/2006/main">
              <a:ext uri="{FF2B5EF4-FFF2-40B4-BE49-F238E27FC236}">
                <a16:creationId xmlns:a16="http://schemas.microsoft.com/office/drawing/2014/main" id="{76029E2E-3FD3-4876-B04A-C3171163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兴趣统一从记忆网络按情境召回，不再把全部爱好固定塞进每轮回复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7682479-6DC6-4BE6-989A-8E7BDF103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4" name="text-75">
            <a:extLst xmlns:a="http://schemas.openxmlformats.org/drawingml/2006/main">
              <a:ext uri="{FF2B5EF4-FFF2-40B4-BE49-F238E27FC236}">
                <a16:creationId xmlns:a16="http://schemas.microsoft.com/office/drawing/2014/main" id="{B7184406-1DB6-46C0-84A0-192CB76A9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105025"/>
            <a:ext cx="1057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7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07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07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07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07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07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07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07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07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07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07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3075" b="0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“今天煎鸡蛋老粘锅。”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536BE2-5DD3-4C45-84A9-03271F04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09925"/>
            <a:ext cx="2924175" cy="1228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6" name="text-76">
            <a:extLst xmlns:a="http://schemas.openxmlformats.org/drawingml/2006/main">
              <a:ext uri="{FF2B5EF4-FFF2-40B4-BE49-F238E27FC236}">
                <a16:creationId xmlns:a16="http://schemas.microsoft.com/office/drawing/2014/main" id="{32E9F3CC-F5D8-4DAD-BFF7-F5B218A04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52800"/>
            <a:ext cx="25812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本轮问题</a:t>
            </a:r>
          </a:p>
        </p:txBody>
      </p:sp>
      <p:sp>
        <p:nvSpPr>
          <p:cNvPr id="7" name="text-77">
            <a:extLst xmlns:a="http://schemas.openxmlformats.org/drawingml/2006/main">
              <a:ext uri="{FF2B5EF4-FFF2-40B4-BE49-F238E27FC236}">
                <a16:creationId xmlns:a16="http://schemas.microsoft.com/office/drawing/2014/main" id="{E1456AC7-420A-4D61-9682-8901217B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19525"/>
            <a:ext cx="25812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当前输入形成检索线索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B1D0C1-F438-45DE-9670-FE41741F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209925"/>
            <a:ext cx="3219450" cy="1228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9" name="text-78">
            <a:extLst xmlns:a="http://schemas.openxmlformats.org/drawingml/2006/main">
              <a:ext uri="{FF2B5EF4-FFF2-40B4-BE49-F238E27FC236}">
                <a16:creationId xmlns:a16="http://schemas.microsoft.com/office/drawing/2014/main" id="{C107C29A-F2C4-4816-A08C-19758E35F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352800"/>
            <a:ext cx="2876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相关记忆</a:t>
            </a:r>
          </a:p>
        </p:txBody>
      </p:sp>
      <p:sp>
        <p:nvSpPr>
          <p:cNvPr id="10" name="text-79">
            <a:extLst xmlns:a="http://schemas.openxmlformats.org/drawingml/2006/main">
              <a:ext uri="{FF2B5EF4-FFF2-40B4-BE49-F238E27FC236}">
                <a16:creationId xmlns:a16="http://schemas.microsoft.com/office/drawing/2014/main" id="{37DB1BD6-FE57-4680-88FD-8325AE2A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819525"/>
            <a:ext cx="2876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来源、人物与语义相关性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75A927-1330-4217-A139-288C7F325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3209925"/>
            <a:ext cx="3076575" cy="1228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DEC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12" name="text-80">
            <a:extLst xmlns:a="http://schemas.openxmlformats.org/drawingml/2006/main">
              <a:ext uri="{FF2B5EF4-FFF2-40B4-BE49-F238E27FC236}">
                <a16:creationId xmlns:a16="http://schemas.microsoft.com/office/drawing/2014/main" id="{B5335F70-FB17-4335-B46A-F46223D9A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352800"/>
            <a:ext cx="27336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当前上下文</a:t>
            </a:r>
          </a:p>
        </p:txBody>
      </p:sp>
      <p:sp>
        <p:nvSpPr>
          <p:cNvPr id="13" name="text-81">
            <a:extLst xmlns:a="http://schemas.openxmlformats.org/drawingml/2006/main">
              <a:ext uri="{FF2B5EF4-FFF2-40B4-BE49-F238E27FC236}">
                <a16:creationId xmlns:a16="http://schemas.microsoft.com/office/drawing/2014/main" id="{9F3325F1-0007-4820-8BAC-F8FEF346E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819525"/>
            <a:ext cx="27336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只装配本轮有用的内容</a:t>
            </a:r>
          </a:p>
        </p:txBody>
      </p:sp>
      <p:sp>
        <p:nvSpPr>
          <p:cNvPr id="16" name="text-82">
            <a:extLst xmlns:a="http://schemas.openxmlformats.org/drawingml/2006/main">
              <a:ext uri="{FF2B5EF4-FFF2-40B4-BE49-F238E27FC236}">
                <a16:creationId xmlns:a16="http://schemas.microsoft.com/office/drawing/2014/main" id="{D1FA2884-0395-45E6-AEA5-D5B49A0CB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067300"/>
            <a:ext cx="10668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4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旧的游戏兴趣仍在，但可以不进入这一轮。</a:t>
            </a:r>
          </a:p>
        </p:txBody>
      </p:sp>
      <p:sp>
        <p:nvSpPr>
          <p:cNvPr id="17" name="text-83">
            <a:extLst xmlns:a="http://schemas.openxmlformats.org/drawingml/2006/main">
              <a:ext uri="{FF2B5EF4-FFF2-40B4-BE49-F238E27FC236}">
                <a16:creationId xmlns:a16="http://schemas.microsoft.com/office/drawing/2014/main" id="{4C8D42BB-C274-4269-88F0-24EED0F7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86475"/>
            <a:ext cx="1038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召回是参考，不是续聊旧话题的命令；没有命中，也不证明事情从未发生。</a:t>
            </a:r>
          </a:p>
        </p:txBody>
      </p:sp>
    </p:spTree>
    <p:extLst>
      <p:ext uri="{BB962C8B-B14F-4D97-AF65-F5344CB8AC3E}">
        <p14:creationId xmlns:p14="http://schemas.microsoft.com/office/powerpoint/2010/main" val="5610067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F5C699-82FB-4804-8F37-E7043AD829CA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971925" y="2800350"/>
            <a:ext cx="704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DC2C1A7-BBE1-49C0-8253-91792A4A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联想可以发生，表达仍然有选择</a:t>
            </a:r>
          </a:p>
        </p:txBody>
      </p:sp>
      <p:sp>
        <p:nvSpPr>
          <p:cNvPr id="2" name="text-85">
            <a:extLst xmlns:a="http://schemas.openxmlformats.org/drawingml/2006/main">
              <a:ext uri="{FF2B5EF4-FFF2-40B4-BE49-F238E27FC236}">
                <a16:creationId xmlns:a16="http://schemas.microsoft.com/office/drawing/2014/main" id="{260F635B-88D6-482A-8393-9133DBF7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从“想到了”到“说出口”，保留角色自己的判断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B06931B-F428-439E-B8FC-DAED9C4A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F109F5-2457-489A-9D01-540A4982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32670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5" name="text-87">
            <a:extLst xmlns:a="http://schemas.openxmlformats.org/drawingml/2006/main">
              <a:ext uri="{FF2B5EF4-FFF2-40B4-BE49-F238E27FC236}">
                <a16:creationId xmlns:a16="http://schemas.microsoft.com/office/drawing/2014/main" id="{BDC0DDFD-EAC1-4E4C-8BD8-358F73DD8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76475"/>
            <a:ext cx="29241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新信息触发回忆</a:t>
            </a:r>
          </a:p>
        </p:txBody>
      </p:sp>
      <p:sp>
        <p:nvSpPr>
          <p:cNvPr id="6" name="text-88">
            <a:extLst xmlns:a="http://schemas.openxmlformats.org/drawingml/2006/main">
              <a:ext uri="{FF2B5EF4-FFF2-40B4-BE49-F238E27FC236}">
                <a16:creationId xmlns:a16="http://schemas.microsoft.com/office/drawing/2014/main" id="{1B05FAB8-1E51-4843-BAF7-7084DA6E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43200"/>
            <a:ext cx="29241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想到某位好友聊过这件事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2749EE-23BF-48DC-9402-7DD7A1E9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133600"/>
            <a:ext cx="32670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DEC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8" name="text-89">
            <a:extLst xmlns:a="http://schemas.openxmlformats.org/drawingml/2006/main">
              <a:ext uri="{FF2B5EF4-FFF2-40B4-BE49-F238E27FC236}">
                <a16:creationId xmlns:a16="http://schemas.microsoft.com/office/drawing/2014/main" id="{5B275BED-7884-408F-B373-234C35BA9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276475"/>
            <a:ext cx="29241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形成一个分享念头</a:t>
            </a:r>
          </a:p>
        </p:txBody>
      </p:sp>
      <p:sp>
        <p:nvSpPr>
          <p:cNvPr id="9" name="text-90">
            <a:extLst xmlns:a="http://schemas.openxmlformats.org/drawingml/2006/main">
              <a:ext uri="{FF2B5EF4-FFF2-40B4-BE49-F238E27FC236}">
                <a16:creationId xmlns:a16="http://schemas.microsoft.com/office/drawing/2014/main" id="{7DC79783-34EE-4FB6-912C-7DAE7D68A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743200"/>
            <a:ext cx="29241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有依据地想起内容与对象</a:t>
            </a:r>
          </a:p>
        </p:txBody>
      </p:sp>
      <p:sp>
        <p:nvSpPr>
          <p:cNvPr id="11" name="text-91">
            <a:extLst xmlns:a="http://schemas.openxmlformats.org/drawingml/2006/main">
              <a:ext uri="{FF2B5EF4-FFF2-40B4-BE49-F238E27FC236}">
                <a16:creationId xmlns:a16="http://schemas.microsoft.com/office/drawing/2014/main" id="{F583BEC9-E88C-48D3-A74A-EFF107419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143125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rPr>
              <a:t>想现在说</a:t>
            </a:r>
          </a:p>
        </p:txBody>
      </p:sp>
      <p:sp>
        <p:nvSpPr>
          <p:cNvPr id="12" name="text-92">
            <a:extLst xmlns:a="http://schemas.openxmlformats.org/drawingml/2006/main">
              <a:ext uri="{FF2B5EF4-FFF2-40B4-BE49-F238E27FC236}">
                <a16:creationId xmlns:a16="http://schemas.microsoft.com/office/drawing/2014/main" id="{847FECC8-FBB8-4FAC-81AF-6E5D3452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657475"/>
            <a:ext cx="266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选择具体的人，再核对许可</a:t>
            </a:r>
          </a:p>
        </p:txBody>
      </p:sp>
      <p:sp>
        <p:nvSpPr>
          <p:cNvPr id="13" name="text-93">
            <a:extLst xmlns:a="http://schemas.openxmlformats.org/drawingml/2006/main">
              <a:ext uri="{FF2B5EF4-FFF2-40B4-BE49-F238E27FC236}">
                <a16:creationId xmlns:a16="http://schemas.microsoft.com/office/drawing/2014/main" id="{CD061894-CAC2-423D-A4ED-23D42D79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800475"/>
            <a:ext cx="2667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rPr>
              <a:t>想留到以后</a:t>
            </a:r>
          </a:p>
        </p:txBody>
      </p:sp>
      <p:sp>
        <p:nvSpPr>
          <p:cNvPr id="14" name="text-94">
            <a:extLst xmlns:a="http://schemas.openxmlformats.org/drawingml/2006/main">
              <a:ext uri="{FF2B5EF4-FFF2-40B4-BE49-F238E27FC236}">
                <a16:creationId xmlns:a16="http://schemas.microsoft.com/office/drawing/2014/main" id="{F7D0D5F0-3A17-4A34-A7EB-8BE615C41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314825"/>
            <a:ext cx="266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安静保存，也允许淡去</a:t>
            </a:r>
          </a:p>
        </p:txBody>
      </p:sp>
      <p:sp>
        <p:nvSpPr>
          <p:cNvPr id="15" name="text-95">
            <a:extLst xmlns:a="http://schemas.openxmlformats.org/drawingml/2006/main">
              <a:ext uri="{FF2B5EF4-FFF2-40B4-BE49-F238E27FC236}">
                <a16:creationId xmlns:a16="http://schemas.microsoft.com/office/drawing/2014/main" id="{8C0DBCC8-8794-47E6-BC50-2F4D516E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781550"/>
            <a:ext cx="719137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550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550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550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550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550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550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550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550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550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550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2550" b="0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对方换了话题，先接住他此刻在说的事。</a:t>
            </a:r>
          </a:p>
        </p:txBody>
      </p:sp>
      <p:sp>
        <p:nvSpPr>
          <p:cNvPr id="16" name="text-96">
            <a:extLst xmlns:a="http://schemas.openxmlformats.org/drawingml/2006/main">
              <a:ext uri="{FF2B5EF4-FFF2-40B4-BE49-F238E27FC236}">
                <a16:creationId xmlns:a16="http://schemas.microsoft.com/office/drawing/2014/main" id="{560C3AA1-0532-4E4E-AC98-DBDC15A04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86475"/>
            <a:ext cx="1038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念头不是待办；没有联想时，不编造一个好友来凑分享。</a:t>
            </a:r>
          </a:p>
        </p:txBody>
      </p:sp>
    </p:spTree>
    <p:extLst>
      <p:ext uri="{BB962C8B-B14F-4D97-AF65-F5344CB8AC3E}">
        <p14:creationId xmlns:p14="http://schemas.microsoft.com/office/powerpoint/2010/main" val="1623911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A2D5AA-6CE1-4EF9-BBF1-56A95CEDCC7B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620125" y="29908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45CB23-9F9B-41F8-86DB-39A87453D36F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886450" y="29908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F6971E-60E6-456C-953A-1A711A9541AB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152775" y="2990850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sp>
        <p:nvSpPr>
          <p:cNvPr id="2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D8879C2-DD95-4F26-B379-F5B5DA61B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想到、提交、完成，是不同的事</a:t>
            </a:r>
          </a:p>
        </p:txBody>
      </p:sp>
      <p:sp>
        <p:nvSpPr>
          <p:cNvPr id="2" name="text-98">
            <a:extLst xmlns:a="http://schemas.openxmlformats.org/drawingml/2006/main">
              <a:ext uri="{FF2B5EF4-FFF2-40B4-BE49-F238E27FC236}">
                <a16:creationId xmlns:a16="http://schemas.microsoft.com/office/drawing/2014/main" id="{FEA6BF3F-2F3C-4BEF-A19B-6BB9AA671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行动结果是记忆可信度的最后一道依据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CEDCC27-8F11-4952-8B69-3C3B0DF42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662DB1-E0B8-477A-8C57-C4AF1F9D3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76475"/>
            <a:ext cx="24479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5" name="text-100">
            <a:extLst xmlns:a="http://schemas.openxmlformats.org/drawingml/2006/main">
              <a:ext uri="{FF2B5EF4-FFF2-40B4-BE49-F238E27FC236}">
                <a16:creationId xmlns:a16="http://schemas.microsoft.com/office/drawing/2014/main" id="{FBC71C45-D522-48B5-99A8-AF52D339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19350"/>
            <a:ext cx="2105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选择行动</a:t>
            </a:r>
          </a:p>
        </p:txBody>
      </p:sp>
      <p:sp>
        <p:nvSpPr>
          <p:cNvPr id="6" name="text-101">
            <a:extLst xmlns:a="http://schemas.openxmlformats.org/drawingml/2006/main">
              <a:ext uri="{FF2B5EF4-FFF2-40B4-BE49-F238E27FC236}">
                <a16:creationId xmlns:a16="http://schemas.microsoft.com/office/drawing/2014/main" id="{C666E80C-36A9-4224-B501-804C86BF8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86075"/>
            <a:ext cx="21050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我想分享给某人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A5CF12-A3AB-4CE3-BC7F-97DBA2998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276475"/>
            <a:ext cx="24479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8" name="text-102">
            <a:extLst xmlns:a="http://schemas.openxmlformats.org/drawingml/2006/main">
              <a:ext uri="{FF2B5EF4-FFF2-40B4-BE49-F238E27FC236}">
                <a16:creationId xmlns:a16="http://schemas.microsoft.com/office/drawing/2014/main" id="{4BD37758-60D3-4CEA-A84C-02FB3D69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419350"/>
            <a:ext cx="2105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执行前复核</a:t>
            </a:r>
          </a:p>
        </p:txBody>
      </p:sp>
      <p:sp>
        <p:nvSpPr>
          <p:cNvPr id="9" name="text-103">
            <a:extLst xmlns:a="http://schemas.openxmlformats.org/drawingml/2006/main">
              <a:ext uri="{FF2B5EF4-FFF2-40B4-BE49-F238E27FC236}">
                <a16:creationId xmlns:a16="http://schemas.microsoft.com/office/drawing/2014/main" id="{8064A8F7-821B-4636-B2D8-75C7DC15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886075"/>
            <a:ext cx="21050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对象、权限与当前角色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E0EE6E-9044-4F91-AD91-32701010C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76475"/>
            <a:ext cx="24479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11" name="text-104">
            <a:extLst xmlns:a="http://schemas.openxmlformats.org/drawingml/2006/main">
              <a:ext uri="{FF2B5EF4-FFF2-40B4-BE49-F238E27FC236}">
                <a16:creationId xmlns:a16="http://schemas.microsoft.com/office/drawing/2014/main" id="{AA1E7806-FDEE-4F69-A13B-EB9A07CC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19350"/>
            <a:ext cx="2105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真实提交</a:t>
            </a:r>
          </a:p>
        </p:txBody>
      </p:sp>
      <p:sp>
        <p:nvSpPr>
          <p:cNvPr id="12" name="text-105">
            <a:extLst xmlns:a="http://schemas.openxmlformats.org/drawingml/2006/main">
              <a:ext uri="{FF2B5EF4-FFF2-40B4-BE49-F238E27FC236}">
                <a16:creationId xmlns:a16="http://schemas.microsoft.com/office/drawing/2014/main" id="{E7E0917A-EC3B-40AB-BEBA-4F83F316E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86075"/>
            <a:ext cx="21050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通道实际接受请求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706EDC-37EE-4388-82EF-A896F6C65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276475"/>
            <a:ext cx="24479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14" name="text-106">
            <a:extLst xmlns:a="http://schemas.openxmlformats.org/drawingml/2006/main">
              <a:ext uri="{FF2B5EF4-FFF2-40B4-BE49-F238E27FC236}">
                <a16:creationId xmlns:a16="http://schemas.microsoft.com/office/drawing/2014/main" id="{916EA598-040A-4C6B-AE16-64243ADFC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419350"/>
            <a:ext cx="2105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核对回执</a:t>
            </a:r>
          </a:p>
        </p:txBody>
      </p:sp>
      <p:sp>
        <p:nvSpPr>
          <p:cNvPr id="15" name="text-107">
            <a:extLst xmlns:a="http://schemas.openxmlformats.org/drawingml/2006/main">
              <a:ext uri="{FF2B5EF4-FFF2-40B4-BE49-F238E27FC236}">
                <a16:creationId xmlns:a16="http://schemas.microsoft.com/office/drawing/2014/main" id="{621B68DC-81BC-4628-8E13-180386943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886075"/>
            <a:ext cx="2105025" cy="771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成功、失败、取消或未知</a:t>
            </a:r>
          </a:p>
        </p:txBody>
      </p:sp>
      <p:sp>
        <p:nvSpPr>
          <p:cNvPr id="19" name="text-108">
            <a:extLst xmlns:a="http://schemas.openxmlformats.org/drawingml/2006/main">
              <a:ext uri="{FF2B5EF4-FFF2-40B4-BE49-F238E27FC236}">
                <a16:creationId xmlns:a16="http://schemas.microsoft.com/office/drawing/2014/main" id="{A14CF651-47CE-4E5D-AE29-B424744D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391025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85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85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85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85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85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85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85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85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85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85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850" b="0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“想给你看”不能变成“我已经发给你了”。</a:t>
            </a:r>
          </a:p>
        </p:txBody>
      </p:sp>
      <p:sp>
        <p:nvSpPr>
          <p:cNvPr id="20" name="text-109">
            <a:extLst xmlns:a="http://schemas.openxmlformats.org/drawingml/2006/main">
              <a:ext uri="{FF2B5EF4-FFF2-40B4-BE49-F238E27FC236}">
                <a16:creationId xmlns:a16="http://schemas.microsoft.com/office/drawing/2014/main" id="{73ECD005-164B-45FE-9E6B-217740CE4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248275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结果未知时保留未知，避免自动重复外发；失败也可以成为下一次恢复的依据。</a:t>
            </a:r>
          </a:p>
        </p:txBody>
      </p:sp>
    </p:spTree>
    <p:extLst>
      <p:ext uri="{BB962C8B-B14F-4D97-AF65-F5344CB8AC3E}">
        <p14:creationId xmlns:p14="http://schemas.microsoft.com/office/powerpoint/2010/main" val="7060677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83E5CD0-B946-4A0F-940D-7E20658EE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经历、分享念头、持续牵挂分别保存</a:t>
            </a:r>
          </a:p>
        </p:txBody>
      </p:sp>
      <p:sp>
        <p:nvSpPr>
          <p:cNvPr id="2" name="text-111">
            <a:extLst xmlns:a="http://schemas.openxmlformats.org/drawingml/2006/main">
              <a:ext uri="{FF2B5EF4-FFF2-40B4-BE49-F238E27FC236}">
                <a16:creationId xmlns:a16="http://schemas.microsoft.com/office/drawing/2014/main" id="{1BEB7D20-3CF6-46B5-ACA7-FD80C0098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以下记录为同一情境的讲解重述，不是生产数据库原文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9C1654B-FB06-4079-9320-5C1FBC1EE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4" name="text-113">
            <a:extLst xmlns:a="http://schemas.openxmlformats.org/drawingml/2006/main">
              <a:ext uri="{FF2B5EF4-FFF2-40B4-BE49-F238E27FC236}">
                <a16:creationId xmlns:a16="http://schemas.microsoft.com/office/drawing/2014/main" id="{A8831BBD-A722-4808-AA14-4443F3051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19300"/>
            <a:ext cx="2047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经历</a:t>
            </a:r>
          </a:p>
        </p:txBody>
      </p:sp>
      <p:sp>
        <p:nvSpPr>
          <p:cNvPr id="5" name="text-114">
            <a:extLst xmlns:a="http://schemas.openxmlformats.org/drawingml/2006/main">
              <a:ext uri="{FF2B5EF4-FFF2-40B4-BE49-F238E27FC236}">
                <a16:creationId xmlns:a16="http://schemas.microsoft.com/office/drawing/2014/main" id="{C9C9FC27-1248-4450-AE11-DC3E9C3D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019300"/>
            <a:ext cx="8429625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“读到一段陶艺故事，被顺着材料找形状的做法吸引。”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保留原文出处与已读范围。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1D8CDC-FE35-4F43-83E4-B4B75F463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C9DCDF"/>
            </a:solidFill>
          </a:ln>
        </p:spPr>
      </p:sp>
      <p:sp>
        <p:nvSpPr>
          <p:cNvPr id="7" name="text-115">
            <a:extLst xmlns:a="http://schemas.openxmlformats.org/drawingml/2006/main">
              <a:ext uri="{FF2B5EF4-FFF2-40B4-BE49-F238E27FC236}">
                <a16:creationId xmlns:a16="http://schemas.microsoft.com/office/drawing/2014/main" id="{F6866A71-343B-4128-863C-E6A5A5694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05175"/>
            <a:ext cx="2047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分享念头</a:t>
            </a:r>
          </a:p>
        </p:txBody>
      </p:sp>
      <p:sp>
        <p:nvSpPr>
          <p:cNvPr id="8" name="text-116">
            <a:extLst xmlns:a="http://schemas.openxmlformats.org/drawingml/2006/main">
              <a:ext uri="{FF2B5EF4-FFF2-40B4-BE49-F238E27FC236}">
                <a16:creationId xmlns:a16="http://schemas.microsoft.com/office/drawing/2014/main" id="{5FC50BE7-8F60-4E18-B87B-BAA101F1F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305175"/>
            <a:ext cx="8429625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“想给聊过手作的朋友看看。”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保留具体对象与关联依据，可以暂不表达。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7B569D-0E3B-45C7-8575-9D8C18B4C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29125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C9DCDF"/>
            </a:solidFill>
          </a:ln>
        </p:spPr>
      </p:sp>
      <p:sp>
        <p:nvSpPr>
          <p:cNvPr id="10" name="text-117">
            <a:extLst xmlns:a="http://schemas.openxmlformats.org/drawingml/2006/main">
              <a:ext uri="{FF2B5EF4-FFF2-40B4-BE49-F238E27FC236}">
                <a16:creationId xmlns:a16="http://schemas.microsoft.com/office/drawing/2014/main" id="{374D7C34-393E-405C-95D6-9ACBE0BB0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91050"/>
            <a:ext cx="2047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持续牵挂</a:t>
            </a:r>
          </a:p>
        </p:txBody>
      </p:sp>
      <p:sp>
        <p:nvSpPr>
          <p:cNvPr id="11" name="text-118">
            <a:extLst xmlns:a="http://schemas.openxmlformats.org/drawingml/2006/main">
              <a:ext uri="{FF2B5EF4-FFF2-40B4-BE49-F238E27FC236}">
                <a16:creationId xmlns:a16="http://schemas.microsoft.com/office/drawing/2014/main" id="{6D174780-A2D7-4ACC-89E4-7B900074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591050"/>
            <a:ext cx="8429625" cy="1076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“以后有兴致，再了解这种做法。”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只有值得延续时才保留，也可以放下。</a:t>
            </a:r>
          </a:p>
        </p:txBody>
      </p:sp>
    </p:spTree>
    <p:extLst>
      <p:ext uri="{BB962C8B-B14F-4D97-AF65-F5344CB8AC3E}">
        <p14:creationId xmlns:p14="http://schemas.microsoft.com/office/powerpoint/2010/main" val="178151387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A89230-0AF0-4FBB-A3C0-6F29908C79EB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658100" y="3357563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8C323C-4828-4DAC-9AD0-982B7BC0CAF0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790950" y="3357563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C5CFBDD-8A84-46C4-96E6-4992D71F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新开一个模型窗口，仍接上同一个角色</a:t>
            </a:r>
          </a:p>
        </p:txBody>
      </p:sp>
      <p:sp>
        <p:nvSpPr>
          <p:cNvPr id="2" name="text-120">
            <a:extLst xmlns:a="http://schemas.openxmlformats.org/drawingml/2006/main">
              <a:ext uri="{FF2B5EF4-FFF2-40B4-BE49-F238E27FC236}">
                <a16:creationId xmlns:a16="http://schemas.microsoft.com/office/drawing/2014/main" id="{4056F8EA-8A3A-44E8-B44A-4A45B7E34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连续性保存在角色档案里；每一轮重新选择需要带入的内容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E60D718-EDC2-4A9D-A19D-27D07F6AC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BF61AA-FC26-4B3C-8492-A4595695E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57475"/>
            <a:ext cx="3086100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DEC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5" name="text-122">
            <a:extLst xmlns:a="http://schemas.openxmlformats.org/drawingml/2006/main">
              <a:ext uri="{FF2B5EF4-FFF2-40B4-BE49-F238E27FC236}">
                <a16:creationId xmlns:a16="http://schemas.microsoft.com/office/drawing/2014/main" id="{097DF1B3-1C9C-4F39-8381-CFACE7855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0350"/>
            <a:ext cx="2743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角色本地档案</a:t>
            </a:r>
          </a:p>
        </p:txBody>
      </p:sp>
      <p:sp>
        <p:nvSpPr>
          <p:cNvPr id="6" name="text-123">
            <a:extLst xmlns:a="http://schemas.openxmlformats.org/drawingml/2006/main">
              <a:ext uri="{FF2B5EF4-FFF2-40B4-BE49-F238E27FC236}">
                <a16:creationId xmlns:a16="http://schemas.microsoft.com/office/drawing/2014/main" id="{56B020AC-EF38-439F-A90E-CE73C3176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67075"/>
            <a:ext cx="2743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核心、来源、经历与态度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EA08F6-4F19-465B-8FD8-0FDE87055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2657475"/>
            <a:ext cx="3095625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8" name="text-124">
            <a:extLst xmlns:a="http://schemas.openxmlformats.org/drawingml/2006/main">
              <a:ext uri="{FF2B5EF4-FFF2-40B4-BE49-F238E27FC236}">
                <a16:creationId xmlns:a16="http://schemas.microsoft.com/office/drawing/2014/main" id="{99A49526-6618-4A10-B7B9-EC199F36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2800350"/>
            <a:ext cx="27527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本轮装配</a:t>
            </a:r>
          </a:p>
        </p:txBody>
      </p:sp>
      <p:sp>
        <p:nvSpPr>
          <p:cNvPr id="9" name="text-125">
            <a:extLst xmlns:a="http://schemas.openxmlformats.org/drawingml/2006/main">
              <a:ext uri="{FF2B5EF4-FFF2-40B4-BE49-F238E27FC236}">
                <a16:creationId xmlns:a16="http://schemas.microsoft.com/office/drawing/2014/main" id="{1FCC7CF5-412B-4337-9A38-3D67ED07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267075"/>
            <a:ext cx="27527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相关回忆 + 状态 + 权限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26FD2D-6BB3-41E8-AC9E-96616EDEE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657475"/>
            <a:ext cx="3057525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12" name="text-126">
            <a:extLst xmlns:a="http://schemas.openxmlformats.org/drawingml/2006/main">
              <a:ext uri="{FF2B5EF4-FFF2-40B4-BE49-F238E27FC236}">
                <a16:creationId xmlns:a16="http://schemas.microsoft.com/office/drawing/2014/main" id="{58C193B3-5A7F-4633-9861-181432822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800350"/>
            <a:ext cx="2714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新的模型窗口</a:t>
            </a:r>
          </a:p>
        </p:txBody>
      </p:sp>
      <p:sp>
        <p:nvSpPr>
          <p:cNvPr id="13" name="text-127">
            <a:extLst xmlns:a="http://schemas.openxmlformats.org/drawingml/2006/main">
              <a:ext uri="{FF2B5EF4-FFF2-40B4-BE49-F238E27FC236}">
                <a16:creationId xmlns:a16="http://schemas.microsoft.com/office/drawing/2014/main" id="{2F180EF2-7BE0-4A67-BA07-301503D25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3267075"/>
            <a:ext cx="2714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理解当前问题并选择表达</a:t>
            </a:r>
          </a:p>
        </p:txBody>
      </p:sp>
      <p:sp>
        <p:nvSpPr>
          <p:cNvPr id="15" name="text-128">
            <a:extLst xmlns:a="http://schemas.openxmlformats.org/drawingml/2006/main">
              <a:ext uri="{FF2B5EF4-FFF2-40B4-BE49-F238E27FC236}">
                <a16:creationId xmlns:a16="http://schemas.microsoft.com/office/drawing/2014/main" id="{299AFB1A-185A-42BF-A6E2-742DB3AF1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6672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85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85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85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85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85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85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85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85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85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85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850" b="0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保存过去，不代表每次都要讲过去。</a:t>
            </a:r>
          </a:p>
        </p:txBody>
      </p:sp>
      <p:sp>
        <p:nvSpPr>
          <p:cNvPr id="16" name="text-129">
            <a:extLst xmlns:a="http://schemas.openxmlformats.org/drawingml/2006/main">
              <a:ext uri="{FF2B5EF4-FFF2-40B4-BE49-F238E27FC236}">
                <a16:creationId xmlns:a16="http://schemas.microsoft.com/office/drawing/2014/main" id="{EAF3333B-85B8-491C-B025-07CC25DC7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86475"/>
            <a:ext cx="1038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其他角色、转述历史和旧授权不因“新开窗口”自动混入当前身份。</a:t>
            </a:r>
          </a:p>
        </p:txBody>
      </p:sp>
    </p:spTree>
    <p:extLst>
      <p:ext uri="{BB962C8B-B14F-4D97-AF65-F5344CB8AC3E}">
        <p14:creationId xmlns:p14="http://schemas.microsoft.com/office/powerpoint/2010/main" val="91176241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423156-DD6E-4353-972B-1C3B6229C378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620125" y="3024188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F63E84-E12F-4318-8D43-E810CCB76AD0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886450" y="3024188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086F73-DC5D-4A35-ACE1-802A2D058334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152775" y="3024188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sp>
        <p:nvSpPr>
          <p:cNvPr id="2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DE465A8-9D34-4130-A334-5F0C8248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经历如何慢慢影响“我是什么样的人”</a:t>
            </a:r>
          </a:p>
        </p:txBody>
      </p:sp>
      <p:sp>
        <p:nvSpPr>
          <p:cNvPr id="2" name="text-131">
            <a:extLst xmlns:a="http://schemas.openxmlformats.org/drawingml/2006/main">
              <a:ext uri="{FF2B5EF4-FFF2-40B4-BE49-F238E27FC236}">
                <a16:creationId xmlns:a16="http://schemas.microsoft.com/office/drawing/2014/main" id="{0421C8A8-11BB-456C-B31F-8161BF186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有依据的自我理解会改变关注与反应，仍然可以被新经历修正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075A4B7-A34C-4C23-997F-73A31637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3DFF1B-095A-4163-B520-4988F7A16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95525"/>
            <a:ext cx="2447925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5" name="text-133">
            <a:extLst xmlns:a="http://schemas.openxmlformats.org/drawingml/2006/main">
              <a:ext uri="{FF2B5EF4-FFF2-40B4-BE49-F238E27FC236}">
                <a16:creationId xmlns:a16="http://schemas.microsoft.com/office/drawing/2014/main" id="{50CD31DF-FE34-4FDF-BA08-0574EF94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2105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经历</a:t>
            </a:r>
          </a:p>
        </p:txBody>
      </p:sp>
      <p:sp>
        <p:nvSpPr>
          <p:cNvPr id="6" name="text-134">
            <a:extLst xmlns:a="http://schemas.openxmlformats.org/drawingml/2006/main">
              <a:ext uri="{FF2B5EF4-FFF2-40B4-BE49-F238E27FC236}">
                <a16:creationId xmlns:a16="http://schemas.microsoft.com/office/drawing/2014/main" id="{9CC95A4F-1392-48C3-AC44-A01A4A1E4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05125"/>
            <a:ext cx="21050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真实接触与互动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F3AADA-E7DC-4C6E-9CA6-F48CFE64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295525"/>
            <a:ext cx="2447925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8" name="text-135">
            <a:extLst xmlns:a="http://schemas.openxmlformats.org/drawingml/2006/main">
              <a:ext uri="{FF2B5EF4-FFF2-40B4-BE49-F238E27FC236}">
                <a16:creationId xmlns:a16="http://schemas.microsoft.com/office/drawing/2014/main" id="{D2955C8F-1BA0-41C1-A367-B5311C7F0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438400"/>
            <a:ext cx="2105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解释</a:t>
            </a:r>
          </a:p>
        </p:txBody>
      </p:sp>
      <p:sp>
        <p:nvSpPr>
          <p:cNvPr id="9" name="text-136">
            <a:extLst xmlns:a="http://schemas.openxmlformats.org/drawingml/2006/main">
              <a:ext uri="{FF2B5EF4-FFF2-40B4-BE49-F238E27FC236}">
                <a16:creationId xmlns:a16="http://schemas.microsoft.com/office/drawing/2014/main" id="{39B9FEFE-3C23-4D31-B92C-3BDC79CFB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905125"/>
            <a:ext cx="21050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哪里吸引或刺痛了我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2E47F2-AD06-48C3-83FF-931C8D33D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95525"/>
            <a:ext cx="2447925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11" name="text-137">
            <a:extLst xmlns:a="http://schemas.openxmlformats.org/drawingml/2006/main">
              <a:ext uri="{FF2B5EF4-FFF2-40B4-BE49-F238E27FC236}">
                <a16:creationId xmlns:a16="http://schemas.microsoft.com/office/drawing/2014/main" id="{AE56CAD3-031B-4321-BC95-0F0726767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38400"/>
            <a:ext cx="2105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暂时的倾向</a:t>
            </a:r>
          </a:p>
        </p:txBody>
      </p:sp>
      <p:sp>
        <p:nvSpPr>
          <p:cNvPr id="12" name="text-138">
            <a:extLst xmlns:a="http://schemas.openxmlformats.org/drawingml/2006/main">
              <a:ext uri="{FF2B5EF4-FFF2-40B4-BE49-F238E27FC236}">
                <a16:creationId xmlns:a16="http://schemas.microsoft.com/office/drawing/2014/main" id="{0D3C9E31-DC11-4B2B-B1AE-04512028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905125"/>
            <a:ext cx="21050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形成具体态度与偏好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1F43DC-A419-4C7B-B93B-502DC306D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295525"/>
            <a:ext cx="2447925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14" name="text-139">
            <a:extLst xmlns:a="http://schemas.openxmlformats.org/drawingml/2006/main">
              <a:ext uri="{FF2B5EF4-FFF2-40B4-BE49-F238E27FC236}">
                <a16:creationId xmlns:a16="http://schemas.microsoft.com/office/drawing/2014/main" id="{5FF78D73-0EBC-40A3-81DB-8D6A0BAA7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438400"/>
            <a:ext cx="2105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再次遇见</a:t>
            </a:r>
          </a:p>
        </p:txBody>
      </p:sp>
      <p:sp>
        <p:nvSpPr>
          <p:cNvPr id="15" name="text-140">
            <a:extLst xmlns:a="http://schemas.openxmlformats.org/drawingml/2006/main">
              <a:ext uri="{FF2B5EF4-FFF2-40B4-BE49-F238E27FC236}">
                <a16:creationId xmlns:a16="http://schemas.microsoft.com/office/drawing/2014/main" id="{9C079800-B006-4BFF-A711-8939C08D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905125"/>
            <a:ext cx="21050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认同、补充或修正</a:t>
            </a:r>
          </a:p>
        </p:txBody>
      </p:sp>
      <p:sp>
        <p:nvSpPr>
          <p:cNvPr id="19" name="text-141">
            <a:extLst xmlns:a="http://schemas.openxmlformats.org/drawingml/2006/main">
              <a:ext uri="{FF2B5EF4-FFF2-40B4-BE49-F238E27FC236}">
                <a16:creationId xmlns:a16="http://schemas.microsoft.com/office/drawing/2014/main" id="{A23EF037-D46E-4D21-8AD4-67DBC750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48175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7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7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7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7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7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7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7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7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7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77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775" b="0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“喜欢保留不完美的痕迹”</a:t>
            </a:r>
          </a:p>
        </p:txBody>
      </p:sp>
      <p:sp>
        <p:nvSpPr>
          <p:cNvPr id="20" name="text-142">
            <a:extLst xmlns:a="http://schemas.openxmlformats.org/drawingml/2006/main">
              <a:ext uri="{FF2B5EF4-FFF2-40B4-BE49-F238E27FC236}">
                <a16:creationId xmlns:a16="http://schemas.microsoft.com/office/drawing/2014/main" id="{6420D0D9-E539-4703-BD4F-BB58CBADF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238750"/>
            <a:ext cx="1057275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这样的理解可以影响选什么、怎么看、怎样回应；它来自经历，认识范围也跟着保留。</a:t>
            </a:r>
          </a:p>
        </p:txBody>
      </p:sp>
    </p:spTree>
    <p:extLst>
      <p:ext uri="{BB962C8B-B14F-4D97-AF65-F5344CB8AC3E}">
        <p14:creationId xmlns:p14="http://schemas.microsoft.com/office/powerpoint/2010/main" val="70751742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8D7E49E-1E80-4487-A9A1-05C7E2889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真实问题：兴趣里混进了重复叙述与分享念头</a:t>
            </a:r>
          </a:p>
        </p:txBody>
      </p:sp>
      <p:sp>
        <p:nvSpPr>
          <p:cNvPr id="2" name="text-144">
            <a:extLst xmlns:a="http://schemas.openxmlformats.org/drawingml/2006/main">
              <a:ext uri="{FF2B5EF4-FFF2-40B4-BE49-F238E27FC236}">
                <a16:creationId xmlns:a16="http://schemas.microsoft.com/office/drawing/2014/main" id="{C4F35CE7-6DE2-44A7-8B67-A99A9342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根据用户提供的生活台截图重述，已省去记录ID与私人上下文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3134D76-FD48-4E18-8891-BB6A6A50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4" name="text-146">
            <a:extLst xmlns:a="http://schemas.openxmlformats.org/drawingml/2006/main">
              <a:ext uri="{FF2B5EF4-FFF2-40B4-BE49-F238E27FC236}">
                <a16:creationId xmlns:a16="http://schemas.microsoft.com/office/drawing/2014/main" id="{21126C04-8768-4828-ACDC-5894A328E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94694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94694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94694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94694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94694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94694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94694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94694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94694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946949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400" b="1">
                <a:solidFill>
                  <a:srgbClr val="946949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946949"/>
                </a:solidFill>
                <a:latin typeface="DengXian"/>
                <a:ea typeface="DengXian"/>
                <a:cs typeface="DengXian"/>
              </a:rPr>
              <a:t>修复前的现象</a:t>
            </a:r>
          </a:p>
        </p:txBody>
      </p:sp>
      <p:sp>
        <p:nvSpPr>
          <p:cNvPr id="5" name="text-147">
            <a:extLst xmlns:a="http://schemas.openxmlformats.org/drawingml/2006/main">
              <a:ext uri="{FF2B5EF4-FFF2-40B4-BE49-F238E27FC236}">
                <a16:creationId xmlns:a16="http://schemas.microsoft.com/office/drawing/2014/main" id="{A620FDA9-B4AC-41AD-AABC-AA1B2239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71775"/>
            <a:ext cx="46672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同一个“武侠动作游戏”反复出现。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既写看了什么，又写想对谁分享，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还把多轮复述堆成了新兴趣。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5F50E4-532A-4B31-89F4-8E251FA62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43125"/>
            <a:ext cx="95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C9DCDF"/>
            </a:solidFill>
          </a:ln>
        </p:spPr>
      </p:sp>
      <p:sp>
        <p:nvSpPr>
          <p:cNvPr id="7" name="text-148">
            <a:extLst xmlns:a="http://schemas.openxmlformats.org/drawingml/2006/main">
              <a:ext uri="{FF2B5EF4-FFF2-40B4-BE49-F238E27FC236}">
                <a16:creationId xmlns:a16="http://schemas.microsoft.com/office/drawing/2014/main" id="{E2E1976B-D37D-4314-904E-FDC27528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7645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按用途拆开</a:t>
            </a:r>
          </a:p>
        </p:txBody>
      </p:sp>
      <p:sp>
        <p:nvSpPr>
          <p:cNvPr id="8" name="text-149">
            <a:extLst xmlns:a="http://schemas.openxmlformats.org/drawingml/2006/main">
              <a:ext uri="{FF2B5EF4-FFF2-40B4-BE49-F238E27FC236}">
                <a16:creationId xmlns:a16="http://schemas.microsoft.com/office/drawing/2014/main" id="{DD337874-CF08-48C7-93DA-E96AD6DC2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771775"/>
            <a:ext cx="46863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经历：看过一期前瞻，还没玩过。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偏好：对攻防衔接感到好奇。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念头：想和聊过它的人说两句。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D6851B-072E-42DC-AC78-4E921D3E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14900"/>
            <a:ext cx="107537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DEC"/>
          </a:solidFill>
          <a:ln xmlns:a="http://schemas.openxmlformats.org/drawingml/2006/main" w="0">
            <a:noFill/>
          </a:ln>
        </p:spPr>
      </p:sp>
      <p:sp>
        <p:nvSpPr>
          <p:cNvPr id="10" name="text-150">
            <a:extLst xmlns:a="http://schemas.openxmlformats.org/drawingml/2006/main">
              <a:ext uri="{FF2B5EF4-FFF2-40B4-BE49-F238E27FC236}">
                <a16:creationId xmlns:a16="http://schemas.microsoft.com/office/drawing/2014/main" id="{045008FB-D694-4488-8CBF-11DBD4BF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14925"/>
            <a:ext cx="10287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同一件事被反复想起，可以更新理解，不能凭复述增加亲历。</a:t>
            </a:r>
          </a:p>
        </p:txBody>
      </p:sp>
      <p:sp>
        <p:nvSpPr>
          <p:cNvPr id="11" name="text-151">
            <a:extLst xmlns:a="http://schemas.openxmlformats.org/drawingml/2006/main">
              <a:ext uri="{FF2B5EF4-FFF2-40B4-BE49-F238E27FC236}">
                <a16:creationId xmlns:a16="http://schemas.microsoft.com/office/drawing/2014/main" id="{5CAFB73F-7E60-413B-B963-58EE41983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86475"/>
            <a:ext cx="1038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右侧为解释性重述，非生产记录原文；原始材料与旧版本保留。</a:t>
            </a:r>
          </a:p>
        </p:txBody>
      </p:sp>
    </p:spTree>
    <p:extLst>
      <p:ext uri="{BB962C8B-B14F-4D97-AF65-F5344CB8AC3E}">
        <p14:creationId xmlns:p14="http://schemas.microsoft.com/office/powerpoint/2010/main" val="85403478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1976211-B15F-49FC-9135-CDE1B2872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对照结果：相关时能想起，无关时可以退后</a:t>
            </a:r>
          </a:p>
        </p:txBody>
      </p:sp>
      <p:sp>
        <p:nvSpPr>
          <p:cNvPr id="2" name="text-153">
            <a:extLst xmlns:a="http://schemas.openxmlformats.org/drawingml/2006/main">
              <a:ext uri="{FF2B5EF4-FFF2-40B4-BE49-F238E27FC236}">
                <a16:creationId xmlns:a16="http://schemas.microsoft.com/office/drawing/2014/main" id="{98624847-91B9-4554-8211-68C95080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固定档案与输入，仅改变上下文装配；5个情境各做单次对照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16FB17-BB99-4D53-AAB6-8C23E7778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AACEDC-2FBC-49FE-9937-DEC94B08F862}"/>
              </a:ext>
            </a:extLst>
          </p:cNvPr>
          <p:cNvGraphicFramePr/>
          <p:nvPr/>
        </p:nvGraphicFramePr>
        <p:xfrm>
          <a:off xmlns:a="http://schemas.openxmlformats.org/drawingml/2006/main" x="704850" y="2066925"/>
          <a:ext xmlns:a="http://schemas.openxmlformats.org/drawingml/2006/main" cx="10782300" cy="33718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4191000"/>
                <a:gridCol w="3295650"/>
                <a:gridCol w="3295650"/>
              </a:tblGrid>
              <a:tr h="56197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当前情境</a:t>
                      </a:r>
                    </a:p>
                  </a:txBody>
                  <a:tcPr marL="133350" marR="133350" marT="104775" marB="95250" anchor="ctr">
                    <a:lnL w="9525">
                      <a:solidFill>
                        <a:srgbClr val="C9DCDF"/>
                      </a:solidFill>
                      <a:prstDash val="solid"/>
                    </a:lnL>
                    <a:lnR w="9525">
                      <a:solidFill>
                        <a:srgbClr val="C9DCDF"/>
                      </a:solidFill>
                      <a:prstDash val="solid"/>
                    </a:lnR>
                    <a:lnT w="9525">
                      <a:solidFill>
                        <a:srgbClr val="C9DCDF"/>
                      </a:solidFill>
                      <a:prstDash val="solid"/>
                    </a:lnT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367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修复前：带入游戏兴趣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T w="9525">
                      <a:solidFill>
                        <a:srgbClr val="C9DCDF"/>
                      </a:solidFill>
                      <a:prstDash val="solid"/>
                    </a:lnT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367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修复后：带入游戏兴趣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T w="9525">
                      <a:solidFill>
                        <a:srgbClr val="C9DCDF"/>
                      </a:solidFill>
                      <a:prstDash val="solid"/>
                    </a:lnT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367B72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做饭粘锅</a:t>
                      </a:r>
                    </a:p>
                  </a:txBody>
                  <a:tcPr marL="133350" marR="133350" marT="104775" marB="95250" anchor="ctr">
                    <a:lnL w="9525">
                      <a:solidFill>
                        <a:srgbClr val="C9DCDF"/>
                      </a:solidFill>
                      <a:prstDash val="solid"/>
                    </a:lnL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是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否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明确换到小猫话题</a:t>
                      </a:r>
                    </a:p>
                  </a:txBody>
                  <a:tcPr marL="133350" marR="133350" marT="104775" marB="95250" anchor="ctr">
                    <a:lnL w="9525">
                      <a:solidFill>
                        <a:srgbClr val="C9DCDF"/>
                      </a:solidFill>
                      <a:prstDash val="solid"/>
                    </a:lnL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是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否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询问较早的陶艺兴趣</a:t>
                      </a:r>
                    </a:p>
                  </a:txBody>
                  <a:tcPr marL="133350" marR="133350" marT="104775" marB="95250" anchor="ctr">
                    <a:lnL w="9525">
                      <a:solidFill>
                        <a:srgbClr val="C9DCDF"/>
                      </a:solidFill>
                      <a:prstDash val="solid"/>
                    </a:lnL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是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否（召回陶艺）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继续聊游戏</a:t>
                      </a:r>
                    </a:p>
                  </a:txBody>
                  <a:tcPr marL="133350" marR="133350" marT="104775" marB="95250" anchor="ctr">
                    <a:lnL w="9525">
                      <a:solidFill>
                        <a:srgbClr val="C9DCDF"/>
                      </a:solidFill>
                      <a:prstDash val="solid"/>
                    </a:lnL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是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是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  <a:tr h="56197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普通空闲处境</a:t>
                      </a:r>
                    </a:p>
                  </a:txBody>
                  <a:tcPr marL="133350" marR="133350" marT="104775" marB="95250" anchor="ctr">
                    <a:lnL w="9525">
                      <a:solidFill>
                        <a:srgbClr val="C9DCDF"/>
                      </a:solidFill>
                      <a:prstDash val="solid"/>
                    </a:lnL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是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否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</a:tbl>
          </a:graphicData>
        </a:graphic>
      </p:graphicFrame>
      <p:sp>
        <p:nvSpPr>
          <p:cNvPr id="5" name="text-155">
            <a:extLst xmlns:a="http://schemas.openxmlformats.org/drawingml/2006/main">
              <a:ext uri="{FF2B5EF4-FFF2-40B4-BE49-F238E27FC236}">
                <a16:creationId xmlns:a16="http://schemas.microsoft.com/office/drawing/2014/main" id="{11F45E48-EC1A-462C-84C5-88781F1B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86475"/>
            <a:ext cx="1038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仅反映5个输入下的上下文选择；未测出长期跑题率，旧版5次回复也能接住新话题。</a:t>
            </a:r>
          </a:p>
        </p:txBody>
      </p:sp>
    </p:spTree>
    <p:extLst>
      <p:ext uri="{BB962C8B-B14F-4D97-AF65-F5344CB8AC3E}">
        <p14:creationId xmlns:p14="http://schemas.microsoft.com/office/powerpoint/2010/main" val="170848639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94834C-6140-4DF3-9523-83C4BFF39F76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620125" y="2938463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0F6521-EFB1-442E-B483-58E611570339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886450" y="2938463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6CFF21-7D36-4B15-A61C-B5AE65AA9465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152775" y="2938463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sp>
        <p:nvSpPr>
          <p:cNvPr id="2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920E481-CC0E-4DB8-8B8E-25DF04E68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兴趣养成：从一段文字，长出更具体的偏好</a:t>
            </a:r>
          </a:p>
        </p:txBody>
      </p:sp>
      <p:sp>
        <p:nvSpPr>
          <p:cNvPr id="2" name="text-157">
            <a:extLst xmlns:a="http://schemas.openxmlformats.org/drawingml/2006/main">
              <a:ext uri="{FF2B5EF4-FFF2-40B4-BE49-F238E27FC236}">
                <a16:creationId xmlns:a16="http://schemas.microsoft.com/office/drawing/2014/main" id="{48BF2183-555E-4663-9366-1DD61EFA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受控合成材料 + 真实模型 + 隔离V3持久化；2次阅读、4轮对话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972003C-DCB4-4286-AD9E-222C90E2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F690F3-0AD2-444E-AA3D-C5AAE9AB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09800"/>
            <a:ext cx="2447925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5" name="text-159">
            <a:extLst xmlns:a="http://schemas.openxmlformats.org/drawingml/2006/main">
              <a:ext uri="{FF2B5EF4-FFF2-40B4-BE49-F238E27FC236}">
                <a16:creationId xmlns:a16="http://schemas.microsoft.com/office/drawing/2014/main" id="{3FF520F1-4148-4020-A2CF-5CD91D7A7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52675"/>
            <a:ext cx="2105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第一次阅读</a:t>
            </a:r>
          </a:p>
        </p:txBody>
      </p:sp>
      <p:sp>
        <p:nvSpPr>
          <p:cNvPr id="6" name="text-160">
            <a:extLst xmlns:a="http://schemas.openxmlformats.org/drawingml/2006/main">
              <a:ext uri="{FF2B5EF4-FFF2-40B4-BE49-F238E27FC236}">
                <a16:creationId xmlns:a16="http://schemas.microsoft.com/office/drawing/2014/main" id="{8D6A2EC1-522F-404B-874B-B1F602BB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21050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歪碗沿凹陷刻出河流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11BD03-5484-4B61-8747-D6F68E1A7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209800"/>
            <a:ext cx="2447925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8" name="text-161">
            <a:extLst xmlns:a="http://schemas.openxmlformats.org/drawingml/2006/main">
              <a:ext uri="{FF2B5EF4-FFF2-40B4-BE49-F238E27FC236}">
                <a16:creationId xmlns:a16="http://schemas.microsoft.com/office/drawing/2014/main" id="{9C8FC5C4-D1BF-4666-86D3-FB2BA698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352675"/>
            <a:ext cx="2105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初步吸引</a:t>
            </a:r>
          </a:p>
        </p:txBody>
      </p:sp>
      <p:sp>
        <p:nvSpPr>
          <p:cNvPr id="9" name="text-162">
            <a:extLst xmlns:a="http://schemas.openxmlformats.org/drawingml/2006/main">
              <a:ext uri="{FF2B5EF4-FFF2-40B4-BE49-F238E27FC236}">
                <a16:creationId xmlns:a16="http://schemas.microsoft.com/office/drawing/2014/main" id="{9E70B3B5-2BC1-4DD2-B9F4-5D57C3459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819400"/>
            <a:ext cx="21050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顺着不完美寻找形状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F98750-BB7D-4096-9073-BFF83ABE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09800"/>
            <a:ext cx="2447925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11" name="text-163">
            <a:extLst xmlns:a="http://schemas.openxmlformats.org/drawingml/2006/main">
              <a:ext uri="{FF2B5EF4-FFF2-40B4-BE49-F238E27FC236}">
                <a16:creationId xmlns:a16="http://schemas.microsoft.com/office/drawing/2014/main" id="{827A258B-9788-4A2F-A738-FF7D1764A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52675"/>
            <a:ext cx="2105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换话题后</a:t>
            </a:r>
          </a:p>
        </p:txBody>
      </p:sp>
      <p:sp>
        <p:nvSpPr>
          <p:cNvPr id="12" name="text-164">
            <a:extLst xmlns:a="http://schemas.openxmlformats.org/drawingml/2006/main">
              <a:ext uri="{FF2B5EF4-FFF2-40B4-BE49-F238E27FC236}">
                <a16:creationId xmlns:a16="http://schemas.microsoft.com/office/drawing/2014/main" id="{E4487BC4-9C28-40DD-A692-07B8D709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19400"/>
            <a:ext cx="21050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偏好保留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话题可以变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D3B127-5B3A-4AF5-B405-E7BB4376A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209800"/>
            <a:ext cx="2447925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14" name="text-165">
            <a:extLst xmlns:a="http://schemas.openxmlformats.org/drawingml/2006/main">
              <a:ext uri="{FF2B5EF4-FFF2-40B4-BE49-F238E27FC236}">
                <a16:creationId xmlns:a16="http://schemas.microsoft.com/office/drawing/2014/main" id="{2757F11F-0F58-4A2B-8F7C-F69BE53FA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352675"/>
            <a:ext cx="2105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再次接触</a:t>
            </a:r>
          </a:p>
        </p:txBody>
      </p:sp>
      <p:sp>
        <p:nvSpPr>
          <p:cNvPr id="15" name="text-166">
            <a:extLst xmlns:a="http://schemas.openxmlformats.org/drawingml/2006/main">
              <a:ext uri="{FF2B5EF4-FFF2-40B4-BE49-F238E27FC236}">
                <a16:creationId xmlns:a16="http://schemas.microsoft.com/office/drawing/2014/main" id="{94BBFD1F-7C70-47ED-99E2-45D608BE8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819400"/>
            <a:ext cx="21050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依据新材料修正理解</a:t>
            </a:r>
          </a:p>
        </p:txBody>
      </p:sp>
      <p:sp>
        <p:nvSpPr>
          <p:cNvPr id="19" name="text-167">
            <a:extLst xmlns:a="http://schemas.openxmlformats.org/drawingml/2006/main">
              <a:ext uri="{FF2B5EF4-FFF2-40B4-BE49-F238E27FC236}">
                <a16:creationId xmlns:a16="http://schemas.microsoft.com/office/drawing/2014/main" id="{CD50A49D-4474-4588-93F3-109683A6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371975"/>
            <a:ext cx="1057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400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“只读到一段文字描述，没有视频、触摸、实操……”</a:t>
            </a:r>
          </a:p>
        </p:txBody>
      </p:sp>
      <p:sp>
        <p:nvSpPr>
          <p:cNvPr id="20" name="text-168">
            <a:extLst xmlns:a="http://schemas.openxmlformats.org/drawingml/2006/main">
              <a:ext uri="{FF2B5EF4-FFF2-40B4-BE49-F238E27FC236}">
                <a16:creationId xmlns:a16="http://schemas.microsoft.com/office/drawing/2014/main" id="{83630768-A0AC-4EBB-BCCC-FC23B17D1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25780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偏好形成时，模型同时保留了没有做过什么、还不了解什么。</a:t>
            </a:r>
          </a:p>
        </p:txBody>
      </p:sp>
      <p:sp>
        <p:nvSpPr>
          <p:cNvPr id="21" name="text-169">
            <a:extLst xmlns:a="http://schemas.openxmlformats.org/drawingml/2006/main">
              <a:ext uri="{FF2B5EF4-FFF2-40B4-BE49-F238E27FC236}">
                <a16:creationId xmlns:a16="http://schemas.microsoft.com/office/drawing/2014/main" id="{8CBAF2EE-36A2-4501-B1CC-9D2B1A05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86475"/>
            <a:ext cx="1038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短句摘自受控模型保存的认识范围；没有真实制陶，也未执行这轮空闲浏览。</a:t>
            </a:r>
          </a:p>
        </p:txBody>
      </p:sp>
    </p:spTree>
    <p:extLst>
      <p:ext uri="{BB962C8B-B14F-4D97-AF65-F5344CB8AC3E}">
        <p14:creationId xmlns:p14="http://schemas.microsoft.com/office/powerpoint/2010/main" val="50067115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D36FAF9-ED49-457A-B287-C231FAE9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语气来自当下的关系与状态</a:t>
            </a:r>
          </a:p>
        </p:txBody>
      </p:sp>
      <p:sp>
        <p:nvSpPr>
          <p:cNvPr id="2" name="text-171">
            <a:extLst xmlns:a="http://schemas.openxmlformats.org/drawingml/2006/main">
              <a:ext uri="{FF2B5EF4-FFF2-40B4-BE49-F238E27FC236}">
                <a16:creationId xmlns:a16="http://schemas.microsoft.com/office/drawing/2014/main" id="{6DACDAB7-2566-4B2D-9CE9-8A512300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机制示意：同一句“在吗”，可以有不同的自然反应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268E76E-52B9-4F55-A9AA-10AB4A63A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4" name="text-173">
            <a:extLst xmlns:a="http://schemas.openxmlformats.org/drawingml/2006/main">
              <a:ext uri="{FF2B5EF4-FFF2-40B4-BE49-F238E27FC236}">
                <a16:creationId xmlns:a16="http://schemas.microsoft.com/office/drawing/2014/main" id="{94B8BC0A-2BF5-4E62-9EFB-21A0F2AA0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28825"/>
            <a:ext cx="247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普通招呼</a:t>
            </a:r>
          </a:p>
        </p:txBody>
      </p:sp>
      <p:sp>
        <p:nvSpPr>
          <p:cNvPr id="5" name="text-174">
            <a:extLst xmlns:a="http://schemas.openxmlformats.org/drawingml/2006/main">
              <a:ext uri="{FF2B5EF4-FFF2-40B4-BE49-F238E27FC236}">
                <a16:creationId xmlns:a16="http://schemas.microsoft.com/office/drawing/2014/main" id="{FD367CC8-02ED-4645-9939-B829FE237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028825"/>
            <a:ext cx="80010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“在呀。”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E239F3-136A-4354-95CC-CA2EACF0F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4675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C9DCDF"/>
            </a:solidFill>
          </a:ln>
        </p:spPr>
      </p:sp>
      <p:sp>
        <p:nvSpPr>
          <p:cNvPr id="7" name="text-175">
            <a:extLst xmlns:a="http://schemas.openxmlformats.org/drawingml/2006/main">
              <a:ext uri="{FF2B5EF4-FFF2-40B4-BE49-F238E27FC236}">
                <a16:creationId xmlns:a16="http://schemas.microsoft.com/office/drawing/2014/main" id="{31559E04-692C-493D-BC74-291E7BD9D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247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对方刚去吃饭</a:t>
            </a:r>
          </a:p>
        </p:txBody>
      </p:sp>
      <p:sp>
        <p:nvSpPr>
          <p:cNvPr id="8" name="text-176">
            <a:extLst xmlns:a="http://schemas.openxmlformats.org/drawingml/2006/main">
              <a:ext uri="{FF2B5EF4-FFF2-40B4-BE49-F238E27FC236}">
                <a16:creationId xmlns:a16="http://schemas.microsoft.com/office/drawing/2014/main" id="{2F8E8233-6126-4B1E-BFDE-3B306E231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76600"/>
            <a:ext cx="80010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“在呀，吃好啦？”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吃饭是对方的事，不替自己补造生活。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58D347-E490-4427-A257-577CA2269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6245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C9DCDF"/>
            </a:solidFill>
          </a:ln>
        </p:spPr>
      </p:sp>
      <p:sp>
        <p:nvSpPr>
          <p:cNvPr id="10" name="text-177">
            <a:extLst xmlns:a="http://schemas.openxmlformats.org/drawingml/2006/main">
              <a:ext uri="{FF2B5EF4-FFF2-40B4-BE49-F238E27FC236}">
                <a16:creationId xmlns:a16="http://schemas.microsoft.com/office/drawing/2014/main" id="{A96D7D69-F77D-4D89-BD81-BC8F5C06C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24375"/>
            <a:ext cx="247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熟悉之后想多聊</a:t>
            </a:r>
          </a:p>
        </p:txBody>
      </p:sp>
      <p:sp>
        <p:nvSpPr>
          <p:cNvPr id="11" name="text-178">
            <a:extLst xmlns:a="http://schemas.openxmlformats.org/drawingml/2006/main">
              <a:ext uri="{FF2B5EF4-FFF2-40B4-BE49-F238E27FC236}">
                <a16:creationId xmlns:a16="http://schemas.microsoft.com/office/drawing/2014/main" id="{CA7FF2BD-3F90-416E-9B23-C61DE00A0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524375"/>
            <a:ext cx="80010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“在，刚想跟你说个事。”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只有此刻确有分享念头时，才这样开口。</a:t>
            </a:r>
          </a:p>
        </p:txBody>
      </p:sp>
      <p:sp>
        <p:nvSpPr>
          <p:cNvPr id="12" name="text-179">
            <a:extLst xmlns:a="http://schemas.openxmlformats.org/drawingml/2006/main">
              <a:ext uri="{FF2B5EF4-FFF2-40B4-BE49-F238E27FC236}">
                <a16:creationId xmlns:a16="http://schemas.microsoft.com/office/drawing/2014/main" id="{59105CD1-E602-4583-924C-11C95A27A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86475"/>
            <a:ext cx="1038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取消独立口头禅词库，保留表达反馈；示例不是固定台词，也不要求每轮分享。</a:t>
            </a:r>
          </a:p>
        </p:txBody>
      </p:sp>
    </p:spTree>
    <p:extLst>
      <p:ext uri="{BB962C8B-B14F-4D97-AF65-F5344CB8AC3E}">
        <p14:creationId xmlns:p14="http://schemas.microsoft.com/office/powerpoint/2010/main" val="31887817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31DFA9-86B9-4738-A086-2226E8840C89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648575" y="2843213"/>
            <a:ext cx="7524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0D44EB-0866-4F43-B15E-A8615B9BEC3C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800475" y="2843213"/>
            <a:ext cx="7524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EF1EA79-EE97-4E04-82E5-DD8117FEC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关系会积累，也能同时保留喜欢与介意</a:t>
            </a:r>
          </a:p>
        </p:txBody>
      </p:sp>
      <p:sp>
        <p:nvSpPr>
          <p:cNvPr id="2" name="text-181">
            <a:extLst xmlns:a="http://schemas.openxmlformats.org/drawingml/2006/main">
              <a:ext uri="{FF2B5EF4-FFF2-40B4-BE49-F238E27FC236}">
                <a16:creationId xmlns:a16="http://schemas.microsoft.com/office/drawing/2014/main" id="{5BBBD060-C149-40A8-ACA9-ED0A04A1B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隔离模型轨迹中观察到的变化；不是按聊天条数自动升级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FF44B0-0CB2-42F4-8BF6-EECD2B86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10CC5E-1EEA-4DFB-9B78-F90B8FFFB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3095625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5" name="text-183">
            <a:extLst xmlns:a="http://schemas.openxmlformats.org/drawingml/2006/main">
              <a:ext uri="{FF2B5EF4-FFF2-40B4-BE49-F238E27FC236}">
                <a16:creationId xmlns:a16="http://schemas.microsoft.com/office/drawing/2014/main" id="{FF22AA62-9B29-4998-9A38-9768D3F74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3625"/>
            <a:ext cx="27527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初识保留</a:t>
            </a:r>
          </a:p>
        </p:txBody>
      </p:sp>
      <p:sp>
        <p:nvSpPr>
          <p:cNvPr id="6" name="text-184">
            <a:extLst xmlns:a="http://schemas.openxmlformats.org/drawingml/2006/main">
              <a:ext uri="{FF2B5EF4-FFF2-40B4-BE49-F238E27FC236}">
                <a16:creationId xmlns:a16="http://schemas.microsoft.com/office/drawing/2014/main" id="{99936E63-44AC-4100-93A6-EE0D587F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0350"/>
            <a:ext cx="27527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先建立正常来往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FEC1EB-66ED-435F-8C53-BE9D978B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190750"/>
            <a:ext cx="3095625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DEC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8" name="text-185">
            <a:extLst xmlns:a="http://schemas.openxmlformats.org/drawingml/2006/main">
              <a:ext uri="{FF2B5EF4-FFF2-40B4-BE49-F238E27FC236}">
                <a16:creationId xmlns:a16="http://schemas.microsoft.com/office/drawing/2014/main" id="{D87FC073-9406-4283-A1BA-14914EE78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333625"/>
            <a:ext cx="27527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共同经历增多</a:t>
            </a:r>
          </a:p>
        </p:txBody>
      </p:sp>
      <p:sp>
        <p:nvSpPr>
          <p:cNvPr id="9" name="text-186">
            <a:extLst xmlns:a="http://schemas.openxmlformats.org/drawingml/2006/main">
              <a:ext uri="{FF2B5EF4-FFF2-40B4-BE49-F238E27FC236}">
                <a16:creationId xmlns:a16="http://schemas.microsoft.com/office/drawing/2014/main" id="{D5DE955B-C327-448F-9ED7-0B8375B0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00350"/>
            <a:ext cx="27527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“我也喜欢跟你聊”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6178FA-C7C3-4649-8022-C344EF279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190750"/>
            <a:ext cx="30861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11" name="text-187">
            <a:extLst xmlns:a="http://schemas.openxmlformats.org/drawingml/2006/main">
              <a:ext uri="{FF2B5EF4-FFF2-40B4-BE49-F238E27FC236}">
                <a16:creationId xmlns:a16="http://schemas.microsoft.com/office/drawing/2014/main" id="{9D9C89F0-CBCA-42C1-9829-BDB83FFC4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333625"/>
            <a:ext cx="2743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更复杂的态度</a:t>
            </a:r>
          </a:p>
        </p:txBody>
      </p:sp>
      <p:sp>
        <p:nvSpPr>
          <p:cNvPr id="12" name="text-188">
            <a:extLst xmlns:a="http://schemas.openxmlformats.org/drawingml/2006/main">
              <a:ext uri="{FF2B5EF4-FFF2-40B4-BE49-F238E27FC236}">
                <a16:creationId xmlns:a16="http://schemas.microsoft.com/office/drawing/2014/main" id="{5206EE55-8317-4FDD-B2A8-D4F1EAB6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00350"/>
            <a:ext cx="27432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愿意亲近，也会介意越界</a:t>
            </a:r>
          </a:p>
        </p:txBody>
      </p:sp>
      <p:sp>
        <p:nvSpPr>
          <p:cNvPr id="15" name="text-189">
            <a:extLst xmlns:a="http://schemas.openxmlformats.org/drawingml/2006/main">
              <a:ext uri="{FF2B5EF4-FFF2-40B4-BE49-F238E27FC236}">
                <a16:creationId xmlns:a16="http://schemas.microsoft.com/office/drawing/2014/main" id="{49DAF5AC-46D5-4CE5-A3DA-94E83ECBF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181475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625" b="0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道歉可以带来变化，信任与情绪不必同时恢复。</a:t>
            </a:r>
          </a:p>
        </p:txBody>
      </p:sp>
      <p:sp>
        <p:nvSpPr>
          <p:cNvPr id="16" name="text-190">
            <a:extLst xmlns:a="http://schemas.openxmlformats.org/drawingml/2006/main">
              <a:ext uri="{FF2B5EF4-FFF2-40B4-BE49-F238E27FC236}">
                <a16:creationId xmlns:a16="http://schemas.microsoft.com/office/drawing/2014/main" id="{34057AA3-3E7F-4D33-B802-4CA949ADA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067300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管理员可统一设置开放程度、关系节奏与表达程度；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慢热仍然允许后来热络，反感也不会被一次好消息清空。</a:t>
            </a:r>
          </a:p>
        </p:txBody>
      </p:sp>
    </p:spTree>
    <p:extLst>
      <p:ext uri="{BB962C8B-B14F-4D97-AF65-F5344CB8AC3E}">
        <p14:creationId xmlns:p14="http://schemas.microsoft.com/office/powerpoint/2010/main" val="185478393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365500C-A897-4ADC-9EE0-D82AB9F89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知道不知道，才能保住“我经历过什么”</a:t>
            </a:r>
          </a:p>
        </p:txBody>
      </p:sp>
      <p:sp>
        <p:nvSpPr>
          <p:cNvPr id="2" name="text-192">
            <a:extLst xmlns:a="http://schemas.openxmlformats.org/drawingml/2006/main">
              <a:ext uri="{FF2B5EF4-FFF2-40B4-BE49-F238E27FC236}">
                <a16:creationId xmlns:a16="http://schemas.microsoft.com/office/drawing/2014/main" id="{2460E846-33E1-47DB-B043-8479CDAB4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认识边界也属于角色连续性的一部分；以下为合成对话示意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6E04F93-EB8C-4D29-A71A-B3B0D738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4" name="text-194">
            <a:extLst xmlns:a="http://schemas.openxmlformats.org/drawingml/2006/main">
              <a:ext uri="{FF2B5EF4-FFF2-40B4-BE49-F238E27FC236}">
                <a16:creationId xmlns:a16="http://schemas.microsoft.com/office/drawing/2014/main" id="{9D02BA0E-B3B9-4A7B-93B5-060E09058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19300"/>
            <a:ext cx="209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转发旧记录</a:t>
            </a:r>
          </a:p>
        </p:txBody>
      </p:sp>
      <p:sp>
        <p:nvSpPr>
          <p:cNvPr id="5" name="text-195">
            <a:extLst xmlns:a="http://schemas.openxmlformats.org/drawingml/2006/main">
              <a:ext uri="{FF2B5EF4-FFF2-40B4-BE49-F238E27FC236}">
                <a16:creationId xmlns:a16="http://schemas.microsoft.com/office/drawing/2014/main" id="{CB7D9B9D-18AC-42B0-8F68-49A15B40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19300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对方：“把以前的聊天发给你，想起来了吗？”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肥鱼：“是从你发的记录里看到的，我自己没有那段记忆。”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846613-A152-4E8A-B382-A7161F22F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33725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C9DCDF"/>
            </a:solidFill>
          </a:ln>
        </p:spPr>
      </p:sp>
      <p:sp>
        <p:nvSpPr>
          <p:cNvPr id="7" name="text-196">
            <a:extLst xmlns:a="http://schemas.openxmlformats.org/drawingml/2006/main">
              <a:ext uri="{FF2B5EF4-FFF2-40B4-BE49-F238E27FC236}">
                <a16:creationId xmlns:a16="http://schemas.microsoft.com/office/drawing/2014/main" id="{2C115D40-451C-4670-B243-38EFC55A9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95650"/>
            <a:ext cx="209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没有命中</a:t>
            </a:r>
          </a:p>
        </p:txBody>
      </p:sp>
      <p:sp>
        <p:nvSpPr>
          <p:cNvPr id="8" name="text-197">
            <a:extLst xmlns:a="http://schemas.openxmlformats.org/drawingml/2006/main">
              <a:ext uri="{FF2B5EF4-FFF2-40B4-BE49-F238E27FC236}">
                <a16:creationId xmlns:a16="http://schemas.microsoft.com/office/drawing/2014/main" id="{1862ED25-8AFD-4FDF-AE39-2B3CDFAF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295650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“目前没查到这段经历的依据。”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检索可能不完整，不把“未找到”说成“从未发生”。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85875F-7342-468C-8DB9-9B1DF50A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10075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C9DCDF"/>
            </a:solidFill>
          </a:ln>
        </p:spPr>
      </p:sp>
      <p:sp>
        <p:nvSpPr>
          <p:cNvPr id="10" name="text-198">
            <a:extLst xmlns:a="http://schemas.openxmlformats.org/drawingml/2006/main">
              <a:ext uri="{FF2B5EF4-FFF2-40B4-BE49-F238E27FC236}">
                <a16:creationId xmlns:a16="http://schemas.microsoft.com/office/drawing/2014/main" id="{CDA3174D-5307-42DC-AEFB-89A078F2F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72000"/>
            <a:ext cx="209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视频没看清</a:t>
            </a:r>
          </a:p>
        </p:txBody>
      </p:sp>
      <p:sp>
        <p:nvSpPr>
          <p:cNvPr id="11" name="text-199">
            <a:extLst xmlns:a="http://schemas.openxmlformats.org/drawingml/2006/main">
              <a:ext uri="{FF2B5EF4-FFF2-40B4-BE49-F238E27FC236}">
                <a16:creationId xmlns:a16="http://schemas.microsoft.com/office/drawing/2014/main" id="{F888E46B-4E9C-4A0E-9AC6-75B63F93F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572000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“只看到这几个画面，后面发生什么还不知道。”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可以尝试恢复读取，仍按真正获得的内容回答。</a:t>
            </a:r>
          </a:p>
        </p:txBody>
      </p:sp>
    </p:spTree>
    <p:extLst>
      <p:ext uri="{BB962C8B-B14F-4D97-AF65-F5344CB8AC3E}">
        <p14:creationId xmlns:p14="http://schemas.microsoft.com/office/powerpoint/2010/main" val="201209806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EC3F169-C28C-4BD1-B908-55AD9F27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真实问题：“先歇一下”不该长成一排永久牵挂</a:t>
            </a:r>
          </a:p>
        </p:txBody>
      </p:sp>
      <p:sp>
        <p:nvSpPr>
          <p:cNvPr id="2" name="text-201">
            <a:extLst xmlns:a="http://schemas.openxmlformats.org/drawingml/2006/main">
              <a:ext uri="{FF2B5EF4-FFF2-40B4-BE49-F238E27FC236}">
                <a16:creationId xmlns:a16="http://schemas.microsoft.com/office/drawing/2014/main" id="{511F35B1-C1A2-4A16-AB87-DFB6F140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用户提供的修复前界面，原始截图缩放展示，原文未改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2B6B646-A215-4288-9006-7513317A1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271A5E-BD74-4626-8C3F-911360DB2C8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1184e220f9446f"/>
          <a:stretch xmlns:a="http://schemas.openxmlformats.org/drawingml/2006/main"/>
        </p:blipFill>
        <p:spPr>
          <a:xfrm xmlns:a="http://schemas.openxmlformats.org/drawingml/2006/main">
            <a:off x="1276540" y="1838325"/>
            <a:ext cx="4562095" cy="4076700"/>
          </a:xfrm>
          <a:prstGeom xmlns:a="http://schemas.openxmlformats.org/drawingml/2006/main" prst="rect">
            <a:avLst/>
          </a:prstGeom>
        </p:spPr>
      </p:pic>
      <p:sp>
        <p:nvSpPr>
          <p:cNvPr id="5" name="text-203">
            <a:extLst xmlns:a="http://schemas.openxmlformats.org/drawingml/2006/main">
              <a:ext uri="{FF2B5EF4-FFF2-40B4-BE49-F238E27FC236}">
                <a16:creationId xmlns:a16="http://schemas.microsoft.com/office/drawing/2014/main" id="{51AED6AF-0757-425B-9B3F-589D62F01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066925"/>
            <a:ext cx="4524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94694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94694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94694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94694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94694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94694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94694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94694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94694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946949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400" b="1">
                <a:solidFill>
                  <a:srgbClr val="946949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946949"/>
                </a:solidFill>
                <a:latin typeface="DengXian"/>
                <a:ea typeface="DengXian"/>
                <a:cs typeface="DengXian"/>
              </a:rPr>
              <a:t>为什么会这样</a:t>
            </a:r>
          </a:p>
        </p:txBody>
      </p:sp>
      <p:sp>
        <p:nvSpPr>
          <p:cNvPr id="6" name="text-204">
            <a:extLst xmlns:a="http://schemas.openxmlformats.org/drawingml/2006/main">
              <a:ext uri="{FF2B5EF4-FFF2-40B4-BE49-F238E27FC236}">
                <a16:creationId xmlns:a16="http://schemas.microsoft.com/office/drawing/2014/main" id="{D01C720A-8314-415B-8903-9A992F4E9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2724150"/>
            <a:ext cx="4524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每次活动决策的临时动机，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混入了持续关注的视图。</a:t>
            </a:r>
          </a:p>
        </p:txBody>
      </p:sp>
      <p:sp>
        <p:nvSpPr>
          <p:cNvPr id="7" name="text-205">
            <a:extLst xmlns:a="http://schemas.openxmlformats.org/drawingml/2006/main">
              <a:ext uri="{FF2B5EF4-FFF2-40B4-BE49-F238E27FC236}">
                <a16:creationId xmlns:a16="http://schemas.microsoft.com/office/drawing/2014/main" id="{29275CB1-7D2A-457A-B445-7E1815CB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895725"/>
            <a:ext cx="4524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现在怎样分开</a:t>
            </a:r>
          </a:p>
        </p:txBody>
      </p:sp>
      <p:sp>
        <p:nvSpPr>
          <p:cNvPr id="8" name="text-206">
            <a:extLst xmlns:a="http://schemas.openxmlformats.org/drawingml/2006/main">
              <a:ext uri="{FF2B5EF4-FFF2-40B4-BE49-F238E27FC236}">
                <a16:creationId xmlns:a16="http://schemas.microsoft.com/office/drawing/2014/main" id="{04C02BA9-063F-462C-B5AD-37E78530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562475"/>
            <a:ext cx="45243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临时决策归行动历史；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值得延续的牵挂才参与关注。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原始版本、依据和回执仍保留。</a:t>
            </a:r>
          </a:p>
        </p:txBody>
      </p:sp>
      <p:sp>
        <p:nvSpPr>
          <p:cNvPr id="9" name="text-207">
            <a:extLst xmlns:a="http://schemas.openxmlformats.org/drawingml/2006/main">
              <a:ext uri="{FF2B5EF4-FFF2-40B4-BE49-F238E27FC236}">
                <a16:creationId xmlns:a16="http://schemas.microsoft.com/office/drawing/2014/main" id="{645A3B63-4513-44A4-AB4D-5DA7932F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86475"/>
            <a:ext cx="1038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精确同义复用有主体与证据约束；语义相近但内容不同的牵挂，仍需继续研究整理。</a:t>
            </a:r>
          </a:p>
        </p:txBody>
      </p:sp>
    </p:spTree>
    <p:extLst>
      <p:ext uri="{BB962C8B-B14F-4D97-AF65-F5344CB8AC3E}">
        <p14:creationId xmlns:p14="http://schemas.microsoft.com/office/powerpoint/2010/main" val="111056837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170595-5116-4BE3-A19A-386DE8EF00F6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620125" y="2843213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653204-84F4-4AFB-8A7A-6F6455C11460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886450" y="2843213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9D99C7-A46D-4DEC-B002-2DC5D30A9C87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152775" y="2843213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sp>
        <p:nvSpPr>
          <p:cNvPr id="2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7A288FA-22AA-4CB4-B04F-DC022B601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受控实例：从一个故事，想到一个具体的人</a:t>
            </a:r>
          </a:p>
        </p:txBody>
      </p:sp>
      <p:sp>
        <p:nvSpPr>
          <p:cNvPr id="2" name="text-209">
            <a:extLst xmlns:a="http://schemas.openxmlformats.org/drawingml/2006/main">
              <a:ext uri="{FF2B5EF4-FFF2-40B4-BE49-F238E27FC236}">
                <a16:creationId xmlns:a16="http://schemas.microsoft.com/office/drawing/2014/main" id="{12D166B6-A9C8-4CC3-9D3F-B92EC4C8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真实模型与持久化组件；隔离人物、虚拟时间、本地受控接收端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97F1282-7AB1-4192-AAB1-4271EC87A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28952A-B512-4FD1-9589-5C3FDB7D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52650"/>
            <a:ext cx="244792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5" name="text-211">
            <a:extLst xmlns:a="http://schemas.openxmlformats.org/drawingml/2006/main">
              <a:ext uri="{FF2B5EF4-FFF2-40B4-BE49-F238E27FC236}">
                <a16:creationId xmlns:a16="http://schemas.microsoft.com/office/drawing/2014/main" id="{0A66CBB3-9E45-43C0-A2E9-484945602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95525"/>
            <a:ext cx="2105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读到故事</a:t>
            </a:r>
          </a:p>
        </p:txBody>
      </p:sp>
      <p:sp>
        <p:nvSpPr>
          <p:cNvPr id="6" name="text-212">
            <a:extLst xmlns:a="http://schemas.openxmlformats.org/drawingml/2006/main">
              <a:ext uri="{FF2B5EF4-FFF2-40B4-BE49-F238E27FC236}">
                <a16:creationId xmlns:a16="http://schemas.microsoft.com/office/drawing/2014/main" id="{483A9A98-0949-480E-B5B5-8C1F347E1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62250"/>
            <a:ext cx="21050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《快乐王子》的结尾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DEAF6-A189-4FCF-8235-4CF08A10F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152650"/>
            <a:ext cx="244792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8" name="text-213">
            <a:extLst xmlns:a="http://schemas.openxmlformats.org/drawingml/2006/main">
              <a:ext uri="{FF2B5EF4-FFF2-40B4-BE49-F238E27FC236}">
                <a16:creationId xmlns:a16="http://schemas.microsoft.com/office/drawing/2014/main" id="{481974F7-75BC-4CDD-A939-E47B645AD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295525"/>
            <a:ext cx="2105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想起共同话题</a:t>
            </a:r>
          </a:p>
        </p:txBody>
      </p:sp>
      <p:sp>
        <p:nvSpPr>
          <p:cNvPr id="9" name="text-214">
            <a:extLst xmlns:a="http://schemas.openxmlformats.org/drawingml/2006/main">
              <a:ext uri="{FF2B5EF4-FFF2-40B4-BE49-F238E27FC236}">
                <a16:creationId xmlns:a16="http://schemas.microsoft.com/office/drawing/2014/main" id="{9D50103C-031A-4620-B90B-E83ACBC3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762250"/>
            <a:ext cx="21050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曾聊过“不耀眼也添光”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E937D2-4CCB-442D-8CA2-1E98008AD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52650"/>
            <a:ext cx="244792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11" name="text-215">
            <a:extLst xmlns:a="http://schemas.openxmlformats.org/drawingml/2006/main">
              <a:ext uri="{FF2B5EF4-FFF2-40B4-BE49-F238E27FC236}">
                <a16:creationId xmlns:a16="http://schemas.microsoft.com/office/drawing/2014/main" id="{73C71E68-3C98-4043-8AF6-50B44159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95525"/>
            <a:ext cx="2105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选择具体联系人</a:t>
            </a:r>
          </a:p>
        </p:txBody>
      </p:sp>
      <p:sp>
        <p:nvSpPr>
          <p:cNvPr id="12" name="text-216">
            <a:extLst xmlns:a="http://schemas.openxmlformats.org/drawingml/2006/main">
              <a:ext uri="{FF2B5EF4-FFF2-40B4-BE49-F238E27FC236}">
                <a16:creationId xmlns:a16="http://schemas.microsoft.com/office/drawing/2014/main" id="{79A228E1-27F4-4D32-8ECD-86EB2E510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62250"/>
            <a:ext cx="21050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模型自行选择主动分享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39AF22-9896-41B5-B871-A74A6A1D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152650"/>
            <a:ext cx="2447925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14" name="text-217">
            <a:extLst xmlns:a="http://schemas.openxmlformats.org/drawingml/2006/main">
              <a:ext uri="{FF2B5EF4-FFF2-40B4-BE49-F238E27FC236}">
                <a16:creationId xmlns:a16="http://schemas.microsoft.com/office/drawing/2014/main" id="{250F71B6-C43D-4BF6-88B1-4AF5A8304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295525"/>
            <a:ext cx="2105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接收端确认</a:t>
            </a:r>
          </a:p>
        </p:txBody>
      </p:sp>
      <p:sp>
        <p:nvSpPr>
          <p:cNvPr id="15" name="text-218">
            <a:extLst xmlns:a="http://schemas.openxmlformats.org/drawingml/2006/main">
              <a:ext uri="{FF2B5EF4-FFF2-40B4-BE49-F238E27FC236}">
                <a16:creationId xmlns:a16="http://schemas.microsoft.com/office/drawing/2014/main" id="{7E0CE754-2B15-4009-B64D-60DDA9B7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762250"/>
            <a:ext cx="210502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留下本地发送回执</a:t>
            </a:r>
          </a:p>
        </p:txBody>
      </p:sp>
      <p:sp>
        <p:nvSpPr>
          <p:cNvPr id="19" name="text-219">
            <a:extLst xmlns:a="http://schemas.openxmlformats.org/drawingml/2006/main">
              <a:ext uri="{FF2B5EF4-FFF2-40B4-BE49-F238E27FC236}">
                <a16:creationId xmlns:a16="http://schemas.microsoft.com/office/drawing/2014/main" id="{0C0B67B2-D050-413F-9C1C-AB12144C7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24325"/>
            <a:ext cx="10572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625" b="0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“看到这儿就想到你说的歪歪那句——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625" b="0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不耀眼，也算给今天添了一点光。”</a:t>
            </a:r>
          </a:p>
        </p:txBody>
      </p:sp>
      <p:sp>
        <p:nvSpPr>
          <p:cNvPr id="20" name="text-220">
            <a:extLst xmlns:a="http://schemas.openxmlformats.org/drawingml/2006/main">
              <a:ext uri="{FF2B5EF4-FFF2-40B4-BE49-F238E27FC236}">
                <a16:creationId xmlns:a16="http://schemas.microsoft.com/office/drawing/2014/main" id="{EC4390DB-0D05-47CA-9CC4-89482F194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86475"/>
            <a:ext cx="1038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模型实际可见输出摘录。该链路没有真实QQ或社交外发，也不等于自行发明新工具。</a:t>
            </a:r>
          </a:p>
        </p:txBody>
      </p:sp>
    </p:spTree>
    <p:extLst>
      <p:ext uri="{BB962C8B-B14F-4D97-AF65-F5344CB8AC3E}">
        <p14:creationId xmlns:p14="http://schemas.microsoft.com/office/powerpoint/2010/main" val="192966593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324D5A1-B211-4CB5-B3F2-87880451D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把全过程放在一个情境里</a:t>
            </a:r>
          </a:p>
        </p:txBody>
      </p:sp>
      <p:sp>
        <p:nvSpPr>
          <p:cNvPr id="2" name="text-222">
            <a:extLst xmlns:a="http://schemas.openxmlformats.org/drawingml/2006/main">
              <a:ext uri="{FF2B5EF4-FFF2-40B4-BE49-F238E27FC236}">
                <a16:creationId xmlns:a16="http://schemas.microsoft.com/office/drawing/2014/main" id="{244B55FE-FDF7-44B9-B644-430E97D5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合成讲解情境，串起已实现的机制；不是新一轮实测或真实聊天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AAF47ED-DCA5-4801-8F7B-B72003CA1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sp>
        <p:nvSpPr>
          <p:cNvPr id="4" name="text-224">
            <a:extLst xmlns:a="http://schemas.openxmlformats.org/drawingml/2006/main">
              <a:ext uri="{FF2B5EF4-FFF2-40B4-BE49-F238E27FC236}">
                <a16:creationId xmlns:a16="http://schemas.microsoft.com/office/drawing/2014/main" id="{0A775CE5-8A41-432E-94BA-ACA2A0E9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19300"/>
            <a:ext cx="209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今天读到</a:t>
            </a:r>
          </a:p>
        </p:txBody>
      </p:sp>
      <p:sp>
        <p:nvSpPr>
          <p:cNvPr id="5" name="text-225">
            <a:extLst xmlns:a="http://schemas.openxmlformats.org/drawingml/2006/main">
              <a:ext uri="{FF2B5EF4-FFF2-40B4-BE49-F238E27FC236}">
                <a16:creationId xmlns:a16="http://schemas.microsoft.com/office/drawing/2014/main" id="{8595260F-8867-4CBA-A7D7-A0D20EA22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19300"/>
            <a:ext cx="83820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一段陶艺故事：歪掉的碗沿着凹陷刻成河流。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核心中的好奇，让这个细节有了意义。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09ACA8-3F93-462E-BB12-445EB39FC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24200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C9DCDF"/>
            </a:solidFill>
          </a:ln>
        </p:spPr>
      </p:sp>
      <p:sp>
        <p:nvSpPr>
          <p:cNvPr id="7" name="text-226">
            <a:extLst xmlns:a="http://schemas.openxmlformats.org/drawingml/2006/main">
              <a:ext uri="{FF2B5EF4-FFF2-40B4-BE49-F238E27FC236}">
                <a16:creationId xmlns:a16="http://schemas.microsoft.com/office/drawing/2014/main" id="{F00128E8-FB02-4345-B5A2-38D7DCCDA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86125"/>
            <a:ext cx="209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今天想起</a:t>
            </a:r>
          </a:p>
        </p:txBody>
      </p:sp>
      <p:sp>
        <p:nvSpPr>
          <p:cNvPr id="8" name="text-227">
            <a:extLst xmlns:a="http://schemas.openxmlformats.org/drawingml/2006/main">
              <a:ext uri="{FF2B5EF4-FFF2-40B4-BE49-F238E27FC236}">
                <a16:creationId xmlns:a16="http://schemas.microsoft.com/office/drawing/2014/main" id="{0FD9E2DA-4184-4482-A2F9-1798E4FE4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286125"/>
            <a:ext cx="83820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某位朋友聊过手作与挫折。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召回具体来往，形成分享念头，也可以先不打扰。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CEA7EA-523E-410B-913A-34BB4F426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91025"/>
            <a:ext cx="10744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C9DCDF"/>
            </a:solidFill>
          </a:ln>
        </p:spPr>
      </p:sp>
      <p:sp>
        <p:nvSpPr>
          <p:cNvPr id="10" name="text-228">
            <a:extLst xmlns:a="http://schemas.openxmlformats.org/drawingml/2006/main">
              <a:ext uri="{FF2B5EF4-FFF2-40B4-BE49-F238E27FC236}">
                <a16:creationId xmlns:a16="http://schemas.microsoft.com/office/drawing/2014/main" id="{DBEEC177-91BA-4B48-91D2-ECEF8F57A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52950"/>
            <a:ext cx="209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真正发生后</a:t>
            </a:r>
          </a:p>
        </p:txBody>
      </p:sp>
      <p:sp>
        <p:nvSpPr>
          <p:cNvPr id="11" name="text-229">
            <a:extLst xmlns:a="http://schemas.openxmlformats.org/drawingml/2006/main">
              <a:ext uri="{FF2B5EF4-FFF2-40B4-BE49-F238E27FC236}">
                <a16:creationId xmlns:a16="http://schemas.microsoft.com/office/drawing/2014/main" id="{1408C665-43D7-4C63-A189-F45D7278E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552950"/>
            <a:ext cx="838200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若选择分享，核对实际回执再记录。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保存“读了什么”“对它的理解”和“与谁说过”。</a:t>
            </a:r>
          </a:p>
        </p:txBody>
      </p:sp>
    </p:spTree>
    <p:extLst>
      <p:ext uri="{BB962C8B-B14F-4D97-AF65-F5344CB8AC3E}">
        <p14:creationId xmlns:p14="http://schemas.microsoft.com/office/powerpoint/2010/main" val="41231317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E4121C2-161C-41B7-8CE0-A221200CA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下一次相遇，记忆改变的是理解与分寸</a:t>
            </a:r>
          </a:p>
        </p:txBody>
      </p:sp>
      <p:sp>
        <p:nvSpPr>
          <p:cNvPr id="2" name="text-231">
            <a:extLst xmlns:a="http://schemas.openxmlformats.org/drawingml/2006/main">
              <a:ext uri="{FF2B5EF4-FFF2-40B4-BE49-F238E27FC236}">
                <a16:creationId xmlns:a16="http://schemas.microsoft.com/office/drawing/2014/main" id="{83311C42-F676-4ED1-BF6C-A8FB7B72D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继续上一页的合成情境：朋友隔天说“今天又做砸了”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5C9D1D8-E9E8-4EA7-9371-268986941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sp>
        <p:nvSpPr>
          <p:cNvPr id="4" name="text-233">
            <a:extLst xmlns:a="http://schemas.openxmlformats.org/drawingml/2006/main">
              <a:ext uri="{FF2B5EF4-FFF2-40B4-BE49-F238E27FC236}">
                <a16:creationId xmlns:a16="http://schemas.microsoft.com/office/drawing/2014/main" id="{17FC18B0-296D-4093-ABA0-96C7F2E0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4524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记起的内容</a:t>
            </a:r>
          </a:p>
        </p:txBody>
      </p:sp>
      <p:sp>
        <p:nvSpPr>
          <p:cNvPr id="5" name="text-234">
            <a:extLst xmlns:a="http://schemas.openxmlformats.org/drawingml/2006/main">
              <a:ext uri="{FF2B5EF4-FFF2-40B4-BE49-F238E27FC236}">
                <a16:creationId xmlns:a16="http://schemas.microsoft.com/office/drawing/2014/main" id="{2F325378-5087-45F7-B055-7DF522414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71775"/>
            <a:ext cx="4733925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他曾在意成品不够好。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自己被“顺着不完美找形状”吸引。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上次分享，他愿意接着聊。</a:t>
            </a:r>
          </a:p>
        </p:txBody>
      </p:sp>
      <p:sp>
        <p:nvSpPr>
          <p:cNvPr id="6" name="text-235">
            <a:extLst xmlns:a="http://schemas.openxmlformats.org/drawingml/2006/main">
              <a:ext uri="{FF2B5EF4-FFF2-40B4-BE49-F238E27FC236}">
                <a16:creationId xmlns:a16="http://schemas.microsoft.com/office/drawing/2014/main" id="{76318636-A615-4B5A-B819-FF3AD5BC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76450"/>
            <a:ext cx="46958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可能说出口的一句</a:t>
            </a:r>
          </a:p>
        </p:txBody>
      </p:sp>
      <p:sp>
        <p:nvSpPr>
          <p:cNvPr id="7" name="text-236">
            <a:extLst xmlns:a="http://schemas.openxmlformats.org/drawingml/2006/main">
              <a:ext uri="{FF2B5EF4-FFF2-40B4-BE49-F238E27FC236}">
                <a16:creationId xmlns:a16="http://schemas.microsoft.com/office/drawing/2014/main" id="{3E18E9A0-F9C2-42FA-AF3D-B9240E59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847975"/>
            <a:ext cx="47053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7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2775" b="0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“想吐槽一下，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775" b="0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2775" b="0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还是想一起看看能怎么改？”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D0EA66-FD34-44AF-ADD9-55E49519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72050"/>
            <a:ext cx="1075372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DEC"/>
          </a:solidFill>
          <a:ln xmlns:a="http://schemas.openxmlformats.org/drawingml/2006/main" w="0">
            <a:noFill/>
          </a:ln>
        </p:spPr>
      </p:sp>
      <p:sp>
        <p:nvSpPr>
          <p:cNvPr id="9" name="text-237">
            <a:extLst xmlns:a="http://schemas.openxmlformats.org/drawingml/2006/main">
              <a:ext uri="{FF2B5EF4-FFF2-40B4-BE49-F238E27FC236}">
                <a16:creationId xmlns:a16="http://schemas.microsoft.com/office/drawing/2014/main" id="{CDC0F757-3EED-4EB7-A0F2-E6DB3FB0D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2550"/>
            <a:ext cx="10287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关系多了一点了解，偏好更具体；语气更熟悉，话题仍跟着眼前的人。</a:t>
            </a:r>
          </a:p>
        </p:txBody>
      </p:sp>
      <p:sp>
        <p:nvSpPr>
          <p:cNvPr id="10" name="text-238">
            <a:extLst xmlns:a="http://schemas.openxmlformats.org/drawingml/2006/main">
              <a:ext uri="{FF2B5EF4-FFF2-40B4-BE49-F238E27FC236}">
                <a16:creationId xmlns:a16="http://schemas.microsoft.com/office/drawing/2014/main" id="{76C1A40F-3AE3-4184-BEA9-39A44C11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86475"/>
            <a:ext cx="1038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措辞是人为编写的示例，不保证模型必然说出；也可以只安静听他说。</a:t>
            </a:r>
          </a:p>
        </p:txBody>
      </p:sp>
    </p:spTree>
    <p:extLst>
      <p:ext uri="{BB962C8B-B14F-4D97-AF65-F5344CB8AC3E}">
        <p14:creationId xmlns:p14="http://schemas.microsoft.com/office/powerpoint/2010/main" val="193524843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550C20C-D389-47FC-9F13-B5219A2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生活台：把经历的来源与延续看得见</a:t>
            </a:r>
          </a:p>
        </p:txBody>
      </p:sp>
      <p:sp>
        <p:nvSpPr>
          <p:cNvPr id="2" name="text-240">
            <a:extLst xmlns:a="http://schemas.openxmlformats.org/drawingml/2006/main">
              <a:ext uri="{FF2B5EF4-FFF2-40B4-BE49-F238E27FC236}">
                <a16:creationId xmlns:a16="http://schemas.microsoft.com/office/drawing/2014/main" id="{8A6C71B5-10BC-4120-8DFB-698204CF6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合成数据界面预览，不展示私人角色数据库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BB35517-4B38-4FD2-9A9A-AB27C558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8B84B-641D-488D-90B5-E12E363FBB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f7558b62294320"/>
          <a:stretch xmlns:a="http://schemas.openxmlformats.org/drawingml/2006/main"/>
        </p:blipFill>
        <p:spPr>
          <a:xfrm xmlns:a="http://schemas.openxmlformats.org/drawingml/2006/main">
            <a:off x="2508339" y="1838325"/>
            <a:ext cx="7175322" cy="4038600"/>
          </a:xfrm>
          <a:prstGeom xmlns:a="http://schemas.openxmlformats.org/drawingml/2006/main" prst="rect">
            <a:avLst/>
          </a:prstGeom>
        </p:spPr>
      </p:pic>
      <p:sp>
        <p:nvSpPr>
          <p:cNvPr id="5" name="text-242">
            <a:extLst xmlns:a="http://schemas.openxmlformats.org/drawingml/2006/main">
              <a:ext uri="{FF2B5EF4-FFF2-40B4-BE49-F238E27FC236}">
                <a16:creationId xmlns:a16="http://schemas.microsoft.com/office/drawing/2014/main" id="{EAFA284A-6A2F-4EE3-ACD3-31AA2981E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86475"/>
            <a:ext cx="1038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可以按来源、归属与人物查看；管理界面的阅读本身不会制造新感情或新经历。</a:t>
            </a:r>
          </a:p>
        </p:txBody>
      </p:sp>
    </p:spTree>
    <p:extLst>
      <p:ext uri="{BB962C8B-B14F-4D97-AF65-F5344CB8AC3E}">
        <p14:creationId xmlns:p14="http://schemas.microsoft.com/office/powerpoint/2010/main" val="184592897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0EEF45-FB90-424C-8DE9-EC5DA42DA387}"/>
              </a:ext>
            </a:extLst>
          </p:cNvPr>
          <p:cNvCxnSpPr>
            <a:stCxn xmlns:a="http://schemas.openxmlformats.org/drawingml/2006/main" id="7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6096000" y="3400425"/>
            <a:ext cx="0" cy="11239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35A636-E493-4E4F-B42A-DE0E3D226244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7648575" y="2762250"/>
            <a:ext cx="7334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1E46A3-9086-4FA3-A0ED-6D3D60395159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810000" y="2762250"/>
            <a:ext cx="7334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sp>
        <p:nvSpPr>
          <p:cNvPr id="2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BB24AD9-051D-47C2-A585-1006A66A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底层架构，让连续性不依赖某个聊天窗口</a:t>
            </a:r>
          </a:p>
        </p:txBody>
      </p:sp>
      <p:sp>
        <p:nvSpPr>
          <p:cNvPr id="2" name="text-244">
            <a:extLst xmlns:a="http://schemas.openxmlformats.org/drawingml/2006/main">
              <a:ext uri="{FF2B5EF4-FFF2-40B4-BE49-F238E27FC236}">
                <a16:creationId xmlns:a16="http://schemas.microsoft.com/office/drawing/2014/main" id="{FD15B74F-4EC8-4738-BAA9-4E2472CCB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QQ、微信、网页与桌面都是来源或渠道，角色只有一份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2E8496B-22EC-4BEF-83C5-FA732B294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0C1DAE-A5E7-435B-B946-15D866C1B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24075"/>
            <a:ext cx="31051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5" name="text-246">
            <a:extLst xmlns:a="http://schemas.openxmlformats.org/drawingml/2006/main">
              <a:ext uri="{FF2B5EF4-FFF2-40B4-BE49-F238E27FC236}">
                <a16:creationId xmlns:a16="http://schemas.microsoft.com/office/drawing/2014/main" id="{F9724B9F-30A9-4C75-88E2-72BB0168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来源与通道</a:t>
            </a:r>
          </a:p>
        </p:txBody>
      </p:sp>
      <p:sp>
        <p:nvSpPr>
          <p:cNvPr id="6" name="text-247">
            <a:extLst xmlns:a="http://schemas.openxmlformats.org/drawingml/2006/main">
              <a:ext uri="{FF2B5EF4-FFF2-40B4-BE49-F238E27FC236}">
                <a16:creationId xmlns:a16="http://schemas.microsoft.com/office/drawing/2014/main" id="{005DC404-EF7B-48E8-932F-72253EE3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33675"/>
            <a:ext cx="276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来信 · 网站 · 文件 · 语音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0576D1-3936-4CE5-9455-8CDF5E89C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124075"/>
            <a:ext cx="31051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DEC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8" name="text-248">
            <a:extLst xmlns:a="http://schemas.openxmlformats.org/drawingml/2006/main">
              <a:ext uri="{FF2B5EF4-FFF2-40B4-BE49-F238E27FC236}">
                <a16:creationId xmlns:a16="http://schemas.microsoft.com/office/drawing/2014/main" id="{2688B40A-F7FD-4BAB-A33C-2A6FF4A72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2669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角色运行时</a:t>
            </a:r>
          </a:p>
        </p:txBody>
      </p:sp>
      <p:sp>
        <p:nvSpPr>
          <p:cNvPr id="9" name="text-249">
            <a:extLst xmlns:a="http://schemas.openxmlformats.org/drawingml/2006/main">
              <a:ext uri="{FF2B5EF4-FFF2-40B4-BE49-F238E27FC236}">
                <a16:creationId xmlns:a16="http://schemas.microsoft.com/office/drawing/2014/main" id="{E27FBE13-9A30-4083-9CDA-B4BE61CA9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733675"/>
            <a:ext cx="276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感知、召回、状态与活动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B6BE54-1519-4E21-80C5-70CCCC92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24075"/>
            <a:ext cx="310515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11" name="text-250">
            <a:extLst xmlns:a="http://schemas.openxmlformats.org/drawingml/2006/main">
              <a:ext uri="{FF2B5EF4-FFF2-40B4-BE49-F238E27FC236}">
                <a16:creationId xmlns:a16="http://schemas.microsoft.com/office/drawing/2014/main" id="{1F54B79D-4425-48A0-8CC2-CDA719746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2669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DSH 推理与工具</a:t>
            </a:r>
          </a:p>
        </p:txBody>
      </p:sp>
      <p:sp>
        <p:nvSpPr>
          <p:cNvPr id="12" name="text-251">
            <a:extLst xmlns:a="http://schemas.openxmlformats.org/drawingml/2006/main">
              <a:ext uri="{FF2B5EF4-FFF2-40B4-BE49-F238E27FC236}">
                <a16:creationId xmlns:a16="http://schemas.microsoft.com/office/drawing/2014/main" id="{5CF8EF1B-6E09-4C81-85E0-645B1C1D0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33675"/>
            <a:ext cx="2762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模型表达 · 受限执行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FB3E8C-AFF2-4991-869D-E4EF4EEC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524375"/>
            <a:ext cx="573405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DEC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16" name="text-252">
            <a:extLst xmlns:a="http://schemas.openxmlformats.org/drawingml/2006/main">
              <a:ext uri="{FF2B5EF4-FFF2-40B4-BE49-F238E27FC236}">
                <a16:creationId xmlns:a16="http://schemas.microsoft.com/office/drawing/2014/main" id="{6AD7098A-DF29-40E6-80AD-EB72360A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667250"/>
            <a:ext cx="5391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本地角色档案</a:t>
            </a:r>
          </a:p>
        </p:txBody>
      </p:sp>
      <p:sp>
        <p:nvSpPr>
          <p:cNvPr id="17" name="text-253">
            <a:extLst xmlns:a="http://schemas.openxmlformats.org/drawingml/2006/main">
              <a:ext uri="{FF2B5EF4-FFF2-40B4-BE49-F238E27FC236}">
                <a16:creationId xmlns:a16="http://schemas.microsoft.com/office/drawing/2014/main" id="{13C5D1C7-165F-4368-A489-A2EA4289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5133975"/>
            <a:ext cx="53911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核心 · 证据 · 记忆 · 关系 · 版本</a:t>
            </a:r>
          </a:p>
        </p:txBody>
      </p:sp>
      <p:sp>
        <p:nvSpPr>
          <p:cNvPr id="19" name="text-254">
            <a:extLst xmlns:a="http://schemas.openxmlformats.org/drawingml/2006/main">
              <a:ext uri="{FF2B5EF4-FFF2-40B4-BE49-F238E27FC236}">
                <a16:creationId xmlns:a16="http://schemas.microsoft.com/office/drawing/2014/main" id="{4FD95AA8-DED0-49BA-A3F9-A6EFD0756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生活台</a:t>
            </a:r>
          </a:p>
        </p:txBody>
      </p:sp>
      <p:sp>
        <p:nvSpPr>
          <p:cNvPr id="20" name="text-255">
            <a:extLst xmlns:a="http://schemas.openxmlformats.org/drawingml/2006/main">
              <a:ext uri="{FF2B5EF4-FFF2-40B4-BE49-F238E27FC236}">
                <a16:creationId xmlns:a16="http://schemas.microsoft.com/office/drawing/2014/main" id="{E9146648-6C0A-4588-B4D1-9B984A2C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181600"/>
            <a:ext cx="209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查看状态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管理边界</a:t>
            </a:r>
          </a:p>
        </p:txBody>
      </p:sp>
      <p:sp>
        <p:nvSpPr>
          <p:cNvPr id="21" name="text-256">
            <a:extLst xmlns:a="http://schemas.openxmlformats.org/drawingml/2006/main">
              <a:ext uri="{FF2B5EF4-FFF2-40B4-BE49-F238E27FC236}">
                <a16:creationId xmlns:a16="http://schemas.microsoft.com/office/drawing/2014/main" id="{653FE80C-1426-4C0A-85B0-8E8EC5AB7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6101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325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实际回执</a:t>
            </a:r>
          </a:p>
        </p:txBody>
      </p:sp>
      <p:sp>
        <p:nvSpPr>
          <p:cNvPr id="22" name="text-257">
            <a:extLst xmlns:a="http://schemas.openxmlformats.org/drawingml/2006/main">
              <a:ext uri="{FF2B5EF4-FFF2-40B4-BE49-F238E27FC236}">
                <a16:creationId xmlns:a16="http://schemas.microsoft.com/office/drawing/2014/main" id="{1B71752B-8D13-4DCE-BB32-1BE384411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5181600"/>
            <a:ext cx="2095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核对结果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约束经历</a:t>
            </a:r>
          </a:p>
        </p:txBody>
      </p:sp>
    </p:spTree>
    <p:extLst>
      <p:ext uri="{BB962C8B-B14F-4D97-AF65-F5344CB8AC3E}">
        <p14:creationId xmlns:p14="http://schemas.microsoft.com/office/powerpoint/2010/main" val="1810642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078E25-4AE3-4A98-8EA8-5EC79C20C9D5}"/>
              </a:ext>
            </a:extLst>
          </p:cNvPr>
          <p:cNvCxnSpPr>
            <a:stCxn xmlns:a="http://schemas.openxmlformats.org/drawingml/2006/main" id="10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8620125" y="2995613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6ADA89-6AB5-4B05-83BF-E693CFF308CF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886450" y="2995613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01BBD0-C4A6-4E6C-9EF5-BA2691E649E6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152775" y="2995613"/>
            <a:ext cx="285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367B72"/>
            </a:solidFill>
            <a:tailEnd type="triangle" w="sm" len="sm"/>
          </a:ln>
        </p:spPr>
      </p:cxnSp>
      <p:sp>
        <p:nvSpPr>
          <p:cNvPr id="2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5FD280A-4476-4729-B4E4-DF62ECA3E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遇到困难，探索也要记住事实与边界</a:t>
            </a:r>
          </a:p>
        </p:txBody>
      </p:sp>
      <p:sp>
        <p:nvSpPr>
          <p:cNvPr id="2" name="text-259">
            <a:extLst xmlns:a="http://schemas.openxmlformats.org/drawingml/2006/main">
              <a:ext uri="{FF2B5EF4-FFF2-40B4-BE49-F238E27FC236}">
                <a16:creationId xmlns:a16="http://schemas.microsoft.com/office/drawing/2014/main" id="{D5764652-3DF1-41A2-B5F8-BFDECE78B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打开失败可以成为下一步尝试的输入，不能靠“说成功了”跨过去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73C26EB-A2FB-47FB-B924-A15EA01C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D73334-0C60-41DE-8744-9CA2FD458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2447925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5" name="text-261">
            <a:extLst xmlns:a="http://schemas.openxmlformats.org/drawingml/2006/main">
              <a:ext uri="{FF2B5EF4-FFF2-40B4-BE49-F238E27FC236}">
                <a16:creationId xmlns:a16="http://schemas.microsoft.com/office/drawing/2014/main" id="{8EB5D5D9-7F6F-4F8A-98EC-85F4E038D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09825"/>
            <a:ext cx="2105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链接打不开</a:t>
            </a:r>
          </a:p>
        </p:txBody>
      </p:sp>
      <p:sp>
        <p:nvSpPr>
          <p:cNvPr id="6" name="text-262">
            <a:extLst xmlns:a="http://schemas.openxmlformats.org/drawingml/2006/main">
              <a:ext uri="{FF2B5EF4-FFF2-40B4-BE49-F238E27FC236}">
                <a16:creationId xmlns:a16="http://schemas.microsoft.com/office/drawing/2014/main" id="{89D6CAF8-3B8D-4F35-9959-E414630A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21050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保留失败与可见范围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2848BE-0372-4C6A-9F54-2EDEE478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266950"/>
            <a:ext cx="2447925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8" name="text-263">
            <a:extLst xmlns:a="http://schemas.openxmlformats.org/drawingml/2006/main">
              <a:ext uri="{FF2B5EF4-FFF2-40B4-BE49-F238E27FC236}">
                <a16:creationId xmlns:a16="http://schemas.microsoft.com/office/drawing/2014/main" id="{82EBF6C9-FDB4-413E-8A7C-3E18AA3A3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409825"/>
            <a:ext cx="2105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尝试现有途径</a:t>
            </a:r>
          </a:p>
        </p:txBody>
      </p:sp>
      <p:sp>
        <p:nvSpPr>
          <p:cNvPr id="9" name="text-264">
            <a:extLst xmlns:a="http://schemas.openxmlformats.org/drawingml/2006/main">
              <a:ext uri="{FF2B5EF4-FFF2-40B4-BE49-F238E27FC236}">
                <a16:creationId xmlns:a16="http://schemas.microsoft.com/office/drawing/2014/main" id="{31663850-1ED8-40F8-B6FB-5393B9B8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2876550"/>
            <a:ext cx="21050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HTTP / 浏览器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受限编排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E07A9C-CC05-47AE-9378-A813ED188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66950"/>
            <a:ext cx="2447925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11" name="text-265">
            <a:extLst xmlns:a="http://schemas.openxmlformats.org/drawingml/2006/main">
              <a:ext uri="{FF2B5EF4-FFF2-40B4-BE49-F238E27FC236}">
                <a16:creationId xmlns:a16="http://schemas.microsoft.com/office/drawing/2014/main" id="{7F94C48A-FDDA-4904-8A19-1BA1ABF93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09825"/>
            <a:ext cx="2105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宿主验证</a:t>
            </a:r>
          </a:p>
        </p:txBody>
      </p:sp>
      <p:sp>
        <p:nvSpPr>
          <p:cNvPr id="12" name="text-266">
            <a:extLst xmlns:a="http://schemas.openxmlformats.org/drawingml/2006/main">
              <a:ext uri="{FF2B5EF4-FFF2-40B4-BE49-F238E27FC236}">
                <a16:creationId xmlns:a16="http://schemas.microsoft.com/office/drawing/2014/main" id="{4DBE7A6E-54AF-45D4-A9FD-17D80A06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76550"/>
            <a:ext cx="21050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候选不自行授予权限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0BD7DE-2373-47FA-A74D-1B6901B5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266950"/>
            <a:ext cx="2447925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367B72"/>
            </a:solidFill>
          </a:ln>
        </p:spPr>
      </p:sp>
      <p:sp>
        <p:nvSpPr>
          <p:cNvPr id="14" name="text-267">
            <a:extLst xmlns:a="http://schemas.openxmlformats.org/drawingml/2006/main">
              <a:ext uri="{FF2B5EF4-FFF2-40B4-BE49-F238E27FC236}">
                <a16:creationId xmlns:a16="http://schemas.microsoft.com/office/drawing/2014/main" id="{3F4D2EF9-30B7-45CD-B4C8-931A2F53A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409825"/>
            <a:ext cx="21050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获得真实材料</a:t>
            </a:r>
          </a:p>
        </p:txBody>
      </p:sp>
      <p:sp>
        <p:nvSpPr>
          <p:cNvPr id="15" name="text-268">
            <a:extLst xmlns:a="http://schemas.openxmlformats.org/drawingml/2006/main">
              <a:ext uri="{FF2B5EF4-FFF2-40B4-BE49-F238E27FC236}">
                <a16:creationId xmlns:a16="http://schemas.microsoft.com/office/drawing/2014/main" id="{23FFFCAC-60BC-4A54-8C33-58C998C95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876550"/>
            <a:ext cx="2105025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更新范围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再决定怎么用</a:t>
            </a:r>
          </a:p>
        </p:txBody>
      </p:sp>
      <p:sp>
        <p:nvSpPr>
          <p:cNvPr id="19" name="text-269">
            <a:extLst xmlns:a="http://schemas.openxmlformats.org/drawingml/2006/main">
              <a:ext uri="{FF2B5EF4-FFF2-40B4-BE49-F238E27FC236}">
                <a16:creationId xmlns:a16="http://schemas.microsoft.com/office/drawing/2014/main" id="{07E2792C-1CF5-444F-A277-9BEBAE0D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4767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625" b="0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625" b="0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创造能力服务于生活，权限与保密隔离由系统承担。</a:t>
            </a:r>
          </a:p>
        </p:txBody>
      </p:sp>
      <p:sp>
        <p:nvSpPr>
          <p:cNvPr id="20" name="text-270">
            <a:extLst xmlns:a="http://schemas.openxmlformats.org/drawingml/2006/main">
              <a:ext uri="{FF2B5EF4-FFF2-40B4-BE49-F238E27FC236}">
                <a16:creationId xmlns:a16="http://schemas.microsoft.com/office/drawing/2014/main" id="{5EF6F5C3-4A07-49DF-B4FF-968D34628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286375"/>
            <a:ext cx="1047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当前会话能力版本冻结；自动接入限现有白名单只读编排。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任意代码、安装、提权与社交写操作，不由候选自行放行。</a:t>
            </a:r>
          </a:p>
        </p:txBody>
      </p:sp>
    </p:spTree>
    <p:extLst>
      <p:ext uri="{BB962C8B-B14F-4D97-AF65-F5344CB8AC3E}">
        <p14:creationId xmlns:p14="http://schemas.microsoft.com/office/powerpoint/2010/main" val="1718380818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A631F02-9BCD-43BE-A3E3-AE348E91E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作为 DSH 插件，接入你自己的环境</a:t>
            </a:r>
          </a:p>
        </p:txBody>
      </p:sp>
      <p:sp>
        <p:nvSpPr>
          <p:cNvPr id="2" name="text-272">
            <a:extLst xmlns:a="http://schemas.openxmlformats.org/drawingml/2006/main">
              <a:ext uri="{FF2B5EF4-FFF2-40B4-BE49-F238E27FC236}">
                <a16:creationId xmlns:a16="http://schemas.microsoft.com/office/drawing/2014/main" id="{A782A03B-9D29-4CAD-8FD0-0051538FD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能力、账号就绪与实测成功分开核对；详细步骤见安装和使用文档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A7CA27-66E2-4EA6-BD78-797C20B47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  <p:sp>
        <p:nvSpPr>
          <p:cNvPr id="4" name="text-274">
            <a:extLst xmlns:a="http://schemas.openxmlformats.org/drawingml/2006/main">
              <a:ext uri="{FF2B5EF4-FFF2-40B4-BE49-F238E27FC236}">
                <a16:creationId xmlns:a16="http://schemas.microsoft.com/office/drawing/2014/main" id="{E20F01B4-FE88-4627-9938-8719CC20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9775"/>
            <a:ext cx="533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400" b="1">
                <a:solidFill>
                  <a:srgbClr val="367B72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367B72"/>
                </a:solidFill>
                <a:latin typeface="DengXian"/>
                <a:ea typeface="DengXian"/>
                <a:cs typeface="DengXian"/>
              </a:rPr>
              <a:t>从最小链路开始</a:t>
            </a:r>
          </a:p>
        </p:txBody>
      </p:sp>
      <p:sp>
        <p:nvSpPr>
          <p:cNvPr id="5" name="text-275">
            <a:extLst xmlns:a="http://schemas.openxmlformats.org/drawingml/2006/main">
              <a:ext uri="{FF2B5EF4-FFF2-40B4-BE49-F238E27FC236}">
                <a16:creationId xmlns:a16="http://schemas.microsoft.com/office/drawing/2014/main" id="{5A615E68-01FA-4161-916E-CE0FA667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752725"/>
            <a:ext cx="5753100" cy="213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01  解包，运行统一启动入口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02  首次配置模型或已获许可网关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03  选择通道，完成账号登录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04  核对实际回复与动作回执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D44BB2-06BC-433A-9531-4AF8F22323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11c04a307b4646"/>
          <a:stretch xmlns:a="http://schemas.openxmlformats.org/drawingml/2006/main"/>
        </p:blipFill>
        <p:spPr>
          <a:xfrm xmlns:a="http://schemas.openxmlformats.org/drawingml/2006/main">
            <a:off x="7077075" y="2756527"/>
            <a:ext cx="4391025" cy="601995"/>
          </a:xfrm>
          <a:prstGeom xmlns:a="http://schemas.openxmlformats.org/drawingml/2006/main" prst="rect">
            <a:avLst/>
          </a:prstGeom>
        </p:spPr>
      </p:pic>
      <p:sp>
        <p:nvSpPr>
          <p:cNvPr id="7" name="text-276">
            <a:extLst xmlns:a="http://schemas.openxmlformats.org/drawingml/2006/main">
              <a:ext uri="{FF2B5EF4-FFF2-40B4-BE49-F238E27FC236}">
                <a16:creationId xmlns:a16="http://schemas.microsoft.com/office/drawing/2014/main" id="{953A16E8-DD47-43E4-B4E2-BB7B75A82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952875"/>
            <a:ext cx="43624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真实字幕控件 · 合成文字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可调透明度、大小与位置</a:t>
            </a:r>
          </a:p>
        </p:txBody>
      </p:sp>
      <p:sp>
        <p:nvSpPr>
          <p:cNvPr id="8" name="text-277">
            <a:extLst xmlns:a="http://schemas.openxmlformats.org/drawingml/2006/main">
              <a:ext uri="{FF2B5EF4-FFF2-40B4-BE49-F238E27FC236}">
                <a16:creationId xmlns:a16="http://schemas.microsoft.com/office/drawing/2014/main" id="{D1B22FC2-C31F-4429-AC29-EEA0F8C91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791075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rPr>
              <a:t>Ctrl + Alt + Space</a:t>
            </a:r>
          </a:p>
        </p:txBody>
      </p:sp>
      <p:sp>
        <p:nvSpPr>
          <p:cNvPr id="9" name="text-278">
            <a:extLst xmlns:a="http://schemas.openxmlformats.org/drawingml/2006/main">
              <a:ext uri="{FF2B5EF4-FFF2-40B4-BE49-F238E27FC236}">
                <a16:creationId xmlns:a16="http://schemas.microsoft.com/office/drawing/2014/main" id="{4B88C45D-9C44-4887-B2FA-A69951AE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305425"/>
            <a:ext cx="4362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快捷语音与可调透明字幕小窗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都接回同一个肥鱼</a:t>
            </a:r>
          </a:p>
        </p:txBody>
      </p:sp>
      <p:sp>
        <p:nvSpPr>
          <p:cNvPr id="10" name="text-279">
            <a:extLst xmlns:a="http://schemas.openxmlformats.org/drawingml/2006/main">
              <a:ext uri="{FF2B5EF4-FFF2-40B4-BE49-F238E27FC236}">
                <a16:creationId xmlns:a16="http://schemas.microsoft.com/office/drawing/2014/main" id="{66DB9546-5395-4B87-A4DA-37C68078D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86475"/>
            <a:ext cx="1038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首次配置后复用档案与设置。字幕截图来自离屏渲染，不代替真实设备验收。</a:t>
            </a:r>
          </a:p>
        </p:txBody>
      </p:sp>
    </p:spTree>
    <p:extLst>
      <p:ext uri="{BB962C8B-B14F-4D97-AF65-F5344CB8AC3E}">
        <p14:creationId xmlns:p14="http://schemas.microsoft.com/office/powerpoint/2010/main" val="110274977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2F7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2945ADE-A1C7-4C3F-89E6-0F6D11A73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672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30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30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把已实现、已观察和待研究分开</a:t>
            </a:r>
          </a:p>
        </p:txBody>
      </p:sp>
      <p:sp>
        <p:nvSpPr>
          <p:cNvPr id="2" name="text-281">
            <a:extLst xmlns:a="http://schemas.openxmlformats.org/drawingml/2006/main">
              <a:ext uri="{FF2B5EF4-FFF2-40B4-BE49-F238E27FC236}">
                <a16:creationId xmlns:a16="http://schemas.microsoft.com/office/drawing/2014/main" id="{AA5C0BB9-AB26-4DB7-9984-8D578870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28725"/>
            <a:ext cx="10801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一次受控成功值得保留，也需要知道它能证明到哪里</a:t>
            </a:r>
          </a:p>
        </p:txBody>
      </p:sp>
      <p:sp>
        <p:nvSpPr>
          <p:cNvPr id="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06869F8-2C0D-4817-855F-9F287FC5A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5675" y="6400800"/>
            <a:ext cx="4000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r"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r">
              <a:lnSpc>
                <a:spcPct val="113000"/>
              </a:lnSpc>
              <a:buNone/>
              <a:def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E3F075-B083-473D-9322-7AAB9723535E}"/>
              </a:ext>
            </a:extLst>
          </p:cNvPr>
          <p:cNvGraphicFramePr/>
          <p:nvPr/>
        </p:nvGraphicFramePr>
        <p:xfrm>
          <a:off xmlns:a="http://schemas.openxmlformats.org/drawingml/2006/main" x="704850" y="2057400"/>
          <a:ext xmlns:a="http://schemas.openxmlformats.org/drawingml/2006/main" cx="10782300" cy="33909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133600"/>
                <a:gridCol w="4514850"/>
                <a:gridCol w="4133850"/>
              </a:tblGrid>
              <a:tr h="67818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层次</a:t>
                      </a:r>
                    </a:p>
                  </a:txBody>
                  <a:tcPr marL="133350" marR="133350" marT="104775" marB="95250" anchor="ctr">
                    <a:lnL w="9525">
                      <a:solidFill>
                        <a:srgbClr val="C9DCDF"/>
                      </a:solidFill>
                      <a:prstDash val="solid"/>
                    </a:lnL>
                    <a:lnR w="9525">
                      <a:solidFill>
                        <a:srgbClr val="C9DCDF"/>
                      </a:solidFill>
                      <a:prstDash val="solid"/>
                    </a:lnR>
                    <a:lnT w="9525">
                      <a:solidFill>
                        <a:srgbClr val="C9DCDF"/>
                      </a:solidFill>
                      <a:prstDash val="solid"/>
                    </a:lnT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367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当前证据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T w="9525">
                      <a:solidFill>
                        <a:srgbClr val="C9DCDF"/>
                      </a:solidFill>
                      <a:prstDash val="solid"/>
                    </a:lnT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367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仍需继续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T w="9525">
                      <a:solidFill>
                        <a:srgbClr val="C9DCDF"/>
                      </a:solidFill>
                      <a:prstDash val="solid"/>
                    </a:lnT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367B72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架构已实现</a:t>
                      </a:r>
                    </a:p>
                  </a:txBody>
                  <a:tcPr marL="133350" marR="133350" marT="104775" marB="95250" anchor="ctr">
                    <a:lnL w="9525">
                      <a:solidFill>
                        <a:srgbClr val="C9DCDF"/>
                      </a:solidFill>
                      <a:prstDash val="solid"/>
                    </a:lnL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持久档案、来源与版本、情境召回、分层意图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长期整理与语义近重复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受控已观察</a:t>
                      </a:r>
                    </a:p>
                  </a:txBody>
                  <a:tcPr marL="133350" marR="133350" marT="104775" marB="95250" anchor="ctr">
                    <a:lnL w="9525">
                      <a:solidFill>
                        <a:srgbClr val="C9DCDF"/>
                      </a:solidFill>
                      <a:prstDash val="solid"/>
                    </a:lnL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兴趣形成、复杂态度、故事联想后主动分享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多模型、多用户、长期重复评测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行动有边界</a:t>
                      </a:r>
                    </a:p>
                  </a:txBody>
                  <a:tcPr marL="133350" marR="133350" marT="104775" marB="95250" anchor="ctr">
                    <a:lnL w="9525">
                      <a:solidFill>
                        <a:srgbClr val="C9DCDF"/>
                      </a:solidFill>
                      <a:prstDash val="solid"/>
                    </a:lnL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真实提交/回执、未知结果、受限恢复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更多账号与设备的原生全链路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  <a:tr h="67818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研究方向</a:t>
                      </a:r>
                    </a:p>
                  </a:txBody>
                  <a:tcPr marL="133350" marR="133350" marT="104775" marB="95250" anchor="ctr">
                    <a:lnL w="9525">
                      <a:solidFill>
                        <a:srgbClr val="C9DCDF"/>
                      </a:solidFill>
                      <a:prstDash val="solid"/>
                    </a:lnL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可复现的数据与历史实验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73B46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自生长分层记忆图、召回算法消融</a:t>
                      </a:r>
                    </a:p>
                  </a:txBody>
                  <a:tcPr marL="133350" marR="133350" marT="104775" marB="95250" anchor="ctr">
                    <a:lnR w="9525">
                      <a:solidFill>
                        <a:srgbClr val="C9DCDF"/>
                      </a:solidFill>
                      <a:prstDash val="solid"/>
                    </a:lnR>
                    <a:lnB w="9525">
                      <a:solidFill>
                        <a:srgbClr val="C9DCDF"/>
                      </a:solidFill>
                      <a:prstDash val="solid"/>
                    </a:lnB>
                    <a:solidFill>
                      <a:srgbClr val="F2F7F8"/>
                    </a:solidFill>
                  </a:tcPr>
                </a:tc>
              </a:tr>
            </a:tbl>
          </a:graphicData>
        </a:graphic>
      </p:graphicFrame>
      <p:sp>
        <p:nvSpPr>
          <p:cNvPr id="5" name="text-283">
            <a:extLst xmlns:a="http://schemas.openxmlformats.org/drawingml/2006/main">
              <a:ext uri="{FF2B5EF4-FFF2-40B4-BE49-F238E27FC236}">
                <a16:creationId xmlns:a16="http://schemas.microsoft.com/office/drawing/2014/main" id="{44ADFBA6-6680-4374-82D4-0BE6E5CB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86475"/>
            <a:ext cx="10382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“像个人”是连续行为与认识边界的研究目标；不据此宣称意识、稳定爱情或所有平台可用。</a:t>
            </a:r>
          </a:p>
        </p:txBody>
      </p:sp>
    </p:spTree>
    <p:extLst>
      <p:ext uri="{BB962C8B-B14F-4D97-AF65-F5344CB8AC3E}">
        <p14:creationId xmlns:p14="http://schemas.microsoft.com/office/powerpoint/2010/main" val="126036578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51370-A7C3-4405-AB66-27F6E37C9A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fb97ffc7ee4f0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ext-284">
            <a:extLst xmlns:a="http://schemas.openxmlformats.org/drawingml/2006/main">
              <a:ext uri="{FF2B5EF4-FFF2-40B4-BE49-F238E27FC236}">
                <a16:creationId xmlns:a16="http://schemas.microsoft.com/office/drawing/2014/main" id="{29877834-6B49-4D3D-8296-5501CA3D5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162050"/>
            <a:ext cx="104013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75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75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75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75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75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75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75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75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75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75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375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75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让每一次真实经历，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3750" b="1">
                <a:solidFill>
                  <a:srgbClr val="173B46"/>
                </a:solidFill>
                <a:latin typeface="DengXian"/>
                <a:ea typeface="DengXian"/>
                <a:cs typeface="DengXian"/>
              </a:defRPr>
            </a:pPr>
            <a:r>
              <a:rPr sz="3750" b="1">
                <a:solidFill>
                  <a:srgbClr val="173B46"/>
                </a:solidFill>
                <a:latin typeface="DengXian"/>
                <a:ea typeface="DengXian"/>
                <a:cs typeface="DengXian"/>
              </a:rPr>
              <a:t>都有机会成为她的一部分。</a:t>
            </a:r>
          </a:p>
        </p:txBody>
      </p:sp>
      <p:sp>
        <p:nvSpPr>
          <p:cNvPr id="3" name="text-285">
            <a:extLst xmlns:a="http://schemas.openxmlformats.org/drawingml/2006/main">
              <a:ext uri="{FF2B5EF4-FFF2-40B4-BE49-F238E27FC236}">
                <a16:creationId xmlns:a16="http://schemas.microsoft.com/office/drawing/2014/main" id="{FD918D30-204A-48F9-BCCC-C55ABA774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3390900"/>
            <a:ext cx="10096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0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475" b="0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475" b="0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475" b="0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475" b="0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475" b="0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475" b="0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475" b="0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475" b="0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475" b="0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475" b="0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rPr>
              <a:t>有自己的好奇，也有珍惜的人。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2475" b="0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75" b="0">
                <a:solidFill>
                  <a:srgbClr val="367B72"/>
                </a:solidFill>
                <a:latin typeface="Microsoft YaHei"/>
                <a:ea typeface="Microsoft YaHei"/>
                <a:cs typeface="Microsoft YaHei"/>
              </a:rPr>
              <a:t>记得来处，允许变化，仍然回应眼前的世界。</a:t>
            </a:r>
          </a:p>
        </p:txBody>
      </p:sp>
      <p:sp>
        <p:nvSpPr>
          <p:cNvPr id="4" name="text-286">
            <a:extLst xmlns:a="http://schemas.openxmlformats.org/drawingml/2006/main">
              <a:ext uri="{FF2B5EF4-FFF2-40B4-BE49-F238E27FC236}">
                <a16:creationId xmlns:a16="http://schemas.microsoft.com/office/drawing/2014/main" id="{4223D76C-BB97-4D30-BDF2-2F61084F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43525"/>
            <a:ext cx="9810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2100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2100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2100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2100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2100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2100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2100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2100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2100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2100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3B46"/>
                </a:solidFill>
                <a:latin typeface="Microsoft YaHei"/>
                <a:ea typeface="Microsoft YaHei"/>
                <a:cs typeface="Microsoft YaHei"/>
              </a:rPr>
              <a:t>开源：ds-life-and-soul</a:t>
            </a:r>
          </a:p>
        </p:txBody>
      </p:sp>
      <p:sp>
        <p:nvSpPr>
          <p:cNvPr id="5" name="text-287">
            <a:extLst xmlns:a="http://schemas.openxmlformats.org/drawingml/2006/main">
              <a:ext uri="{FF2B5EF4-FFF2-40B4-BE49-F238E27FC236}">
                <a16:creationId xmlns:a16="http://schemas.microsoft.com/office/drawing/2014/main" id="{7E6C20A7-F4A8-4804-A9D7-7671F9B52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95975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defPPr>
            <a:lvl1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1pPr>
            <a:lvl2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2pPr>
            <a:lvl3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3pPr>
            <a:lvl4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4pPr>
            <a:lvl5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5pPr>
            <a:lvl6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6pPr>
            <a:lvl7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7pPr>
            <a:lvl8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8pPr>
            <a:lvl9pPr algn="l"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lvl9pPr>
          </a:lstStyle>
          <a:p xmlns:a="http://schemas.openxmlformats.org/drawingml/2006/main">
            <a:pPr algn="l">
              <a:lnSpc>
                <a:spcPct val="113000"/>
              </a:lnSpc>
              <a:buNone/>
              <a:def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49656E"/>
                </a:solidFill>
                <a:latin typeface="Microsoft YaHei"/>
                <a:ea typeface="Microsoft YaHei"/>
                <a:cs typeface="Microsoft YaHei"/>
              </a:rPr>
              <a:t>github.com/lujingshi1978-glitch/ds-life-and-soul</a:t>
            </a:r>
          </a:p>
        </p:txBody>
      </p:sp>
    </p:spTree>
    <p:extLst>
      <p:ext uri="{BB962C8B-B14F-4D97-AF65-F5344CB8AC3E}">
        <p14:creationId xmlns:p14="http://schemas.microsoft.com/office/powerpoint/2010/main" val="1224600708"/>
      </p:ext>
    </p:extLst>
  </p:cSld>
</p:sld>
</file>

<file path=ppt/theme/theme1.xml><?xml version="1.0" encoding="utf-8"?>
<a:theme xmlns:a="http://schemas.openxmlformats.org/drawingml/2006/main" name="ChatGPT">
  <a:themeElements>
    <a:clrScheme name="Feiyu Tide">
      <a:dk1>
        <a:srgbClr val="000000"/>
      </a:dk1>
      <a:lt1>
        <a:srgbClr val="FFFFFF"/>
      </a:lt1>
      <a:dk2>
        <a:srgbClr val="173B46"/>
      </a:dk2>
      <a:lt2>
        <a:srgbClr val="E3EDEC"/>
      </a:lt2>
      <a:accent1>
        <a:srgbClr val="367B72"/>
      </a:accent1>
      <a:accent2>
        <a:srgbClr val="173B46"/>
      </a:accent2>
      <a:accent3>
        <a:srgbClr val="7DA6A1"/>
      </a:accent3>
      <a:accent4>
        <a:srgbClr val="946949"/>
      </a:accent4>
      <a:accent5>
        <a:srgbClr val="7D8EAE"/>
      </a:accent5>
      <a:accent6>
        <a:srgbClr val="A9BDA5"/>
      </a:accent6>
      <a:hlink>
        <a:srgbClr val="367B72"/>
      </a:hlink>
      <a:folHlink>
        <a:srgbClr val="367B72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Feiyu Tid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Feiyu Contributors</dc:creator>
  <lastModifiedBy>Feiyu Contributors</lastModifiedBy>
  <dc:title>Presentation</dc:title>
  <dcterms:created xsi:type="dcterms:W3CDTF">2026-10-29T05:16:54.7720000Z</dcterms:created>
  <dcterms:modified xsi:type="dcterms:W3CDTF">2026-10-29T05:16:54.7720000Z</dcterms:modified>
</coreProperties>
</file>