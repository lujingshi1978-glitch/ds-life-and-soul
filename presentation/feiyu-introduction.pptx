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5dcb41649641e5" /><Relationship Type="http://schemas.openxmlformats.org/officeDocument/2006/relationships/extended-properties" Target="/docProps/app.xml" Id="R99712a27a84048b6" /><Relationship Type="http://schemas.openxmlformats.org/officeDocument/2006/relationships/officeDocument" Target="/ppt/presentation.xml" Id="R45ad4664340043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c06ca0f32943d5"/>
  </p:sldMasterIdLst>
  <p:notesMasterIdLst>
    <p:notesMasterId xmlns:r="http://schemas.openxmlformats.org/officeDocument/2006/relationships" r:id="R2d60e7baa7a14856"/>
  </p:notesMasterIdLst>
  <p:sldIdLst>
    <p:sldId xmlns:r="http://schemas.openxmlformats.org/officeDocument/2006/relationships" id="256" r:id="Rdba9d9ed13c542de"/>
    <p:sldId xmlns:r="http://schemas.openxmlformats.org/officeDocument/2006/relationships" id="257" r:id="R4bd3220986534881"/>
    <p:sldId xmlns:r="http://schemas.openxmlformats.org/officeDocument/2006/relationships" id="258" r:id="R3f79e3ae035b4749"/>
    <p:sldId xmlns:r="http://schemas.openxmlformats.org/officeDocument/2006/relationships" id="259" r:id="R20482f845ac84cb7"/>
    <p:sldId xmlns:r="http://schemas.openxmlformats.org/officeDocument/2006/relationships" id="260" r:id="Rc8d117d1083544d8"/>
    <p:sldId xmlns:r="http://schemas.openxmlformats.org/officeDocument/2006/relationships" id="261" r:id="Rf564fdbfa0754026"/>
    <p:sldId xmlns:r="http://schemas.openxmlformats.org/officeDocument/2006/relationships" id="262" r:id="R908afec516d24a60"/>
    <p:sldId xmlns:r="http://schemas.openxmlformats.org/officeDocument/2006/relationships" id="263" r:id="Rcfce23a4fd6a4c89"/>
    <p:sldId xmlns:r="http://schemas.openxmlformats.org/officeDocument/2006/relationships" id="264" r:id="R0f17571e6c75487e"/>
    <p:sldId xmlns:r="http://schemas.openxmlformats.org/officeDocument/2006/relationships" id="265" r:id="R7bc8d420d6f44223"/>
    <p:sldId xmlns:r="http://schemas.openxmlformats.org/officeDocument/2006/relationships" id="266" r:id="R1cba05d33ea74828"/>
    <p:sldId xmlns:r="http://schemas.openxmlformats.org/officeDocument/2006/relationships" id="267" r:id="R5f30944eea724c36"/>
    <p:sldId xmlns:r="http://schemas.openxmlformats.org/officeDocument/2006/relationships" id="268" r:id="R06e1761f293a4946"/>
    <p:sldId xmlns:r="http://schemas.openxmlformats.org/officeDocument/2006/relationships" id="269" r:id="R8633525f14ae44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a36690fbbe4af4" /><Relationship Type="http://schemas.openxmlformats.org/officeDocument/2006/relationships/slideMaster" Target="/ppt/slideMasters/slideMaster1.xml" Id="Re4c06ca0f32943d5" /><Relationship Type="http://schemas.openxmlformats.org/officeDocument/2006/relationships/notesMaster" Target="/ppt/notesMasters/notesMaster1.xml" Id="R2d60e7baa7a14856" /><Relationship Type="http://schemas.openxmlformats.org/officeDocument/2006/relationships/presProps" Target="/ppt/presProps.xml" Id="R618d74f632234ff2" /><Relationship Type="http://schemas.openxmlformats.org/officeDocument/2006/relationships/tableStyles" Target="/ppt/tableStyles.xml" Id="Raa905e0a84904051" /><Relationship Type="http://schemas.openxmlformats.org/officeDocument/2006/relationships/slide" Target="/ppt/slides/slide1.xml" Id="Rdba9d9ed13c542de" /><Relationship Type="http://schemas.openxmlformats.org/officeDocument/2006/relationships/slide" Target="/ppt/slides/slide2.xml" Id="R4bd3220986534881" /><Relationship Type="http://schemas.openxmlformats.org/officeDocument/2006/relationships/slide" Target="/ppt/slides/slide3.xml" Id="R3f79e3ae035b4749" /><Relationship Type="http://schemas.openxmlformats.org/officeDocument/2006/relationships/slide" Target="/ppt/slides/slide4.xml" Id="R20482f845ac84cb7" /><Relationship Type="http://schemas.openxmlformats.org/officeDocument/2006/relationships/slide" Target="/ppt/slides/slide5.xml" Id="Rc8d117d1083544d8" /><Relationship Type="http://schemas.openxmlformats.org/officeDocument/2006/relationships/slide" Target="/ppt/slides/slide6.xml" Id="Rf564fdbfa0754026" /><Relationship Type="http://schemas.openxmlformats.org/officeDocument/2006/relationships/slide" Target="/ppt/slides/slide7.xml" Id="R908afec516d24a60" /><Relationship Type="http://schemas.openxmlformats.org/officeDocument/2006/relationships/slide" Target="/ppt/slides/slide8.xml" Id="Rcfce23a4fd6a4c89" /><Relationship Type="http://schemas.openxmlformats.org/officeDocument/2006/relationships/slide" Target="/ppt/slides/slide9.xml" Id="R0f17571e6c75487e" /><Relationship Type="http://schemas.openxmlformats.org/officeDocument/2006/relationships/slide" Target="/ppt/slides/slide10.xml" Id="R7bc8d420d6f44223" /><Relationship Type="http://schemas.openxmlformats.org/officeDocument/2006/relationships/slide" Target="/ppt/slides/slide11.xml" Id="R1cba05d33ea74828" /><Relationship Type="http://schemas.openxmlformats.org/officeDocument/2006/relationships/slide" Target="/ppt/slides/slide12.xml" Id="R5f30944eea724c36" /><Relationship Type="http://schemas.openxmlformats.org/officeDocument/2006/relationships/slide" Target="/ppt/slides/slide13.xml" Id="R06e1761f293a4946" /><Relationship Type="http://schemas.openxmlformats.org/officeDocument/2006/relationships/slide" Target="/ppt/slides/slide14.xml" Id="R8633525f14ae44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ae8a26f30a42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Feiyu Tide">
      <a:dk1>
        <a:srgbClr val="000000"/>
      </a:dk1>
      <a:lt1>
        <a:srgbClr val="FFFFFF"/>
      </a:lt1>
      <a:dk2>
        <a:srgbClr val="173B46"/>
      </a:dk2>
      <a:lt2>
        <a:srgbClr val="E3EDEC"/>
      </a:lt2>
      <a:accent1>
        <a:srgbClr val="367B72"/>
      </a:accent1>
      <a:accent2>
        <a:srgbClr val="173B46"/>
      </a:accent2>
      <a:accent3>
        <a:srgbClr val="7DA6A1"/>
      </a:accent3>
      <a:accent4>
        <a:srgbClr val="AD8A62"/>
      </a:accent4>
      <a:accent5>
        <a:srgbClr val="7D8EAE"/>
      </a:accent5>
      <a:accent6>
        <a:srgbClr val="A9BDA5"/>
      </a:accent6>
      <a:hlink>
        <a:srgbClr val="367B72"/>
      </a:hlink>
      <a:folHlink>
        <a:srgbClr val="367B72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Feiyu Tid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73aa893a69461a" /><Relationship Type="http://schemas.openxmlformats.org/officeDocument/2006/relationships/notesMaster" Target="/ppt/notesMasters/notesMaster1.xml" Id="Rdf3b2a57bea843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5f2c51348544c8" /><Relationship Type="http://schemas.openxmlformats.org/officeDocument/2006/relationships/notesMaster" Target="/ppt/notesMasters/notesMaster1.xml" Id="Re52c973601c345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f0704758b544fd" /><Relationship Type="http://schemas.openxmlformats.org/officeDocument/2006/relationships/notesMaster" Target="/ppt/notesMasters/notesMaster1.xml" Id="R50252f06383244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7d9e4df14b4c2c" /><Relationship Type="http://schemas.openxmlformats.org/officeDocument/2006/relationships/notesMaster" Target="/ppt/notesMasters/notesMaster1.xml" Id="Ra4a19029fa2345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02acd1ec0c4b50" /><Relationship Type="http://schemas.openxmlformats.org/officeDocument/2006/relationships/notesMaster" Target="/ppt/notesMasters/notesMaster1.xml" Id="R9211ed09b1064c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a8ee6b79d64e63" /><Relationship Type="http://schemas.openxmlformats.org/officeDocument/2006/relationships/notesMaster" Target="/ppt/notesMasters/notesMaster1.xml" Id="R7bd565b6711e42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8fc523c8f44e29" /><Relationship Type="http://schemas.openxmlformats.org/officeDocument/2006/relationships/notesMaster" Target="/ppt/notesMasters/notesMaster1.xml" Id="R23cdcd6d3bd64e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80008a035745fb" /><Relationship Type="http://schemas.openxmlformats.org/officeDocument/2006/relationships/notesMaster" Target="/ppt/notesMasters/notesMaster1.xml" Id="R6f33e2cb731949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6a5b15c1e54373" /><Relationship Type="http://schemas.openxmlformats.org/officeDocument/2006/relationships/notesMaster" Target="/ppt/notesMasters/notesMaster1.xml" Id="Rc240266b6d5e45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c14155b60546fc" /><Relationship Type="http://schemas.openxmlformats.org/officeDocument/2006/relationships/notesMaster" Target="/ppt/notesMasters/notesMaster1.xml" Id="R87377e06ebff433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d02c4c45fb24a51" /><Relationship Type="http://schemas.openxmlformats.org/officeDocument/2006/relationships/notesMaster" Target="/ppt/notesMasters/notesMaster1.xml" Id="R50cd97758beb44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d9cb799ac614527" /><Relationship Type="http://schemas.openxmlformats.org/officeDocument/2006/relationships/notesMaster" Target="/ppt/notesMasters/notesMaster1.xml" Id="R6549cf7ba1a547a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fc2449cd25b4009" /><Relationship Type="http://schemas.openxmlformats.org/officeDocument/2006/relationships/notesMaster" Target="/ppt/notesMasters/notesMaster1.xml" Id="R9840b9b0c6ea4bb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f8a714907cf4932" /><Relationship Type="http://schemas.openxmlformats.org/officeDocument/2006/relationships/notesMaster" Target="/ppt/notesMasters/notesMaster1.xml" Id="Rf555c131ce104c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肥鱼将核心人格、可追溯经历、兴趣与关系接入同一个持续角色。通信只是其活动的一部分。封面为抽象装饰，不代表实际产品界面。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事实来源：</a:t>
            </a:r>
          </a:p>
          <a:p xmlns:a="http://schemas.openxmlformats.org/drawingml/2006/main">
            <a:r>
              <a:t>src/cognition/inner-life.js</a:t>
            </a:r>
          </a:p>
          <a:p xmlns:a="http://schemas.openxmlformats.org/drawingml/2006/main">
            <a:r>
              <a:t>src/cognition/persistent-psyche.js</a:t>
            </a:r>
          </a:p>
          <a:p xmlns:a="http://schemas.openxmlformats.org/drawingml/2006/main">
            <a:r>
              <a:t>examples/ASSET_PROVENANCE.md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这里描述系统的角色连续性与认识边界，不声称证明人类式主观意识。稳定核心与日常可变的兴趣、关系和心理状态分层存储。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事实来源：</a:t>
            </a:r>
          </a:p>
          <a:p xmlns:a="http://schemas.openxmlformats.org/drawingml/2006/main">
            <a:r>
              <a:t>src/cognition/inner-life.js</a:t>
            </a:r>
          </a:p>
          <a:p xmlns:a="http://schemas.openxmlformats.org/drawingml/2006/main">
            <a:r>
              <a:t>src/cognition/current-context.js</a:t>
            </a:r>
          </a:p>
          <a:p xmlns:a="http://schemas.openxmlformats.org/drawingml/2006/main">
            <a:r>
              <a:t>src/cognition/persistent-psyche.js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能力集成、功能开关、账号就绪和实测通过是不同状态。具体站点和媒体链路不能从工具存在推断成功。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事实来源：</a:t>
            </a:r>
          </a:p>
          <a:p xmlns:a="http://schemas.openxmlformats.org/drawingml/2006/main">
            <a:r>
              <a:t>src/app-integrations.js</a:t>
            </a:r>
          </a:p>
          <a:p xmlns:a="http://schemas.openxmlformats.org/drawingml/2006/main">
            <a:r>
              <a:t>src/cognition/inner-life.js</a:t>
            </a:r>
          </a:p>
          <a:p xmlns:a="http://schemas.openxmlformats.org/drawingml/2006/main">
            <a:r>
              <a:t>src/social-platforms.js</a:t>
            </a:r>
          </a:p>
          <a:p xmlns:a="http://schemas.openxmlformats.org/drawingml/2006/main">
            <a:r>
              <a:t>src/delegation-intent.js</a:t>
            </a:r>
          </a:p>
          <a:p xmlns:a="http://schemas.openxmlformats.org/drawingml/2006/main">
            <a:r>
              <a:t>src/behavior-armor.js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五步为合成演示流程，没有使用私人聊天或虚构实测回执。实际链路需真实资料输入、有效引用、目标会话及对应权限；主观兴趣不保证出现，主动发送也不保证被选择。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事实来源：</a:t>
            </a:r>
          </a:p>
          <a:p xmlns:a="http://schemas.openxmlformats.org/drawingml/2006/main">
            <a:r>
              <a:t>examples/cross-source-demo.json</a:t>
            </a:r>
          </a:p>
          <a:p xmlns:a="http://schemas.openxmlformats.org/drawingml/2006/main">
            <a:r>
              <a:t>src/cognition/live.js</a:t>
            </a:r>
          </a:p>
          <a:p xmlns:a="http://schemas.openxmlformats.org/drawingml/2006/main">
            <a:r>
              <a:t>src/cognition/inner-life.js</a:t>
            </a:r>
          </a:p>
          <a:p xmlns:a="http://schemas.openxmlformats.org/drawingml/2006/main">
            <a:r>
              <a:t>src/transport-inbox.js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最新生活台记忆页是全角色跨来源的管理端只读视图。经历感受正文与人物关系依据独立保留；同名人物按实际身份区分。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事实来源：</a:t>
            </a:r>
          </a:p>
          <a:p xmlns:a="http://schemas.openxmlformats.org/drawingml/2006/main">
            <a:r>
              <a:t>src/cognition/v3-recall.js</a:t>
            </a:r>
          </a:p>
          <a:p xmlns:a="http://schemas.openxmlformats.org/drawingml/2006/main">
            <a:r>
              <a:t>src/cognition/v3-resource-index.js</a:t>
            </a:r>
          </a:p>
          <a:p xmlns:a="http://schemas.openxmlformats.org/drawingml/2006/main">
            <a:r>
              <a:t>src/cognition/v3-archive-vectors.js</a:t>
            </a:r>
          </a:p>
          <a:p xmlns:a="http://schemas.openxmlformats.org/drawingml/2006/main">
            <a:r>
              <a:t>feiyu-life-scope-20261028-r1 记忆视图验收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关系与兴趣由证据和版本约束。既有受控验收观察到了复杂态度并存、兴趣延续和语境召回，但样本不构成长期表现稳定性的统计证明。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事实来源：</a:t>
            </a:r>
          </a:p>
          <a:p xmlns:a="http://schemas.openxmlformats.org/drawingml/2006/main">
            <a:r>
              <a:t>src/cognition/inner-life.js</a:t>
            </a:r>
          </a:p>
          <a:p xmlns:a="http://schemas.openxmlformats.org/drawingml/2006/main">
            <a:r>
              <a:t>src/cognition/current-context.js</a:t>
            </a:r>
          </a:p>
          <a:p xmlns:a="http://schemas.openxmlformats.org/drawingml/2006/main">
            <a:r>
              <a:t>feiyu-full-cycle-20261028-r1 受控验收</a:t>
            </a:r>
          </a:p>
          <a:p xmlns:a="http://schemas.openxmlformats.org/drawingml/2006/main">
            <a:r>
              <a:t>feiyu-contextual-interest-20261028-r1 受控验收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空闲活动的具体选择由模型与受限活动机制共同产生。既有受控验收观察到浏览后形成联想并向本地受控接收端分享；不等于所有活动都已由原生模型自由选择并实网执行。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事实来源：</a:t>
            </a:r>
          </a:p>
          <a:p xmlns:a="http://schemas.openxmlformats.org/drawingml/2006/main">
            <a:r>
              <a:t>src/cognition/inner-life.js</a:t>
            </a:r>
          </a:p>
          <a:p xmlns:a="http://schemas.openxmlformats.org/drawingml/2006/main">
            <a:r>
              <a:t>src/cognition/wake-energy.js</a:t>
            </a:r>
          </a:p>
          <a:p xmlns:a="http://schemas.openxmlformats.org/drawingml/2006/main">
            <a:r>
              <a:t>src/energy-policy.js</a:t>
            </a:r>
          </a:p>
          <a:p xmlns:a="http://schemas.openxmlformats.org/drawingml/2006/main">
            <a:r>
              <a:t>src/multi-site-activity.js</a:t>
            </a:r>
          </a:p>
          <a:p xmlns:a="http://schemas.openxmlformats.org/drawingml/2006/main">
            <a:r>
              <a:t>feiyu-full-cycle-20261028-r1 受控验收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本页概述现有权限模型。不得从工具schema存在、平台面板存在或某次登录成功推断所有动作可用。复杂工作、创造与网页交互的实际开关以使用者本机为准。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事实来源：</a:t>
            </a:r>
          </a:p>
          <a:p xmlns:a="http://schemas.openxmlformats.org/drawingml/2006/main">
            <a:r>
              <a:t>src/behavior-armor.js</a:t>
            </a:r>
          </a:p>
          <a:p xmlns:a="http://schemas.openxmlformats.org/drawingml/2006/main">
            <a:r>
              <a:t>src/delegation-intent.js</a:t>
            </a:r>
          </a:p>
          <a:p xmlns:a="http://schemas.openxmlformats.org/drawingml/2006/main">
            <a:r>
              <a:t>src/chat-access.js</a:t>
            </a:r>
          </a:p>
          <a:p xmlns:a="http://schemas.openxmlformats.org/drawingml/2006/main">
            <a:r>
              <a:t>src/friend-authorization.js</a:t>
            </a:r>
          </a:p>
          <a:p xmlns:a="http://schemas.openxmlformats.org/drawingml/2006/main">
            <a:r>
              <a:t>plugins/qq-agent-presets/qq-tool-restrict.mjs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本截图来自 feiyu-life-scope-20261028-r1 的离线合成预览。页面没有呈现真实私人聊天、真实账号凭据或生产记忆数量。截图保留原有全部比例。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事实来源：</a:t>
            </a:r>
          </a:p>
          <a:p xmlns:a="http://schemas.openxmlformats.org/drawingml/2006/main">
            <a:r>
              <a:t>examples/memory-preview-synthetic.png</a:t>
            </a:r>
          </a:p>
          <a:p xmlns:a="http://schemas.openxmlformats.org/drawingml/2006/main">
            <a:r>
              <a:t>feiyu-life-scope-20261028-r1 界面范围验收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DSH 插件包负责分发与挂载现有肥鱼能力。桌面对话入口包括快捷键语音和透明弹幕小窗中的文字对话。语音输入、转写、角色回复和播放各有组件与运行条件，依赖安装或工具存在不能证明真实麦克风链路已经通过。弹幕截图如有展示，则使用合成数据及Qt真实控件离屏渲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事实来源：</a:t>
            </a:r>
          </a:p>
          <a:p xmlns:a="http://schemas.openxmlformats.org/drawingml/2006/main">
            <a:r>
              <a:t>source/release-status.json</a:t>
            </a:r>
          </a:p>
          <a:p xmlns:a="http://schemas.openxmlformats.org/drawingml/2006/main">
            <a:r>
              <a:t>随包安装说明</a:t>
            </a:r>
          </a:p>
          <a:p xmlns:a="http://schemas.openxmlformats.org/drawingml/2006/main">
            <a:r>
              <a:t>examples/ASSET_PROVENANCE.md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详细命令、依赖版本和必要配置见随包安装使用文档。生活台的当前连接状态和每项动作回执决定实际可用性。不要复制他人的配置、令牌、角色数据库或登录态。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事实来源：</a:t>
            </a:r>
          </a:p>
          <a:p xmlns:a="http://schemas.openxmlformats.org/drawingml/2006/main">
            <a:r>
              <a:t>source/release-status.json</a:t>
            </a:r>
          </a:p>
          <a:p xmlns:a="http://schemas.openxmlformats.org/drawingml/2006/main">
            <a:r>
              <a:t>随包安装与使用文档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本页为简化的可编辑系统图，连接线表示主要信息流，不展开全部HTTP、MCP、队列和存储实现。QQ只是来源与通信通道之一，平台适配不会另建独立人格。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事实来源：</a:t>
            </a:r>
          </a:p>
          <a:p xmlns:a="http://schemas.openxmlformats.org/drawingml/2006/main">
            <a:r>
              <a:t>src/bridge.js</a:t>
            </a:r>
          </a:p>
          <a:p xmlns:a="http://schemas.openxmlformats.org/drawingml/2006/main">
            <a:r>
              <a:t>src/cognition/live.js</a:t>
            </a:r>
          </a:p>
          <a:p xmlns:a="http://schemas.openxmlformats.org/drawingml/2006/main">
            <a:r>
              <a:t>src/cognition/service.js</a:t>
            </a:r>
          </a:p>
          <a:p xmlns:a="http://schemas.openxmlformats.org/drawingml/2006/main">
            <a:r>
              <a:t>src/cognition/inner-life.js</a:t>
            </a:r>
          </a:p>
          <a:p xmlns:a="http://schemas.openxmlformats.org/drawingml/2006/main">
            <a:r>
              <a:t>src/app-integrations.js</a:t>
            </a:r>
          </a:p>
          <a:p xmlns:a="http://schemas.openxmlformats.org/drawingml/2006/main">
            <a:r>
              <a:t>plugins/qq-agent-presets/qq-chat-loop.mjs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本次发布在隔离 DSH_HOME 与新 profile 中完成核心真实启动，核验原生插件、bridge 就绪、空记忆、记忆和 companion 鉴权，以及停机清理。该核心核验关闭语音、浏览器与视频，没有模型或外发请求。核心及官方 DSH 依赖在本轮从官方 npm 安装。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语音在独立的新 Python 3.11 虚拟环境真实安装。依赖从经过官方 SHA 校验的公开 wheel 缓存续装，不能概括成全部从零网络下载。固定官方来源的 Whisper-small 四个模型文件完成首次下载及哈希校验，真实模型处理合成一秒静音后返回空 text 与 segments，缺模型时明确失败。客户端 PySide6、numpy 和 sounddevice 真实导入通过。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离线识别与合成静音检查不代表真实麦克风、音频播放或全局热键已经通过。QQ 真实送达、平台账号链和云模型回复仍未验收。第10页截图继续属于合成 WAV、本机 HTTP 夹具及 Qt 真实控件离屏渲染。既有隔离角色模型行为验收与本次发布启动核验属于不同批次，不能合并成同一次完整设备与账号链验收。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事实来源：</a:t>
            </a:r>
          </a:p>
          <a:p xmlns:a="http://schemas.openxmlformats.org/drawingml/2006/main">
            <a:r>
              <a:t>presentation/source/release-status.json</a:t>
            </a:r>
          </a:p>
          <a:p xmlns:a="http://schemas.openxmlformats.org/drawingml/2006/main">
            <a:r>
              <a:t>docs/INSTALLATION.md</a:t>
            </a:r>
          </a:p>
          <a:p xmlns:a="http://schemas.openxmlformats.org/drawingml/2006/main">
            <a:r>
              <a:t>docs/BOUNDARIES.md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贡献者应先阅读随包的安装、功能、边界和第三方说明。代码许可证只覆盖具有明确授权的代码，不会自动授予私人角色文本、第三方素材或上游二进制的再分发权。生成的潮汐背景与合成界面来源见素材清单。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事实来源：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docs/FEATURES.md</a:t>
            </a:r>
          </a:p>
          <a:p xmlns:a="http://schemas.openxmlformats.org/drawingml/2006/main">
            <a:r>
              <a:t>docs/USAGE.md</a:t>
            </a:r>
          </a:p>
          <a:p xmlns:a="http://schemas.openxmlformats.org/drawingml/2006/main">
            <a:r>
              <a:t>docs/BOUNDARIES.md</a:t>
            </a:r>
          </a:p>
          <a:p xmlns:a="http://schemas.openxmlformats.org/drawingml/2006/main">
            <a:r>
              <a:t>examples/ASSET_PROVENANCE.md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6dd09c2c0c464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36cd007d29479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68804c73a74c1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bb3ac648bb481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a1ff0ac7f2414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97d307ffbc49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D66EAE-A73B-4457-A71B-9FBE296148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3F3232E-88F9-4896-B539-15F53A583FF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EE92C0B-6F01-4546-AB16-A70F12907D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5B84ED-BB9B-4B9D-8668-363D892744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87CB45B-D7D7-412B-9058-EFCFFD892F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57B346C-4FB2-485A-89F3-3E3658E5F0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8F46CB9-8101-448E-A234-42EEBED757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F6AAC60-8920-458A-BC5E-18B50D8B555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B14101B-4D2D-4CDB-9486-784A81054A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17E8269-5815-499F-9987-7BA7014DC0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a0a1027dad4c30" /><Relationship Type="http://schemas.openxmlformats.org/officeDocument/2006/relationships/slideLayout" Target="/ppt/slideLayouts/slideLayout1.xml" Id="R44fc78ac6ce54e2c" /><Relationship Type="http://schemas.openxmlformats.org/officeDocument/2006/relationships/slideLayout" Target="/ppt/slideLayouts/slideLayout2.xml" Id="R27a18ba7d20a4449" /><Relationship Type="http://schemas.openxmlformats.org/officeDocument/2006/relationships/slideLayout" Target="/ppt/slideLayouts/slideLayout3.xml" Id="R20b38fd5847d42d6" /><Relationship Type="http://schemas.openxmlformats.org/officeDocument/2006/relationships/slideLayout" Target="/ppt/slideLayouts/slideLayout4.xml" Id="R0288d2df7da84003" /><Relationship Type="http://schemas.openxmlformats.org/officeDocument/2006/relationships/slideLayout" Target="/ppt/slideLayouts/slideLayout5.xml" Id="R0d8410503cdf4642" /><Relationship Type="http://schemas.openxmlformats.org/officeDocument/2006/relationships/slideLayout" Target="/ppt/slideLayouts/slideLayout6.xml" Id="Rc6925297505140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fc78ac6ce54e2c"/>
    <p:sldLayoutId xmlns:r="http://schemas.openxmlformats.org/officeDocument/2006/relationships" id="2147483650" r:id="R27a18ba7d20a4449"/>
    <p:sldLayoutId xmlns:r="http://schemas.openxmlformats.org/officeDocument/2006/relationships" id="2147483651" r:id="R20b38fd5847d42d6"/>
    <p:sldLayoutId xmlns:r="http://schemas.openxmlformats.org/officeDocument/2006/relationships" id="2147483652" r:id="R0288d2df7da84003"/>
    <p:sldLayoutId xmlns:r="http://schemas.openxmlformats.org/officeDocument/2006/relationships" id="2147483653" r:id="R0d8410503cdf4642"/>
    <p:sldLayoutId xmlns:r="http://schemas.openxmlformats.org/officeDocument/2006/relationships" id="2147483654" r:id="Rc6925297505140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Feiyu Tide">
      <a:dk1>
        <a:srgbClr val="000000"/>
      </a:dk1>
      <a:lt1>
        <a:srgbClr val="FFFFFF"/>
      </a:lt1>
      <a:dk2>
        <a:srgbClr val="173B46"/>
      </a:dk2>
      <a:lt2>
        <a:srgbClr val="E3EDEC"/>
      </a:lt2>
      <a:accent1>
        <a:srgbClr val="367B72"/>
      </a:accent1>
      <a:accent2>
        <a:srgbClr val="173B46"/>
      </a:accent2>
      <a:accent3>
        <a:srgbClr val="7DA6A1"/>
      </a:accent3>
      <a:accent4>
        <a:srgbClr val="AD8A62"/>
      </a:accent4>
      <a:accent5>
        <a:srgbClr val="7D8EAE"/>
      </a:accent5>
      <a:accent6>
        <a:srgbClr val="A9BDA5"/>
      </a:accent6>
      <a:hlink>
        <a:srgbClr val="367B72"/>
      </a:hlink>
      <a:folHlink>
        <a:srgbClr val="367B72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Feiyu Tid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b231d60f104027" /><Relationship Type="http://schemas.openxmlformats.org/officeDocument/2006/relationships/image" Target="/ppt/media/image.png" Id="R96006adb75dc4fdc" /><Relationship Type="http://schemas.openxmlformats.org/officeDocument/2006/relationships/notesSlide" Target="/ppt/notesSlides/notesSlide1.xml" Id="R5fcb5a4aaf494b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1001d7664f4f8a" /><Relationship Type="http://schemas.openxmlformats.org/officeDocument/2006/relationships/notesSlide" Target="/ppt/notesSlides/notesSlide2.xml" Id="Rae39ad978f1549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ee12119046417c" /><Relationship Type="http://schemas.openxmlformats.org/officeDocument/2006/relationships/notesSlide" Target="/ppt/notesSlides/notesSlide3.xml" Id="R803b608c4e7540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1858caad814f57" /><Relationship Type="http://schemas.openxmlformats.org/officeDocument/2006/relationships/notesSlide" Target="/ppt/notesSlides/notesSlide4.xml" Id="R0fb988d1403b49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16f515b5d4394" /><Relationship Type="http://schemas.openxmlformats.org/officeDocument/2006/relationships/notesSlide" Target="/ppt/notesSlides/notesSlide5.xml" Id="R0bb749a803ac4a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51deaa29d04391" /><Relationship Type="http://schemas.openxmlformats.org/officeDocument/2006/relationships/notesSlide" Target="/ppt/notesSlides/notesSlide6.xml" Id="R65d9a86c69f14b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231bb42fbe42e2" /><Relationship Type="http://schemas.openxmlformats.org/officeDocument/2006/relationships/notesSlide" Target="/ppt/notesSlides/notesSlide7.xml" Id="R761b608853db4b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d5f02898c74c52" /><Relationship Type="http://schemas.openxmlformats.org/officeDocument/2006/relationships/notesSlide" Target="/ppt/notesSlides/notesSlide8.xml" Id="R6493b5369e7a46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82a494a46145af" /><Relationship Type="http://schemas.openxmlformats.org/officeDocument/2006/relationships/image" Target="/ppt/media/image.jpeg" Id="Rd2a591868afd4d9b" /><Relationship Type="http://schemas.openxmlformats.org/officeDocument/2006/relationships/notesSlide" Target="/ppt/notesSlides/notesSlide9.xml" Id="Re67bca503eba4b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d647d1ddd641f9" /><Relationship Type="http://schemas.openxmlformats.org/officeDocument/2006/relationships/image" Target="/ppt/media/image2.png" Id="R2de03c0bc37048be" /><Relationship Type="http://schemas.openxmlformats.org/officeDocument/2006/relationships/notesSlide" Target="/ppt/notesSlides/notesSlide10.xml" Id="R4757c57cf54e4d2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7bd05ab5a24869" /><Relationship Type="http://schemas.openxmlformats.org/officeDocument/2006/relationships/notesSlide" Target="/ppt/notesSlides/notesSlide11.xml" Id="Rf75c8b19b0c943c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5b582b18f34449" /><Relationship Type="http://schemas.openxmlformats.org/officeDocument/2006/relationships/notesSlide" Target="/ppt/notesSlides/notesSlide12.xml" Id="R4c5cbfd9a2a94ad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75bcd0f49e4c23" /><Relationship Type="http://schemas.openxmlformats.org/officeDocument/2006/relationships/notesSlide" Target="/ppt/notesSlides/notesSlide13.xml" Id="R2cec2f5d0219487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4c187733654a7b" /><Relationship Type="http://schemas.openxmlformats.org/officeDocument/2006/relationships/image" Target="/ppt/media/image3.png" Id="R5af9caab81a04fc7" /><Relationship Type="http://schemas.openxmlformats.org/officeDocument/2006/relationships/notesSlide" Target="/ppt/notesSlides/notesSlide14.xml" Id="R12b23b4758fd49b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DDF873-B969-42B9-9EDC-5D91DD20C5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006adb75dc4fd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1EADD4E-FC32-48A6-BF10-42F609CC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47825"/>
            <a:ext cx="7715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45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645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645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645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645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645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645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645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645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645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645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pPr>
            <a:r>
              <a:rPr sz="6450" b="1">
                <a:solidFill>
                  <a:srgbClr val="173B46"/>
                </a:solidFill>
                <a:latin typeface="DengXian"/>
                <a:ea typeface="DengXian"/>
                <a:cs typeface="DengXian"/>
              </a:rPr>
              <a:t>肥鱼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C0EE48C-30DF-41B0-9FD7-DA921F3B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3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3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3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3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3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3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3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3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3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pPr>
            <a:r>
              <a:rPr sz="3300" b="0">
                <a:solidFill>
                  <a:srgbClr val="367B72"/>
                </a:solidFill>
                <a:latin typeface="DengXian"/>
                <a:ea typeface="DengXian"/>
                <a:cs typeface="DengXian"/>
              </a:rPr>
              <a:t>Feiyu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49F3DCC-22BE-4519-8898-B917C1E3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771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850" b="0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850" b="0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850" b="0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850" b="0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850" b="0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850" b="0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850" b="0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850" b="0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850" b="0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850" b="0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pPr>
            <a:r>
              <a:rPr sz="2850" b="0">
                <a:solidFill>
                  <a:srgbClr val="173B46"/>
                </a:solidFill>
                <a:latin typeface="DengXian"/>
                <a:ea typeface="DengXian"/>
                <a:cs typeface="DengXian"/>
              </a:rPr>
              <a:t>跨来源的持续生活智能体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9445A23-AA2C-45A7-ADB3-F4A25193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48275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开源项目介绍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791B218-B982-46DC-B76C-3A4E7A96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2026.10</a:t>
            </a:r>
          </a:p>
        </p:txBody>
      </p:sp>
    </p:spTree>
    <p:extLst>
      <p:ext uri="{BB962C8B-B14F-4D97-AF65-F5344CB8AC3E}">
        <p14:creationId xmlns:p14="http://schemas.microsoft.com/office/powerpoint/2010/main" val="19196575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4E5160-9C50-4DB6-BDD4-09B3A7B3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pPr>
            <a:r>
              <a:rPr sz="3300" b="1">
                <a:solidFill>
                  <a:srgbClr val="173B46"/>
                </a:solidFill>
                <a:latin typeface="DengXian"/>
                <a:ea typeface="DengXian"/>
                <a:cs typeface="DengXian"/>
              </a:rPr>
              <a:t>项目哲学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208A5F5-90D4-4638-8BA7-30C24827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53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text-8">
            <a:extLst xmlns:a="http://schemas.openxmlformats.org/drawingml/2006/main">
              <a:ext uri="{FF2B5EF4-FFF2-40B4-BE49-F238E27FC236}">
                <a16:creationId xmlns:a16="http://schemas.microsoft.com/office/drawing/2014/main" id="{AB225FC1-45E8-4CBB-913E-EDD809A2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144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15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15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15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15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15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15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15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15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15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pPr>
            <a:r>
              <a:rPr sz="3150" b="0">
                <a:solidFill>
                  <a:srgbClr val="367B72"/>
                </a:solidFill>
                <a:latin typeface="DengXian"/>
                <a:ea typeface="DengXian"/>
                <a:cs typeface="DengXian"/>
              </a:rPr>
              <a:t>一个角色，持续认识世界</a:t>
            </a:r>
          </a:p>
        </p:txBody>
      </p:sp>
      <p:sp>
        <p:nvSpPr>
          <p:cNvPr id="4" name="text-9">
            <a:extLst xmlns:a="http://schemas.openxmlformats.org/drawingml/2006/main">
              <a:ext uri="{FF2B5EF4-FFF2-40B4-BE49-F238E27FC236}">
                <a16:creationId xmlns:a16="http://schemas.microsoft.com/office/drawing/2014/main" id="{5F987453-1E03-44E3-9560-01D99DF9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622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pPr>
            <a:r>
              <a:rPr sz="2325" b="1">
                <a:solidFill>
                  <a:srgbClr val="173B46"/>
                </a:solidFill>
                <a:latin typeface="DengXian"/>
                <a:ea typeface="DengXian"/>
                <a:cs typeface="DengXian"/>
              </a:rPr>
              <a:t>稳定的核心</a:t>
            </a:r>
          </a:p>
        </p:txBody>
      </p:sp>
      <p:sp>
        <p:nvSpPr>
          <p:cNvPr id="5" name="text-10">
            <a:extLst xmlns:a="http://schemas.openxmlformats.org/drawingml/2006/main">
              <a:ext uri="{FF2B5EF4-FFF2-40B4-BE49-F238E27FC236}">
                <a16:creationId xmlns:a16="http://schemas.microsoft.com/office/drawing/2014/main" id="{FD27AE54-549E-4490-850B-5543D534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62225"/>
            <a:ext cx="790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核心身份与人格承接长期连续性。日常交流形成新理解，不能凭一条来信重写核心。</a:t>
            </a:r>
          </a:p>
        </p:txBody>
      </p:sp>
      <p:sp>
        <p:nvSpPr>
          <p:cNvPr id="6" name="separator">
            <a:extLst xmlns:a="http://schemas.openxmlformats.org/drawingml/2006/main">
              <a:ext uri="{FF2B5EF4-FFF2-40B4-BE49-F238E27FC236}">
                <a16:creationId xmlns:a16="http://schemas.microsoft.com/office/drawing/2014/main" id="{4E8F1E40-2B06-4849-8C29-5451BBDC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76625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CDF"/>
            </a:solidFill>
          </a:ln>
        </p:spPr>
      </p:sp>
      <p:sp>
        <p:nvSpPr>
          <p:cNvPr id="7" name="text-11">
            <a:extLst xmlns:a="http://schemas.openxmlformats.org/drawingml/2006/main">
              <a:ext uri="{FF2B5EF4-FFF2-40B4-BE49-F238E27FC236}">
                <a16:creationId xmlns:a16="http://schemas.microsoft.com/office/drawing/2014/main" id="{8897438C-A2D4-4C7C-8563-B5EE7996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pPr>
            <a:r>
              <a:rPr sz="2325" b="1">
                <a:solidFill>
                  <a:srgbClr val="173B46"/>
                </a:solidFill>
                <a:latin typeface="DengXian"/>
                <a:ea typeface="DengXian"/>
                <a:cs typeface="DengXian"/>
              </a:rPr>
              <a:t>有来源的经历</a:t>
            </a:r>
          </a:p>
        </p:txBody>
      </p:sp>
      <p:sp>
        <p:nvSpPr>
          <p:cNvPr id="8" name="text-12">
            <a:extLst xmlns:a="http://schemas.openxmlformats.org/drawingml/2006/main">
              <a:ext uri="{FF2B5EF4-FFF2-40B4-BE49-F238E27FC236}">
                <a16:creationId xmlns:a16="http://schemas.microsoft.com/office/drawing/2014/main" id="{65DC8E15-A529-4C31-9C3F-B210246C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667125"/>
            <a:ext cx="790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亲历、网页、转述和推测保留区别。知道标题、读过正文、看过采样帧各有范围。</a:t>
            </a:r>
          </a:p>
        </p:txBody>
      </p:sp>
      <p:sp>
        <p:nvSpPr>
          <p:cNvPr id="9" name="separator">
            <a:extLst xmlns:a="http://schemas.openxmlformats.org/drawingml/2006/main">
              <a:ext uri="{FF2B5EF4-FFF2-40B4-BE49-F238E27FC236}">
                <a16:creationId xmlns:a16="http://schemas.microsoft.com/office/drawing/2014/main" id="{468BBE5B-A560-426F-BA05-DC0C2057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81525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CDF"/>
            </a:solidFill>
          </a:ln>
        </p:spPr>
      </p:sp>
      <p:sp>
        <p:nvSpPr>
          <p:cNvPr id="10" name="text-13">
            <a:extLst xmlns:a="http://schemas.openxmlformats.org/drawingml/2006/main">
              <a:ext uri="{FF2B5EF4-FFF2-40B4-BE49-F238E27FC236}">
                <a16:creationId xmlns:a16="http://schemas.microsoft.com/office/drawing/2014/main" id="{19628A6D-E925-407F-930D-7056983A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720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pPr>
            <a:r>
              <a:rPr sz="2325" b="1">
                <a:solidFill>
                  <a:srgbClr val="173B46"/>
                </a:solidFill>
                <a:latin typeface="DengXian"/>
                <a:ea typeface="DengXian"/>
                <a:cs typeface="DengXian"/>
              </a:rPr>
              <a:t>主观态度与选择</a:t>
            </a:r>
          </a:p>
        </p:txBody>
      </p:sp>
      <p:sp>
        <p:nvSpPr>
          <p:cNvPr id="11" name="text-14">
            <a:extLst xmlns:a="http://schemas.openxmlformats.org/drawingml/2006/main">
              <a:ext uri="{FF2B5EF4-FFF2-40B4-BE49-F238E27FC236}">
                <a16:creationId xmlns:a16="http://schemas.microsoft.com/office/drawing/2014/main" id="{423ADCE3-1FF1-4002-8EF0-02A6D601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772025"/>
            <a:ext cx="790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兴趣、关系与当下感受来自具体经历。它可以主动分享，也可以休息或暂时不行动。</a:t>
            </a:r>
          </a:p>
        </p:txBody>
      </p:sp>
    </p:spTree>
    <p:extLst>
      <p:ext uri="{BB962C8B-B14F-4D97-AF65-F5344CB8AC3E}">
        <p14:creationId xmlns:p14="http://schemas.microsoft.com/office/powerpoint/2010/main" val="18059154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523D86-6EE2-45FC-B23B-96BDFA51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pPr>
            <a:r>
              <a:rPr sz="3300" b="1">
                <a:solidFill>
                  <a:srgbClr val="173B46"/>
                </a:solidFill>
                <a:latin typeface="DengXian"/>
                <a:ea typeface="DengXian"/>
                <a:cs typeface="DengXian"/>
              </a:rPr>
              <a:t>能力范围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6D44DF6-4645-41C8-8E68-1E9304D9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38250"/>
            <a:ext cx="10744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围绕同一角色组织通信、阅读、记忆和行动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EBA27A0-64F0-44D7-9B70-BDA68AF5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53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FF254-E6DC-4E6E-8CBB-69E30006FFDC}"/>
              </a:ext>
            </a:extLst>
          </p:cNvPr>
          <p:cNvGraphicFramePr/>
          <p:nvPr/>
        </p:nvGraphicFramePr>
        <p:xfrm>
          <a:off xmlns:a="http://schemas.openxmlformats.org/drawingml/2006/main" x="704850" y="1905000"/>
          <a:ext xmlns:a="http://schemas.openxmlformats.org/drawingml/2006/main" cx="10782300" cy="39433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4953000"/>
                <a:gridCol w="3733800"/>
              </a:tblGrid>
              <a:tr h="56333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marL="133350" marR="133350" marT="114300" marB="95250" anchor="ctr">
                    <a:lnL w="9525">
                      <a:solidFill>
                        <a:srgbClr val="C9DCDF"/>
                      </a:solidFill>
                      <a:prstDash val="solid"/>
                    </a:lnL>
                    <a:lnR w="9525">
                      <a:solidFill>
                        <a:srgbClr val="C9DCDF"/>
                      </a:solidFill>
                      <a:prstDash val="solid"/>
                    </a:lnR>
                    <a:lnT w="9525">
                      <a:solidFill>
                        <a:srgbClr val="C9DCDF"/>
                      </a:solidFill>
                      <a:prstDash val="solid"/>
                    </a:lnT>
                    <a:lnB w="9525">
                      <a:solidFill>
                        <a:srgbClr val="C9DCDF"/>
                      </a:solidFill>
                      <a:prstDash val="solid"/>
                    </a:lnB>
                    <a:solidFill>
                      <a:srgbClr val="367B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主要能力</a:t>
                      </a:r>
                    </a:p>
                  </a:txBody>
                  <a:tcPr marL="133350" marR="133350" marT="114300" marB="95250" anchor="ctr">
                    <a:lnR w="9525">
                      <a:solidFill>
                        <a:srgbClr val="C9DCDF"/>
                      </a:solidFill>
                      <a:prstDash val="solid"/>
                    </a:lnR>
                    <a:lnT w="9525">
                      <a:solidFill>
                        <a:srgbClr val="C9DCDF"/>
                      </a:solidFill>
                      <a:prstDash val="solid"/>
                    </a:lnT>
                    <a:lnB w="9525">
                      <a:solidFill>
                        <a:srgbClr val="C9DCDF"/>
                      </a:solidFill>
                      <a:prstDash val="solid"/>
                    </a:lnB>
                    <a:solidFill>
                      <a:srgbClr val="367B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当前条件</a:t>
                      </a:r>
                    </a:p>
                  </a:txBody>
                  <a:tcPr marL="133350" marR="133350" marT="114300" marB="95250" anchor="ctr">
                    <a:lnR w="9525">
                      <a:solidFill>
                        <a:srgbClr val="C9DCDF"/>
                      </a:solidFill>
                      <a:prstDash val="solid"/>
                    </a:lnR>
                    <a:lnT w="9525">
                      <a:solidFill>
                        <a:srgbClr val="C9DCDF"/>
                      </a:solidFill>
                      <a:prstDash val="solid"/>
                    </a:lnT>
                    <a:lnB w="9525">
                      <a:solidFill>
                        <a:srgbClr val="C9DCDF"/>
                      </a:solidFill>
                      <a:prstDash val="solid"/>
                    </a:lnB>
                    <a:solidFill>
                      <a:srgbClr val="367B72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通信与表达</a:t>
                      </a:r>
                    </a:p>
                  </a:txBody>
                  <a:tcPr marL="133350" marR="133350" marT="114300" marB="95250" anchor="ctr">
                    <a:lnL w="9525">
                      <a:solidFill>
                        <a:srgbClr val="C9DCDF"/>
                      </a:solidFill>
                      <a:prstDash val="solid"/>
                    </a:lnL>
                    <a:lnR w="9525">
                      <a:solidFill>
                        <a:srgbClr val="C9DCDF"/>
                      </a:solidFill>
                      <a:prstDash val="solid"/>
                    </a:lnR>
                    <a:lnB w="9525">
                      <a:solidFill>
                        <a:srgbClr val="C9DCDF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QQ、快捷键语音与弹幕文字入口</a:t>
                      </a:r>
                    </a:p>
                  </a:txBody>
                  <a:tcPr marL="133350" marR="133350" marT="114300" marB="95250" anchor="ctr">
                    <a:lnR w="9525">
                      <a:solidFill>
                        <a:srgbClr val="C9DCDF"/>
                      </a:solidFill>
                      <a:prstDash val="solid"/>
                    </a:lnR>
                    <a:lnB w="9525">
                      <a:solidFill>
                        <a:srgbClr val="C9DCDF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通道连接、会话授权、语音组件</a:t>
                      </a:r>
                    </a:p>
                  </a:txBody>
                  <a:tcPr marL="133350" marR="133350" marT="114300" marB="95250" anchor="ctr">
                    <a:lnR w="9525">
                      <a:solidFill>
                        <a:srgbClr val="C9DCDF"/>
                      </a:solidFill>
                      <a:prstDash val="solid"/>
                    </a:lnR>
                    <a:lnB w="9525">
                      <a:solidFill>
                        <a:srgbClr val="C9DCDF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世界与资料</a:t>
                      </a:r>
                    </a:p>
                  </a:txBody>
                  <a:tcPr marL="133350" marR="133350" marT="114300" marB="95250" anchor="ctr">
                    <a:lnL w="9525">
                      <a:solidFill>
                        <a:srgbClr val="C9DCDF"/>
                      </a:solidFill>
                      <a:prstDash val="solid"/>
                    </a:lnL>
                    <a:lnR w="9525">
                      <a:solidFill>
                        <a:srgbClr val="C9DCDF"/>
                      </a:solidFill>
                      <a:prstDash val="solid"/>
                    </a:lnR>
                    <a:lnB w="9525">
                      <a:solidFill>
                        <a:srgbClr val="C9DCDF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网页、平台内容、文件、视频采样</a:t>
                      </a:r>
                    </a:p>
                  </a:txBody>
                  <a:tcPr marL="133350" marR="133350" marT="114300" marB="95250" anchor="ctr">
                    <a:lnR w="9525">
                      <a:solidFill>
                        <a:srgbClr val="C9DCDF"/>
                      </a:solidFill>
                      <a:prstDash val="solid"/>
                    </a:lnR>
                    <a:lnB w="9525">
                      <a:solidFill>
                        <a:srgbClr val="C9DCDF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站点适配、登录、媒体组件</a:t>
                      </a:r>
                    </a:p>
                  </a:txBody>
                  <a:tcPr marL="133350" marR="133350" marT="114300" marB="95250" anchor="ctr">
                    <a:lnR w="9525">
                      <a:solidFill>
                        <a:srgbClr val="C9DCDF"/>
                      </a:solidFill>
                      <a:prstDash val="solid"/>
                    </a:lnR>
                    <a:lnB w="9525">
                      <a:solidFill>
                        <a:srgbClr val="C9DCDF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记忆与内心</a:t>
                      </a:r>
                    </a:p>
                  </a:txBody>
                  <a:tcPr marL="133350" marR="133350" marT="114300" marB="95250" anchor="ctr">
                    <a:lnL w="9525">
                      <a:solidFill>
                        <a:srgbClr val="C9DCDF"/>
                      </a:solidFill>
                      <a:prstDash val="solid"/>
                    </a:lnL>
                    <a:lnR w="9525">
                      <a:solidFill>
                        <a:srgbClr val="C9DCDF"/>
                      </a:solidFill>
                      <a:prstDash val="solid"/>
                    </a:lnR>
                    <a:lnB w="9525">
                      <a:solidFill>
                        <a:srgbClr val="C9DCDF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来源档案、经历感受、回忆、整理</a:t>
                      </a:r>
                    </a:p>
                  </a:txBody>
                  <a:tcPr marL="133350" marR="133350" marT="114300" marB="95250" anchor="ctr">
                    <a:lnR w="9525">
                      <a:solidFill>
                        <a:srgbClr val="C9DCDF"/>
                      </a:solidFill>
                      <a:prstDash val="solid"/>
                    </a:lnR>
                    <a:lnB w="9525">
                      <a:solidFill>
                        <a:srgbClr val="C9DCDF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角色隔离、证据和版本校验</a:t>
                      </a:r>
                    </a:p>
                  </a:txBody>
                  <a:tcPr marL="133350" marR="133350" marT="114300" marB="95250" anchor="ctr">
                    <a:lnR w="9525">
                      <a:solidFill>
                        <a:srgbClr val="C9DCDF"/>
                      </a:solidFill>
                      <a:prstDash val="solid"/>
                    </a:lnR>
                    <a:lnB w="9525">
                      <a:solidFill>
                        <a:srgbClr val="C9DCDF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兴趣与关系</a:t>
                      </a:r>
                    </a:p>
                  </a:txBody>
                  <a:tcPr marL="133350" marR="133350" marT="114300" marB="95250" anchor="ctr">
                    <a:lnL w="9525">
                      <a:solidFill>
                        <a:srgbClr val="C9DCDF"/>
                      </a:solidFill>
                      <a:prstDash val="solid"/>
                    </a:lnL>
                    <a:lnR w="9525">
                      <a:solidFill>
                        <a:srgbClr val="C9DCDF"/>
                      </a:solidFill>
                      <a:prstDash val="solid"/>
                    </a:lnR>
                    <a:lnB w="9525">
                      <a:solidFill>
                        <a:srgbClr val="C9DCDF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具体偏好、人物态度、联想和牵挂</a:t>
                      </a:r>
                    </a:p>
                  </a:txBody>
                  <a:tcPr marL="133350" marR="133350" marT="114300" marB="95250" anchor="ctr">
                    <a:lnR w="9525">
                      <a:solidFill>
                        <a:srgbClr val="C9DCDF"/>
                      </a:solidFill>
                      <a:prstDash val="solid"/>
                    </a:lnR>
                    <a:lnB w="9525">
                      <a:solidFill>
                        <a:srgbClr val="C9DCDF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有来源经历、当前语境</a:t>
                      </a:r>
                    </a:p>
                  </a:txBody>
                  <a:tcPr marL="133350" marR="133350" marT="114300" marB="95250" anchor="ctr">
                    <a:lnR w="9525">
                      <a:solidFill>
                        <a:srgbClr val="C9DCDF"/>
                      </a:solidFill>
                      <a:prstDash val="solid"/>
                    </a:lnR>
                    <a:lnB w="9525">
                      <a:solidFill>
                        <a:srgbClr val="C9DCDF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自主活动</a:t>
                      </a:r>
                    </a:p>
                  </a:txBody>
                  <a:tcPr marL="133350" marR="133350" marT="114300" marB="95250" anchor="ctr">
                    <a:lnL w="9525">
                      <a:solidFill>
                        <a:srgbClr val="C9DCDF"/>
                      </a:solidFill>
                      <a:prstDash val="solid"/>
                    </a:lnL>
                    <a:lnR w="9525">
                      <a:solidFill>
                        <a:srgbClr val="C9DCDF"/>
                      </a:solidFill>
                      <a:prstDash val="solid"/>
                    </a:lnR>
                    <a:lnB w="9525">
                      <a:solidFill>
                        <a:srgbClr val="C9DCDF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聊天、浏览、学习、休息、暂不行动</a:t>
                      </a:r>
                    </a:p>
                  </a:txBody>
                  <a:tcPr marL="133350" marR="133350" marT="114300" marB="95250" anchor="ctr">
                    <a:lnR w="9525">
                      <a:solidFill>
                        <a:srgbClr val="C9DCDF"/>
                      </a:solidFill>
                      <a:prstDash val="solid"/>
                    </a:lnR>
                    <a:lnB w="9525">
                      <a:solidFill>
                        <a:srgbClr val="C9DCDF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注意力、精力、作息、活动开关</a:t>
                      </a:r>
                    </a:p>
                  </a:txBody>
                  <a:tcPr marL="133350" marR="133350" marT="114300" marB="95250" anchor="ctr">
                    <a:lnR w="9525">
                      <a:solidFill>
                        <a:srgbClr val="C9DCDF"/>
                      </a:solidFill>
                      <a:prstDash val="solid"/>
                    </a:lnR>
                    <a:lnB w="9525">
                      <a:solidFill>
                        <a:srgbClr val="C9DCDF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工作与创造</a:t>
                      </a:r>
                    </a:p>
                  </a:txBody>
                  <a:tcPr marL="133350" marR="133350" marT="114300" marB="95250" anchor="ctr">
                    <a:lnL w="9525">
                      <a:solidFill>
                        <a:srgbClr val="C9DCDF"/>
                      </a:solidFill>
                      <a:prstDash val="solid"/>
                    </a:lnL>
                    <a:lnR w="9525">
                      <a:solidFill>
                        <a:srgbClr val="C9DCDF"/>
                      </a:solidFill>
                      <a:prstDash val="solid"/>
                    </a:lnR>
                    <a:lnB w="9525">
                      <a:solidFill>
                        <a:srgbClr val="C9DCDF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管理员委托、受限学习与开发</a:t>
                      </a:r>
                    </a:p>
                  </a:txBody>
                  <a:tcPr marL="133350" marR="133350" marT="114300" marB="95250" anchor="ctr">
                    <a:lnR w="9525">
                      <a:solidFill>
                        <a:srgbClr val="C9DCDF"/>
                      </a:solidFill>
                      <a:prstDash val="solid"/>
                    </a:lnR>
                    <a:lnB w="9525">
                      <a:solidFill>
                        <a:srgbClr val="C9DCDF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独立任务、默认关闭、权限边界</a:t>
                      </a:r>
                    </a:p>
                  </a:txBody>
                  <a:tcPr marL="133350" marR="133350" marT="114300" marB="95250" anchor="ctr">
                    <a:lnR w="9525">
                      <a:solidFill>
                        <a:srgbClr val="C9DCDF"/>
                      </a:solidFill>
                      <a:prstDash val="solid"/>
                    </a:lnR>
                    <a:lnB w="9525">
                      <a:solidFill>
                        <a:srgbClr val="C9DCDF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64175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D7EA1C-0906-49B9-9E15-86F77B93C8BE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248775" y="3048000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7B72"/>
            </a:solidFill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D7CD70-3BBB-43F1-87C8-5D79FA831FA9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067550" y="3048000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7B72"/>
            </a:solidFill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813EE6-CEC8-4039-A9BB-A2B4A4C5936A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886325" y="3048000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7B72"/>
            </a:solidFill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D40759-2335-474D-A6DE-0F165C9968EA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705100" y="3048000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7B72"/>
            </a:solidFill>
            <a:tailEnd type="triangle" w="sm" len="sm"/>
          </a:ln>
        </p:spPr>
      </p:cxnSp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897B35-1693-4099-83DE-CB66DADE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pPr>
            <a:r>
              <a:rPr sz="3300" b="1">
                <a:solidFill>
                  <a:srgbClr val="173B46"/>
                </a:solidFill>
                <a:latin typeface="DengXian"/>
                <a:ea typeface="DengXian"/>
                <a:cs typeface="DengXian"/>
              </a:rPr>
              <a:t>一轮跨来源体验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6CD39AD-7278-4B5F-8F6D-D5ECC991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38250"/>
            <a:ext cx="10744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合成情境，用于说明行为链路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85CFF41-39D2-455E-B542-42AA69A2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53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读到内容">
            <a:extLst xmlns:a="http://schemas.openxmlformats.org/drawingml/2006/main">
              <a:ext uri="{FF2B5EF4-FFF2-40B4-BE49-F238E27FC236}">
                <a16:creationId xmlns:a16="http://schemas.microsoft.com/office/drawing/2014/main" id="{E43689B7-5E48-4833-8D92-F69EBC30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20002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8"/>
          </a:solidFill>
          <a:ln xmlns:a="http://schemas.openxmlformats.org/drawingml/2006/main" w="15240">
            <a:solidFill>
              <a:srgbClr val="367B72"/>
            </a:solidFill>
          </a:ln>
        </p:spPr>
      </p:sp>
      <p:sp>
        <p:nvSpPr>
          <p:cNvPr id="5" name="text-21">
            <a:extLst xmlns:a="http://schemas.openxmlformats.org/drawingml/2006/main">
              <a:ext uri="{FF2B5EF4-FFF2-40B4-BE49-F238E27FC236}">
                <a16:creationId xmlns:a16="http://schemas.microsoft.com/office/drawing/2014/main" id="{CDCE30E5-A19D-4A99-B252-5B55D9A8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rPr>
              <a:t>读到内容</a:t>
            </a:r>
          </a:p>
        </p:txBody>
      </p:sp>
      <p:sp>
        <p:nvSpPr>
          <p:cNvPr id="6" name="text-22">
            <a:extLst xmlns:a="http://schemas.openxmlformats.org/drawingml/2006/main">
              <a:ext uri="{FF2B5EF4-FFF2-40B4-BE49-F238E27FC236}">
                <a16:creationId xmlns:a16="http://schemas.microsoft.com/office/drawing/2014/main" id="{5361DB9B-0446-4291-AFBE-5B9DCF11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1657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网页中一篇潮汐科普</a:t>
            </a:r>
          </a:p>
        </p:txBody>
      </p:sp>
      <p:sp>
        <p:nvSpPr>
          <p:cNvPr id="7" name="留下经历">
            <a:extLst xmlns:a="http://schemas.openxmlformats.org/drawingml/2006/main">
              <a:ext uri="{FF2B5EF4-FFF2-40B4-BE49-F238E27FC236}">
                <a16:creationId xmlns:a16="http://schemas.microsoft.com/office/drawing/2014/main" id="{5A5AD04D-FE4E-450A-9E3A-3D39B8EE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343150"/>
            <a:ext cx="20002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8"/>
          </a:solidFill>
          <a:ln xmlns:a="http://schemas.openxmlformats.org/drawingml/2006/main" w="15240">
            <a:solidFill>
              <a:srgbClr val="367B72"/>
            </a:solidFill>
          </a:ln>
        </p:spPr>
      </p:sp>
      <p:sp>
        <p:nvSpPr>
          <p:cNvPr id="8" name="text-23">
            <a:extLst xmlns:a="http://schemas.openxmlformats.org/drawingml/2006/main">
              <a:ext uri="{FF2B5EF4-FFF2-40B4-BE49-F238E27FC236}">
                <a16:creationId xmlns:a16="http://schemas.microsoft.com/office/drawing/2014/main" id="{D5629F51-4E9F-4D6A-A0A8-2F10A0BB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4955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rPr>
              <a:t>留下经历</a:t>
            </a:r>
          </a:p>
        </p:txBody>
      </p:sp>
      <p:sp>
        <p:nvSpPr>
          <p:cNvPr id="9" name="text-24">
            <a:extLst xmlns:a="http://schemas.openxmlformats.org/drawingml/2006/main">
              <a:ext uri="{FF2B5EF4-FFF2-40B4-BE49-F238E27FC236}">
                <a16:creationId xmlns:a16="http://schemas.microsoft.com/office/drawing/2014/main" id="{64C76F9E-00AF-48DD-B081-093526DD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914650"/>
            <a:ext cx="1657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保留来源与已读范围</a:t>
            </a:r>
          </a:p>
        </p:txBody>
      </p:sp>
      <p:sp>
        <p:nvSpPr>
          <p:cNvPr id="10" name="形成理解">
            <a:extLst xmlns:a="http://schemas.openxmlformats.org/drawingml/2006/main">
              <a:ext uri="{FF2B5EF4-FFF2-40B4-BE49-F238E27FC236}">
                <a16:creationId xmlns:a16="http://schemas.microsoft.com/office/drawing/2014/main" id="{75A9D548-3627-4C8A-BF26-1BD9E66E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43150"/>
            <a:ext cx="20002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8"/>
          </a:solidFill>
          <a:ln xmlns:a="http://schemas.openxmlformats.org/drawingml/2006/main" w="15240">
            <a:solidFill>
              <a:srgbClr val="367B72"/>
            </a:solidFill>
          </a:ln>
        </p:spPr>
      </p:sp>
      <p:sp>
        <p:nvSpPr>
          <p:cNvPr id="11" name="text-25">
            <a:extLst xmlns:a="http://schemas.openxmlformats.org/drawingml/2006/main">
              <a:ext uri="{FF2B5EF4-FFF2-40B4-BE49-F238E27FC236}">
                <a16:creationId xmlns:a16="http://schemas.microsoft.com/office/drawing/2014/main" id="{B3766A09-F64F-4697-9B71-DDEED3BC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955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rPr>
              <a:t>形成理解</a:t>
            </a:r>
          </a:p>
        </p:txBody>
      </p:sp>
      <p:sp>
        <p:nvSpPr>
          <p:cNvPr id="12" name="text-26">
            <a:extLst xmlns:a="http://schemas.openxmlformats.org/drawingml/2006/main">
              <a:ext uri="{FF2B5EF4-FFF2-40B4-BE49-F238E27FC236}">
                <a16:creationId xmlns:a16="http://schemas.microsoft.com/office/drawing/2014/main" id="{DFF4B049-AB6B-4014-980D-40962A2A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14650"/>
            <a:ext cx="1657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对潮汐现象产生兴趣</a:t>
            </a:r>
          </a:p>
        </p:txBody>
      </p:sp>
      <p:sp>
        <p:nvSpPr>
          <p:cNvPr id="13" name="想起他人">
            <a:extLst xmlns:a="http://schemas.openxmlformats.org/drawingml/2006/main">
              <a:ext uri="{FF2B5EF4-FFF2-40B4-BE49-F238E27FC236}">
                <a16:creationId xmlns:a16="http://schemas.microsoft.com/office/drawing/2014/main" id="{4165F5FE-9C49-4A5C-90C2-E6CF418D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343150"/>
            <a:ext cx="20002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8"/>
          </a:solidFill>
          <a:ln xmlns:a="http://schemas.openxmlformats.org/drawingml/2006/main" w="15240">
            <a:solidFill>
              <a:srgbClr val="367B72"/>
            </a:solidFill>
          </a:ln>
        </p:spPr>
      </p:sp>
      <p:sp>
        <p:nvSpPr>
          <p:cNvPr id="14" name="text-27">
            <a:extLst xmlns:a="http://schemas.openxmlformats.org/drawingml/2006/main">
              <a:ext uri="{FF2B5EF4-FFF2-40B4-BE49-F238E27FC236}">
                <a16:creationId xmlns:a16="http://schemas.microsoft.com/office/drawing/2014/main" id="{F8435943-A293-4F17-AE91-E21D4D99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4955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rPr>
              <a:t>想起他人</a:t>
            </a:r>
          </a:p>
        </p:txBody>
      </p:sp>
      <p:sp>
        <p:nvSpPr>
          <p:cNvPr id="15" name="text-28">
            <a:extLst xmlns:a="http://schemas.openxmlformats.org/drawingml/2006/main">
              <a:ext uri="{FF2B5EF4-FFF2-40B4-BE49-F238E27FC236}">
                <a16:creationId xmlns:a16="http://schemas.microsoft.com/office/drawing/2014/main" id="{7F1B142B-E1DF-4339-8B37-386C1300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914650"/>
            <a:ext cx="1657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联想到海边摄影话题</a:t>
            </a:r>
          </a:p>
        </p:txBody>
      </p:sp>
      <p:sp>
        <p:nvSpPr>
          <p:cNvPr id="16" name="选择行动">
            <a:extLst xmlns:a="http://schemas.openxmlformats.org/drawingml/2006/main">
              <a:ext uri="{FF2B5EF4-FFF2-40B4-BE49-F238E27FC236}">
                <a16:creationId xmlns:a16="http://schemas.microsoft.com/office/drawing/2014/main" id="{6027D354-4E26-4468-AE89-F036AABE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43150"/>
            <a:ext cx="20002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8"/>
          </a:solidFill>
          <a:ln xmlns:a="http://schemas.openxmlformats.org/drawingml/2006/main" w="15240">
            <a:solidFill>
              <a:srgbClr val="367B72"/>
            </a:solidFill>
          </a:ln>
        </p:spPr>
      </p:sp>
      <p:sp>
        <p:nvSpPr>
          <p:cNvPr id="17" name="text-29">
            <a:extLst xmlns:a="http://schemas.openxmlformats.org/drawingml/2006/main">
              <a:ext uri="{FF2B5EF4-FFF2-40B4-BE49-F238E27FC236}">
                <a16:creationId xmlns:a16="http://schemas.microsoft.com/office/drawing/2014/main" id="{63BDB86A-550F-4A65-A527-C0A9F2B1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955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rPr>
              <a:t>选择行动</a:t>
            </a:r>
          </a:p>
        </p:txBody>
      </p:sp>
      <p:sp>
        <p:nvSpPr>
          <p:cNvPr id="18" name="text-30">
            <a:extLst xmlns:a="http://schemas.openxmlformats.org/drawingml/2006/main">
              <a:ext uri="{FF2B5EF4-FFF2-40B4-BE49-F238E27FC236}">
                <a16:creationId xmlns:a16="http://schemas.microsoft.com/office/drawing/2014/main" id="{47926CA8-A280-4314-BEB2-80CC14F5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14650"/>
            <a:ext cx="1657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条件允许时主动分享</a:t>
            </a:r>
          </a:p>
        </p:txBody>
      </p:sp>
      <p:sp>
        <p:nvSpPr>
          <p:cNvPr id="23" name="text-31">
            <a:extLst xmlns:a="http://schemas.openxmlformats.org/drawingml/2006/main">
              <a:ext uri="{FF2B5EF4-FFF2-40B4-BE49-F238E27FC236}">
                <a16:creationId xmlns:a16="http://schemas.microsoft.com/office/drawing/2014/main" id="{7D4CDC8D-756A-4EF0-9AF1-1008A905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4825"/>
            <a:ext cx="10706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55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55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55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55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55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55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55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55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55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pPr>
            <a:r>
              <a:rPr sz="2550" b="0">
                <a:solidFill>
                  <a:srgbClr val="367B72"/>
                </a:solidFill>
                <a:latin typeface="DengXian"/>
                <a:ea typeface="DengXian"/>
                <a:cs typeface="DengXian"/>
              </a:rPr>
              <a:t>每一步都依赖真实输入和有效记录</a:t>
            </a:r>
          </a:p>
        </p:txBody>
      </p:sp>
      <p:sp>
        <p:nvSpPr>
          <p:cNvPr id="24" name="text-32">
            <a:extLst xmlns:a="http://schemas.openxmlformats.org/drawingml/2006/main">
              <a:ext uri="{FF2B5EF4-FFF2-40B4-BE49-F238E27FC236}">
                <a16:creationId xmlns:a16="http://schemas.microsoft.com/office/drawing/2014/main" id="{5F8F3A25-C272-4984-BBDB-B4A7DA9C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10591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示例没有代表真实聊天或实际发送。系统可以在任一步停止，失败与未知结果保留在行为记录中。</a:t>
            </a:r>
          </a:p>
        </p:txBody>
      </p:sp>
    </p:spTree>
    <p:extLst>
      <p:ext uri="{BB962C8B-B14F-4D97-AF65-F5344CB8AC3E}">
        <p14:creationId xmlns:p14="http://schemas.microsoft.com/office/powerpoint/2010/main" val="14823292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2C1671-BB7C-4F5C-956D-2A660C9ADD56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48700" y="38671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7B72"/>
            </a:solidFill>
            <a:tail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96F396-7EB3-4138-9B73-8F30A9A24821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924550" y="38671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7B72"/>
            </a:solidFill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B35925-2F2F-472F-B7AE-11CE37E5CD8C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00400" y="38671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7B72"/>
            </a:solidFill>
            <a:tailEnd type="triangle" w="sm" len="sm"/>
          </a:ln>
        </p:spPr>
      </p:cxnSp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C0DC6E-B295-45BE-8796-A62F2249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pPr>
            <a:r>
              <a:rPr sz="3300" b="1">
                <a:solidFill>
                  <a:srgbClr val="173B46"/>
                </a:solidFill>
                <a:latin typeface="DengXian"/>
                <a:ea typeface="DengXian"/>
                <a:cs typeface="DengXian"/>
              </a:rPr>
              <a:t>记忆、经历与来源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6561D16-215E-482B-A366-97FF126A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53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text-35">
            <a:extLst xmlns:a="http://schemas.openxmlformats.org/drawingml/2006/main">
              <a:ext uri="{FF2B5EF4-FFF2-40B4-BE49-F238E27FC236}">
                <a16:creationId xmlns:a16="http://schemas.microsoft.com/office/drawing/2014/main" id="{D79520F3-963D-4343-85DC-3DDFF5A4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57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075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075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075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075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075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075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075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075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075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075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pPr>
            <a:r>
              <a:rPr sz="3075" b="0">
                <a:solidFill>
                  <a:srgbClr val="367B72"/>
                </a:solidFill>
                <a:latin typeface="DengXian"/>
                <a:ea typeface="DengXian"/>
                <a:cs typeface="DengXian"/>
              </a:rPr>
              <a:t>原始资料保留事实范围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3075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pPr>
            <a:r>
              <a:rPr sz="3075" b="0">
                <a:solidFill>
                  <a:srgbClr val="367B72"/>
                </a:solidFill>
                <a:latin typeface="DengXian"/>
                <a:ea typeface="DengXian"/>
                <a:cs typeface="DengXian"/>
              </a:rPr>
              <a:t>主观经历保留当时感受</a:t>
            </a:r>
          </a:p>
        </p:txBody>
      </p:sp>
      <p:sp>
        <p:nvSpPr>
          <p:cNvPr id="4" name="来源档案">
            <a:extLst xmlns:a="http://schemas.openxmlformats.org/drawingml/2006/main">
              <a:ext uri="{FF2B5EF4-FFF2-40B4-BE49-F238E27FC236}">
                <a16:creationId xmlns:a16="http://schemas.microsoft.com/office/drawing/2014/main" id="{6B971E21-C955-4D50-A99F-8EC45D3E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24955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8"/>
          </a:solidFill>
          <a:ln xmlns:a="http://schemas.openxmlformats.org/drawingml/2006/main" w="15240">
            <a:solidFill>
              <a:srgbClr val="367B72"/>
            </a:solidFill>
          </a:ln>
        </p:spPr>
      </p:sp>
      <p:sp>
        <p:nvSpPr>
          <p:cNvPr id="5" name="text-36">
            <a:extLst xmlns:a="http://schemas.openxmlformats.org/drawingml/2006/main">
              <a:ext uri="{FF2B5EF4-FFF2-40B4-BE49-F238E27FC236}">
                <a16:creationId xmlns:a16="http://schemas.microsoft.com/office/drawing/2014/main" id="{B9BA34AB-18BA-474C-AB66-91950216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rPr>
              <a:t>来源档案</a:t>
            </a:r>
          </a:p>
        </p:txBody>
      </p:sp>
      <p:sp>
        <p:nvSpPr>
          <p:cNvPr id="6" name="text-37">
            <a:extLst xmlns:a="http://schemas.openxmlformats.org/drawingml/2006/main">
              <a:ext uri="{FF2B5EF4-FFF2-40B4-BE49-F238E27FC236}">
                <a16:creationId xmlns:a16="http://schemas.microsoft.com/office/drawing/2014/main" id="{3669BA8F-EB11-4940-BA1C-1B31188A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2152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原文、媒体、时间与归属</a:t>
            </a:r>
          </a:p>
        </p:txBody>
      </p:sp>
      <p:sp>
        <p:nvSpPr>
          <p:cNvPr id="7" name="经历与感受">
            <a:extLst xmlns:a="http://schemas.openxmlformats.org/drawingml/2006/main">
              <a:ext uri="{FF2B5EF4-FFF2-40B4-BE49-F238E27FC236}">
                <a16:creationId xmlns:a16="http://schemas.microsoft.com/office/drawing/2014/main" id="{DE60F700-C98F-474C-A58F-7EAE46BF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43250"/>
            <a:ext cx="24955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8"/>
          </a:solidFill>
          <a:ln xmlns:a="http://schemas.openxmlformats.org/drawingml/2006/main" w="15240">
            <a:solidFill>
              <a:srgbClr val="367B72"/>
            </a:solidFill>
          </a:ln>
        </p:spPr>
      </p:sp>
      <p:sp>
        <p:nvSpPr>
          <p:cNvPr id="8" name="text-38">
            <a:extLst xmlns:a="http://schemas.openxmlformats.org/drawingml/2006/main">
              <a:ext uri="{FF2B5EF4-FFF2-40B4-BE49-F238E27FC236}">
                <a16:creationId xmlns:a16="http://schemas.microsoft.com/office/drawing/2014/main" id="{52693282-4394-45F3-AD39-0DF59C11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9565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rPr>
              <a:t>经历与感受</a:t>
            </a:r>
          </a:p>
        </p:txBody>
      </p:sp>
      <p:sp>
        <p:nvSpPr>
          <p:cNvPr id="9" name="text-39">
            <a:extLst xmlns:a="http://schemas.openxmlformats.org/drawingml/2006/main">
              <a:ext uri="{FF2B5EF4-FFF2-40B4-BE49-F238E27FC236}">
                <a16:creationId xmlns:a16="http://schemas.microsoft.com/office/drawing/2014/main" id="{781B6DCD-3E63-4D87-997F-3572432B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14750"/>
            <a:ext cx="2152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记录已接触的内容</a:t>
            </a:r>
          </a:p>
        </p:txBody>
      </p:sp>
      <p:sp>
        <p:nvSpPr>
          <p:cNvPr id="10" name="整理与回忆">
            <a:extLst xmlns:a="http://schemas.openxmlformats.org/drawingml/2006/main">
              <a:ext uri="{FF2B5EF4-FFF2-40B4-BE49-F238E27FC236}">
                <a16:creationId xmlns:a16="http://schemas.microsoft.com/office/drawing/2014/main" id="{58D2B700-5EA0-475B-9FED-61D60673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43250"/>
            <a:ext cx="24955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8"/>
          </a:solidFill>
          <a:ln xmlns:a="http://schemas.openxmlformats.org/drawingml/2006/main" w="15240">
            <a:solidFill>
              <a:srgbClr val="367B72"/>
            </a:solidFill>
          </a:ln>
        </p:spPr>
      </p:sp>
      <p:sp>
        <p:nvSpPr>
          <p:cNvPr id="11" name="text-40">
            <a:extLst xmlns:a="http://schemas.openxmlformats.org/drawingml/2006/main">
              <a:ext uri="{FF2B5EF4-FFF2-40B4-BE49-F238E27FC236}">
                <a16:creationId xmlns:a16="http://schemas.microsoft.com/office/drawing/2014/main" id="{1B2C2F5A-E8FA-4908-B0BE-0434B022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9565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rPr>
              <a:t>整理与回忆</a:t>
            </a:r>
          </a:p>
        </p:txBody>
      </p:sp>
      <p:sp>
        <p:nvSpPr>
          <p:cNvPr id="12" name="text-41">
            <a:extLst xmlns:a="http://schemas.openxmlformats.org/drawingml/2006/main">
              <a:ext uri="{FF2B5EF4-FFF2-40B4-BE49-F238E27FC236}">
                <a16:creationId xmlns:a16="http://schemas.microsoft.com/office/drawing/2014/main" id="{6510D368-72F8-45AD-930D-3D08372E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14750"/>
            <a:ext cx="2152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证据关联、语境选择</a:t>
            </a:r>
          </a:p>
        </p:txBody>
      </p:sp>
      <p:sp>
        <p:nvSpPr>
          <p:cNvPr id="13" name="当前上下文">
            <a:extLst xmlns:a="http://schemas.openxmlformats.org/drawingml/2006/main">
              <a:ext uri="{FF2B5EF4-FFF2-40B4-BE49-F238E27FC236}">
                <a16:creationId xmlns:a16="http://schemas.microsoft.com/office/drawing/2014/main" id="{83CAFF62-D7B1-4A58-A3F4-435C877F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43250"/>
            <a:ext cx="24955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8"/>
          </a:solidFill>
          <a:ln xmlns:a="http://schemas.openxmlformats.org/drawingml/2006/main" w="15240">
            <a:solidFill>
              <a:srgbClr val="367B72"/>
            </a:solidFill>
          </a:ln>
        </p:spPr>
      </p:sp>
      <p:sp>
        <p:nvSpPr>
          <p:cNvPr id="14" name="text-42">
            <a:extLst xmlns:a="http://schemas.openxmlformats.org/drawingml/2006/main">
              <a:ext uri="{FF2B5EF4-FFF2-40B4-BE49-F238E27FC236}">
                <a16:creationId xmlns:a16="http://schemas.microsoft.com/office/drawing/2014/main" id="{817786BD-16FF-435F-8904-F96B1266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9565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rPr>
              <a:t>当前上下文</a:t>
            </a:r>
          </a:p>
        </p:txBody>
      </p:sp>
      <p:sp>
        <p:nvSpPr>
          <p:cNvPr id="15" name="text-43">
            <a:extLst xmlns:a="http://schemas.openxmlformats.org/drawingml/2006/main">
              <a:ext uri="{FF2B5EF4-FFF2-40B4-BE49-F238E27FC236}">
                <a16:creationId xmlns:a16="http://schemas.microsoft.com/office/drawing/2014/main" id="{79281A56-4592-4B49-A9AC-36A3C4E2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14750"/>
            <a:ext cx="2152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供本轮理解与表达</a:t>
            </a:r>
          </a:p>
        </p:txBody>
      </p:sp>
      <p:sp>
        <p:nvSpPr>
          <p:cNvPr id="19" name="text-44">
            <a:extLst xmlns:a="http://schemas.openxmlformats.org/drawingml/2006/main">
              <a:ext uri="{FF2B5EF4-FFF2-40B4-BE49-F238E27FC236}">
                <a16:creationId xmlns:a16="http://schemas.microsoft.com/office/drawing/2014/main" id="{D2CC3986-9851-44B7-8255-981B4C86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0175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可按来源、归属与人物独立查找。资料进入档案，不代表它已成为稳定的长期判断。</a:t>
            </a:r>
          </a:p>
        </p:txBody>
      </p:sp>
    </p:spTree>
    <p:extLst>
      <p:ext uri="{BB962C8B-B14F-4D97-AF65-F5344CB8AC3E}">
        <p14:creationId xmlns:p14="http://schemas.microsoft.com/office/powerpoint/2010/main" val="15390391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856935-057A-4FED-BC34-BA9DCDB6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pPr>
            <a:r>
              <a:rPr sz="3300" b="1">
                <a:solidFill>
                  <a:srgbClr val="173B46"/>
                </a:solidFill>
                <a:latin typeface="DengXian"/>
                <a:ea typeface="DengXian"/>
                <a:cs typeface="DengXian"/>
              </a:rPr>
              <a:t>关系与兴趣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C18E6D0-3422-43D6-AA8B-92124A86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38250"/>
            <a:ext cx="10744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长期态度与当下话题各有自己的位置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6514D0A-C20E-4A04-AFF2-2BEB3A1F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53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7A872-D615-41B0-9E36-13A780F3F301}"/>
              </a:ext>
            </a:extLst>
          </p:cNvPr>
          <p:cNvGraphicFramePr/>
          <p:nvPr/>
        </p:nvGraphicFramePr>
        <p:xfrm>
          <a:off xmlns:a="http://schemas.openxmlformats.org/drawingml/2006/main" x="704850" y="2047875"/>
          <a:ext xmlns:a="http://schemas.openxmlformats.org/drawingml/2006/main" cx="10782300" cy="3238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391150"/>
                <a:gridCol w="5391150"/>
              </a:tblGrid>
              <a:tr h="6477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关系</a:t>
                      </a:r>
                    </a:p>
                  </a:txBody>
                  <a:tcPr marL="133350" marR="133350" marT="114300" marB="95250" anchor="ctr">
                    <a:lnL w="9525">
                      <a:solidFill>
                        <a:srgbClr val="C9DCDF"/>
                      </a:solidFill>
                      <a:prstDash val="solid"/>
                    </a:lnL>
                    <a:lnR w="9525">
                      <a:solidFill>
                        <a:srgbClr val="C9DCDF"/>
                      </a:solidFill>
                      <a:prstDash val="solid"/>
                    </a:lnR>
                    <a:lnT w="9525">
                      <a:solidFill>
                        <a:srgbClr val="C9DCDF"/>
                      </a:solidFill>
                      <a:prstDash val="solid"/>
                    </a:lnT>
                    <a:lnB w="9525">
                      <a:solidFill>
                        <a:srgbClr val="C9DCDF"/>
                      </a:solidFill>
                      <a:prstDash val="solid"/>
                    </a:lnB>
                    <a:solidFill>
                      <a:srgbClr val="367B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兴趣</a:t>
                      </a:r>
                    </a:p>
                  </a:txBody>
                  <a:tcPr marL="133350" marR="133350" marT="114300" marB="95250" anchor="ctr">
                    <a:lnR w="9525">
                      <a:solidFill>
                        <a:srgbClr val="C9DCDF"/>
                      </a:solidFill>
                      <a:prstDash val="solid"/>
                    </a:lnR>
                    <a:lnT w="9525">
                      <a:solidFill>
                        <a:srgbClr val="C9DCDF"/>
                      </a:solidFill>
                      <a:prstDash val="solid"/>
                    </a:lnT>
                    <a:lnB w="9525">
                      <a:solidFill>
                        <a:srgbClr val="C9DCDF"/>
                      </a:solidFill>
                      <a:prstDash val="solid"/>
                    </a:lnB>
                    <a:solidFill>
                      <a:srgbClr val="367B72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3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按具体人物保留来往与态度依据</a:t>
                      </a:r>
                    </a:p>
                  </a:txBody>
                  <a:tcPr marL="133350" marR="133350" marT="114300" marB="95250" anchor="ctr">
                    <a:lnL w="9525">
                      <a:solidFill>
                        <a:srgbClr val="C9DCDF"/>
                      </a:solidFill>
                      <a:prstDash val="solid"/>
                    </a:lnL>
                    <a:lnR w="9525">
                      <a:solidFill>
                        <a:srgbClr val="C9DCDF"/>
                      </a:solidFill>
                      <a:prstDash val="solid"/>
                    </a:lnR>
                    <a:lnB w="9525">
                      <a:solidFill>
                        <a:srgbClr val="C9DCDF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3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从真正接触的内容中形成偏好</a:t>
                      </a:r>
                    </a:p>
                  </a:txBody>
                  <a:tcPr marL="133350" marR="133350" marT="114300" marB="95250" anchor="ctr">
                    <a:lnR w="9525">
                      <a:solidFill>
                        <a:srgbClr val="C9DCDF"/>
                      </a:solidFill>
                      <a:prstDash val="solid"/>
                    </a:lnR>
                    <a:lnB w="9525">
                      <a:solidFill>
                        <a:srgbClr val="C9DCDF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3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喜欢与介意可以同时存在</a:t>
                      </a:r>
                    </a:p>
                  </a:txBody>
                  <a:tcPr marL="133350" marR="133350" marT="114300" marB="95250" anchor="ctr">
                    <a:lnL w="9525">
                      <a:solidFill>
                        <a:srgbClr val="C9DCDF"/>
                      </a:solidFill>
                      <a:prstDash val="solid"/>
                    </a:lnL>
                    <a:lnR w="9525">
                      <a:solidFill>
                        <a:srgbClr val="C9DCDF"/>
                      </a:solidFill>
                      <a:prstDash val="solid"/>
                    </a:lnR>
                    <a:lnB w="9525">
                      <a:solidFill>
                        <a:srgbClr val="C9DCDF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3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新话题出现后，旧兴趣仍可保留</a:t>
                      </a:r>
                    </a:p>
                  </a:txBody>
                  <a:tcPr marL="133350" marR="133350" marT="114300" marB="95250" anchor="ctr">
                    <a:lnR w="9525">
                      <a:solidFill>
                        <a:srgbClr val="C9DCDF"/>
                      </a:solidFill>
                      <a:prstDash val="solid"/>
                    </a:lnR>
                    <a:lnB w="9525">
                      <a:solidFill>
                        <a:srgbClr val="C9DCDF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3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认错带来新变化，信任可以慢慢恢复</a:t>
                      </a:r>
                    </a:p>
                  </a:txBody>
                  <a:tcPr marL="133350" marR="133350" marT="114300" marB="95250" anchor="ctr">
                    <a:lnL w="9525">
                      <a:solidFill>
                        <a:srgbClr val="C9DCDF"/>
                      </a:solidFill>
                      <a:prstDash val="solid"/>
                    </a:lnL>
                    <a:lnR w="9525">
                      <a:solidFill>
                        <a:srgbClr val="C9DCDF"/>
                      </a:solidFill>
                      <a:prstDash val="solid"/>
                    </a:lnR>
                    <a:lnB w="9525">
                      <a:solidFill>
                        <a:srgbClr val="C9DCDF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3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按本轮语境选择是否进入上下文</a:t>
                      </a:r>
                    </a:p>
                  </a:txBody>
                  <a:tcPr marL="133350" marR="133350" marT="114300" marB="95250" anchor="ctr">
                    <a:lnR w="9525">
                      <a:solidFill>
                        <a:srgbClr val="C9DCDF"/>
                      </a:solidFill>
                      <a:prstDash val="solid"/>
                    </a:lnR>
                    <a:lnB w="9525">
                      <a:solidFill>
                        <a:srgbClr val="C9DCDF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3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互动次数不会自动晋升关系</a:t>
                      </a:r>
                    </a:p>
                  </a:txBody>
                  <a:tcPr marL="133350" marR="133350" marT="114300" marB="95250" anchor="ctr">
                    <a:lnL w="9525">
                      <a:solidFill>
                        <a:srgbClr val="C9DCDF"/>
                      </a:solidFill>
                      <a:prstDash val="solid"/>
                    </a:lnL>
                    <a:lnR w="9525">
                      <a:solidFill>
                        <a:srgbClr val="C9DCDF"/>
                      </a:solidFill>
                      <a:prstDash val="solid"/>
                    </a:lnR>
                    <a:lnB w="9525">
                      <a:solidFill>
                        <a:srgbClr val="C9DCDF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3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一次提及不会自动成为长期爱好</a:t>
                      </a:r>
                    </a:p>
                  </a:txBody>
                  <a:tcPr marL="133350" marR="133350" marT="114300" marB="95250" anchor="ctr">
                    <a:lnR w="9525">
                      <a:solidFill>
                        <a:srgbClr val="C9DCDF"/>
                      </a:solidFill>
                      <a:prstDash val="solid"/>
                    </a:lnR>
                    <a:lnB w="9525">
                      <a:solidFill>
                        <a:srgbClr val="C9DCDF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</a:tbl>
          </a:graphicData>
        </a:graphic>
      </p:graphicFrame>
      <p:sp>
        <p:nvSpPr>
          <p:cNvPr id="5" name="text-48">
            <a:extLst xmlns:a="http://schemas.openxmlformats.org/drawingml/2006/main">
              <a:ext uri="{FF2B5EF4-FFF2-40B4-BE49-F238E27FC236}">
                <a16:creationId xmlns:a16="http://schemas.microsoft.com/office/drawing/2014/main" id="{608BAF89-B1AB-40A0-9012-3F7980F0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02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325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325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325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325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325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325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325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325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325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pPr>
            <a:r>
              <a:rPr sz="2325" b="0">
                <a:solidFill>
                  <a:srgbClr val="367B72"/>
                </a:solidFill>
                <a:latin typeface="DengXian"/>
                <a:ea typeface="DengXian"/>
                <a:cs typeface="DengXian"/>
              </a:rPr>
              <a:t>表达从当前理解产生，旧记录提供参考。</a:t>
            </a:r>
          </a:p>
        </p:txBody>
      </p:sp>
    </p:spTree>
    <p:extLst>
      <p:ext uri="{BB962C8B-B14F-4D97-AF65-F5344CB8AC3E}">
        <p14:creationId xmlns:p14="http://schemas.microsoft.com/office/powerpoint/2010/main" val="17608201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CD7B6E-ACD0-47D7-A686-CA5206267CB1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620000" y="39243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7B72"/>
            </a:solidFill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B10245-77D1-427F-BC0A-B34DB1002D7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752850" y="39243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7B72"/>
            </a:solidFill>
            <a:tailEnd type="triangle" w="sm" len="sm"/>
          </a:ln>
        </p:spPr>
      </p:cxnSp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D1B04E-E59D-4A5F-BDE6-625EE36F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pPr>
            <a:r>
              <a:rPr sz="3300" b="1">
                <a:solidFill>
                  <a:srgbClr val="173B46"/>
                </a:solidFill>
                <a:latin typeface="DengXian"/>
                <a:ea typeface="DengXian"/>
                <a:cs typeface="DengXian"/>
              </a:rPr>
              <a:t>主动活动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09E5677-6885-4242-97CB-E213FD30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53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text-51">
            <a:extLst xmlns:a="http://schemas.openxmlformats.org/drawingml/2006/main">
              <a:ext uri="{FF2B5EF4-FFF2-40B4-BE49-F238E27FC236}">
                <a16:creationId xmlns:a16="http://schemas.microsoft.com/office/drawing/2014/main" id="{92E136B4-1719-4493-8CF8-31CB9FE0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525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pPr>
            <a:r>
              <a:rPr sz="3000" b="0">
                <a:solidFill>
                  <a:srgbClr val="367B72"/>
                </a:solidFill>
                <a:latin typeface="DengXian"/>
                <a:ea typeface="DengXian"/>
                <a:cs typeface="DengXian"/>
              </a:rPr>
              <a:t>选择由当前生活状态约束</a:t>
            </a:r>
          </a:p>
        </p:txBody>
      </p:sp>
      <p:sp>
        <p:nvSpPr>
          <p:cNvPr id="4" name="text-52">
            <a:extLst xmlns:a="http://schemas.openxmlformats.org/drawingml/2006/main">
              <a:ext uri="{FF2B5EF4-FFF2-40B4-BE49-F238E27FC236}">
                <a16:creationId xmlns:a16="http://schemas.microsoft.com/office/drawing/2014/main" id="{D41361E5-A0BE-4B02-BC9E-53D69B97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1055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注意力、精力、作息与已有牵挂共同参与决策。</a:t>
            </a:r>
          </a:p>
        </p:txBody>
      </p:sp>
      <p:sp>
        <p:nvSpPr>
          <p:cNvPr id="5" name="感知当前处境">
            <a:extLst xmlns:a="http://schemas.openxmlformats.org/drawingml/2006/main">
              <a:ext uri="{FF2B5EF4-FFF2-40B4-BE49-F238E27FC236}">
                <a16:creationId xmlns:a16="http://schemas.microsoft.com/office/drawing/2014/main" id="{6DC685B3-C31F-4F22-B6E8-2A9E42B7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048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8"/>
          </a:solidFill>
          <a:ln xmlns:a="http://schemas.openxmlformats.org/drawingml/2006/main" w="15240">
            <a:solidFill>
              <a:srgbClr val="367B72"/>
            </a:solidFill>
          </a:ln>
        </p:spPr>
      </p:sp>
      <p:sp>
        <p:nvSpPr>
          <p:cNvPr id="6" name="text-53">
            <a:extLst xmlns:a="http://schemas.openxmlformats.org/drawingml/2006/main">
              <a:ext uri="{FF2B5EF4-FFF2-40B4-BE49-F238E27FC236}">
                <a16:creationId xmlns:a16="http://schemas.microsoft.com/office/drawing/2014/main" id="{B3965389-3573-4B94-8C60-136AA396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rPr>
              <a:t>感知当前处境</a:t>
            </a:r>
          </a:p>
        </p:txBody>
      </p:sp>
      <p:sp>
        <p:nvSpPr>
          <p:cNvPr id="7" name="text-54">
            <a:extLst xmlns:a="http://schemas.openxmlformats.org/drawingml/2006/main">
              <a:ext uri="{FF2B5EF4-FFF2-40B4-BE49-F238E27FC236}">
                <a16:creationId xmlns:a16="http://schemas.microsoft.com/office/drawing/2014/main" id="{1C6AAC76-8F59-443B-A460-B01C38A3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270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来信、阅读结果、时间和身体状态</a:t>
            </a:r>
          </a:p>
        </p:txBody>
      </p:sp>
      <p:sp>
        <p:nvSpPr>
          <p:cNvPr id="8" name="选择活动">
            <a:extLst xmlns:a="http://schemas.openxmlformats.org/drawingml/2006/main">
              <a:ext uri="{FF2B5EF4-FFF2-40B4-BE49-F238E27FC236}">
                <a16:creationId xmlns:a16="http://schemas.microsoft.com/office/drawing/2014/main" id="{68649911-8DCE-4754-9B1F-CC36940F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95650"/>
            <a:ext cx="3048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8"/>
          </a:solidFill>
          <a:ln xmlns:a="http://schemas.openxmlformats.org/drawingml/2006/main" w="15240">
            <a:solidFill>
              <a:srgbClr val="367B72"/>
            </a:solidFill>
          </a:ln>
        </p:spPr>
      </p:sp>
      <p:sp>
        <p:nvSpPr>
          <p:cNvPr id="9" name="text-55">
            <a:extLst xmlns:a="http://schemas.openxmlformats.org/drawingml/2006/main">
              <a:ext uri="{FF2B5EF4-FFF2-40B4-BE49-F238E27FC236}">
                <a16:creationId xmlns:a16="http://schemas.microsoft.com/office/drawing/2014/main" id="{6CF6D6ED-15CB-4A55-AFC1-A2BE5112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44805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rPr>
              <a:t>选择活动</a:t>
            </a:r>
          </a:p>
        </p:txBody>
      </p:sp>
      <p:sp>
        <p:nvSpPr>
          <p:cNvPr id="10" name="text-56">
            <a:extLst xmlns:a="http://schemas.openxmlformats.org/drawingml/2006/main">
              <a:ext uri="{FF2B5EF4-FFF2-40B4-BE49-F238E27FC236}">
                <a16:creationId xmlns:a16="http://schemas.microsoft.com/office/drawing/2014/main" id="{68F1047D-15AF-45FA-9E76-96D0FBA0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67150"/>
            <a:ext cx="270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聊天、浏览、学习、休息或暂不行动</a:t>
            </a:r>
          </a:p>
        </p:txBody>
      </p:sp>
      <p:sp>
        <p:nvSpPr>
          <p:cNvPr id="11" name="核对实际结果">
            <a:extLst xmlns:a="http://schemas.openxmlformats.org/drawingml/2006/main">
              <a:ext uri="{FF2B5EF4-FFF2-40B4-BE49-F238E27FC236}">
                <a16:creationId xmlns:a16="http://schemas.microsoft.com/office/drawing/2014/main" id="{84552BA0-CDED-4D3A-9C14-12DA62AC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95650"/>
            <a:ext cx="3048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8"/>
          </a:solidFill>
          <a:ln xmlns:a="http://schemas.openxmlformats.org/drawingml/2006/main" w="15240">
            <a:solidFill>
              <a:srgbClr val="367B72"/>
            </a:solidFill>
          </a:ln>
        </p:spPr>
      </p:sp>
      <p:sp>
        <p:nvSpPr>
          <p:cNvPr id="12" name="text-57">
            <a:extLst xmlns:a="http://schemas.openxmlformats.org/drawingml/2006/main">
              <a:ext uri="{FF2B5EF4-FFF2-40B4-BE49-F238E27FC236}">
                <a16:creationId xmlns:a16="http://schemas.microsoft.com/office/drawing/2014/main" id="{2696FF41-4A77-4D80-82CA-E0350EF9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4805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rPr>
              <a:t>核对实际结果</a:t>
            </a:r>
          </a:p>
        </p:txBody>
      </p:sp>
      <p:sp>
        <p:nvSpPr>
          <p:cNvPr id="13" name="text-58">
            <a:extLst xmlns:a="http://schemas.openxmlformats.org/drawingml/2006/main">
              <a:ext uri="{FF2B5EF4-FFF2-40B4-BE49-F238E27FC236}">
                <a16:creationId xmlns:a16="http://schemas.microsoft.com/office/drawing/2014/main" id="{31CC66B4-2617-4BC2-B215-658C4599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70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工具回执、失败、未知与后续记录</a:t>
            </a:r>
          </a:p>
        </p:txBody>
      </p:sp>
      <p:sp>
        <p:nvSpPr>
          <p:cNvPr id="16" name="text-59">
            <a:extLst xmlns:a="http://schemas.openxmlformats.org/drawingml/2006/main">
              <a:ext uri="{FF2B5EF4-FFF2-40B4-BE49-F238E27FC236}">
                <a16:creationId xmlns:a16="http://schemas.microsoft.com/office/drawing/2014/main" id="{E09CEBA2-9828-4C6F-8613-49B14BAA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没有发生的自由行为不会写成已完成。结果不确定时保留 unknown，避免自动重复外发。</a:t>
            </a:r>
          </a:p>
        </p:txBody>
      </p:sp>
    </p:spTree>
    <p:extLst>
      <p:ext uri="{BB962C8B-B14F-4D97-AF65-F5344CB8AC3E}">
        <p14:creationId xmlns:p14="http://schemas.microsoft.com/office/powerpoint/2010/main" val="15626869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E2A09E-2B8E-4BB6-9EE1-C9EE04DF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pPr>
            <a:r>
              <a:rPr sz="3300" b="1">
                <a:solidFill>
                  <a:srgbClr val="173B46"/>
                </a:solidFill>
                <a:latin typeface="DengXian"/>
                <a:ea typeface="DengXian"/>
                <a:cs typeface="DengXian"/>
              </a:rPr>
              <a:t>行动与边界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A937EE6-376A-436B-A15B-21124D2A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38250"/>
            <a:ext cx="10744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权限由宿主、角色和通道共同约束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81C7A45-68D1-47D5-9129-D50A9C3E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53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4116E3-0FF6-45ED-B991-1297E2043042}"/>
              </a:ext>
            </a:extLst>
          </p:cNvPr>
          <p:cNvGraphicFramePr/>
          <p:nvPr/>
        </p:nvGraphicFramePr>
        <p:xfrm>
          <a:off xmlns:a="http://schemas.openxmlformats.org/drawingml/2006/main" x="704850" y="2028825"/>
          <a:ext xmlns:a="http://schemas.openxmlformats.org/drawingml/2006/main" cx="10782300" cy="3476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76500"/>
                <a:gridCol w="8305800"/>
              </a:tblGrid>
              <a:tr h="57943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</a:t>
                      </a:r>
                    </a:p>
                  </a:txBody>
                  <a:tcPr marL="133350" marR="133350" marT="114300" marB="95250" anchor="ctr">
                    <a:lnL w="9525">
                      <a:solidFill>
                        <a:srgbClr val="C9DCDF"/>
                      </a:solidFill>
                      <a:prstDash val="solid"/>
                    </a:lnL>
                    <a:lnR w="9525">
                      <a:solidFill>
                        <a:srgbClr val="C9DCDF"/>
                      </a:solidFill>
                      <a:prstDash val="solid"/>
                    </a:lnR>
                    <a:lnT w="9525">
                      <a:solidFill>
                        <a:srgbClr val="C9DCDF"/>
                      </a:solidFill>
                      <a:prstDash val="solid"/>
                    </a:lnT>
                    <a:lnB w="9525">
                      <a:solidFill>
                        <a:srgbClr val="C9DCDF"/>
                      </a:solidFill>
                      <a:prstDash val="solid"/>
                    </a:lnB>
                    <a:solidFill>
                      <a:srgbClr val="367B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能力与门槛</a:t>
                      </a:r>
                    </a:p>
                  </a:txBody>
                  <a:tcPr marL="133350" marR="133350" marT="114300" marB="95250" anchor="ctr">
                    <a:lnR w="9525">
                      <a:solidFill>
                        <a:srgbClr val="C9DCDF"/>
                      </a:solidFill>
                      <a:prstDash val="solid"/>
                    </a:lnR>
                    <a:lnT w="9525">
                      <a:solidFill>
                        <a:srgbClr val="C9DCDF"/>
                      </a:solidFill>
                      <a:prstDash val="solid"/>
                    </a:lnT>
                    <a:lnB w="9525">
                      <a:solidFill>
                        <a:srgbClr val="C9DCDF"/>
                      </a:solidFill>
                      <a:prstDash val="solid"/>
                    </a:lnB>
                    <a:solidFill>
                      <a:srgbClr val="367B72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读取世界</a:t>
                      </a:r>
                    </a:p>
                  </a:txBody>
                  <a:tcPr marL="133350" marR="133350" marT="114300" marB="95250" anchor="ctr">
                    <a:lnL w="9525">
                      <a:solidFill>
                        <a:srgbClr val="C9DCDF"/>
                      </a:solidFill>
                      <a:prstDash val="solid"/>
                    </a:lnL>
                    <a:lnR w="9525">
                      <a:solidFill>
                        <a:srgbClr val="C9DCDF"/>
                      </a:solidFill>
                      <a:prstDash val="solid"/>
                    </a:lnR>
                    <a:lnB w="9525">
                      <a:solidFill>
                        <a:srgbClr val="C9DCDF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来源适配、登录和地址检查，保留实际读取范围</a:t>
                      </a:r>
                    </a:p>
                  </a:txBody>
                  <a:tcPr marL="133350" marR="133350" marT="114300" marB="95250" anchor="ctr">
                    <a:lnR w="9525">
                      <a:solidFill>
                        <a:srgbClr val="C9DCDF"/>
                      </a:solidFill>
                      <a:prstDash val="solid"/>
                    </a:lnR>
                    <a:lnB w="9525">
                      <a:solidFill>
                        <a:srgbClr val="C9DCDF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通信与公开互动</a:t>
                      </a:r>
                    </a:p>
                  </a:txBody>
                  <a:tcPr marL="133350" marR="133350" marT="114300" marB="95250" anchor="ctr">
                    <a:lnL w="9525">
                      <a:solidFill>
                        <a:srgbClr val="C9DCDF"/>
                      </a:solidFill>
                      <a:prstDash val="solid"/>
                    </a:lnL>
                    <a:lnR w="9525">
                      <a:solidFill>
                        <a:srgbClr val="C9DCDF"/>
                      </a:solidFill>
                      <a:prstDash val="solid"/>
                    </a:lnR>
                    <a:lnB w="9525">
                      <a:solidFill>
                        <a:srgbClr val="C9DCDF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会话授权、平台开关、频率与去重，按动作核验回执</a:t>
                      </a:r>
                    </a:p>
                  </a:txBody>
                  <a:tcPr marL="133350" marR="133350" marT="114300" marB="95250" anchor="ctr">
                    <a:lnR w="9525">
                      <a:solidFill>
                        <a:srgbClr val="C9DCDF"/>
                      </a:solidFill>
                      <a:prstDash val="solid"/>
                    </a:lnR>
                    <a:lnB w="9525">
                      <a:solidFill>
                        <a:srgbClr val="C9DCDF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独立工作</a:t>
                      </a:r>
                    </a:p>
                  </a:txBody>
                  <a:tcPr marL="133350" marR="133350" marT="114300" marB="95250" anchor="ctr">
                    <a:lnL w="9525">
                      <a:solidFill>
                        <a:srgbClr val="C9DCDF"/>
                      </a:solidFill>
                      <a:prstDash val="solid"/>
                    </a:lnL>
                    <a:lnR w="9525">
                      <a:solidFill>
                        <a:srgbClr val="C9DCDF"/>
                      </a:solidFill>
                      <a:prstDash val="solid"/>
                    </a:lnR>
                    <a:lnB w="9525">
                      <a:solidFill>
                        <a:srgbClr val="C9DCDF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管理员委托到独立 DSH 任务，不占用人格聊天循环</a:t>
                      </a:r>
                    </a:p>
                  </a:txBody>
                  <a:tcPr marL="133350" marR="133350" marT="114300" marB="95250" anchor="ctr">
                    <a:lnR w="9525">
                      <a:solidFill>
                        <a:srgbClr val="C9DCDF"/>
                      </a:solidFill>
                      <a:prstDash val="solid"/>
                    </a:lnR>
                    <a:lnB w="9525">
                      <a:solidFill>
                        <a:srgbClr val="C9DCDF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受限创造</a:t>
                      </a:r>
                    </a:p>
                  </a:txBody>
                  <a:tcPr marL="133350" marR="133350" marT="114300" marB="95250" anchor="ctr">
                    <a:lnL w="9525">
                      <a:solidFill>
                        <a:srgbClr val="C9DCDF"/>
                      </a:solidFill>
                      <a:prstDash val="solid"/>
                    </a:lnL>
                    <a:lnR w="9525">
                      <a:solidFill>
                        <a:srgbClr val="C9DCDF"/>
                      </a:solidFill>
                      <a:prstDash val="solid"/>
                    </a:lnR>
                    <a:lnB w="9525">
                      <a:solidFill>
                        <a:srgbClr val="C9DCDF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学习、开发与技能草稿经受限门面执行，默认关闭</a:t>
                      </a:r>
                    </a:p>
                  </a:txBody>
                  <a:tcPr marL="133350" marR="133350" marT="114300" marB="95250" anchor="ctr">
                    <a:lnR w="9525">
                      <a:solidFill>
                        <a:srgbClr val="C9DCDF"/>
                      </a:solidFill>
                      <a:prstDash val="solid"/>
                    </a:lnR>
                    <a:lnB w="9525">
                      <a:solidFill>
                        <a:srgbClr val="C9DCDF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固定边界</a:t>
                      </a:r>
                    </a:p>
                  </a:txBody>
                  <a:tcPr marL="133350" marR="133350" marT="114300" marB="95250" anchor="ctr">
                    <a:lnL w="9525">
                      <a:solidFill>
                        <a:srgbClr val="C9DCDF"/>
                      </a:solidFill>
                      <a:prstDash val="solid"/>
                    </a:lnL>
                    <a:lnR w="9525">
                      <a:solidFill>
                        <a:srgbClr val="C9DCDF"/>
                      </a:solidFill>
                      <a:prstDash val="solid"/>
                    </a:lnR>
                    <a:lnB w="9525">
                      <a:solidFill>
                        <a:srgbClr val="C9DCDF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聊天与资料不能授予命令、提权、安装或额外外发权限</a:t>
                      </a:r>
                    </a:p>
                  </a:txBody>
                  <a:tcPr marL="133350" marR="133350" marT="114300" marB="95250" anchor="ctr">
                    <a:lnR w="9525">
                      <a:solidFill>
                        <a:srgbClr val="C9DCDF"/>
                      </a:solidFill>
                      <a:prstDash val="solid"/>
                    </a:lnR>
                    <a:lnB w="9525">
                      <a:solidFill>
                        <a:srgbClr val="C9DCDF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</a:tbl>
          </a:graphicData>
        </a:graphic>
      </p:graphicFrame>
      <p:sp>
        <p:nvSpPr>
          <p:cNvPr id="5" name="text-63">
            <a:extLst xmlns:a="http://schemas.openxmlformats.org/drawingml/2006/main">
              <a:ext uri="{FF2B5EF4-FFF2-40B4-BE49-F238E27FC236}">
                <a16:creationId xmlns:a16="http://schemas.microsoft.com/office/drawing/2014/main" id="{F7108C8E-7DF5-4549-8A01-0797E618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rPr>
              <a:t>能力已接入、开关已开启、账号已登录、动作已实测，需要分别核对。</a:t>
            </a:r>
          </a:p>
        </p:txBody>
      </p:sp>
    </p:spTree>
    <p:extLst>
      <p:ext uri="{BB962C8B-B14F-4D97-AF65-F5344CB8AC3E}">
        <p14:creationId xmlns:p14="http://schemas.microsoft.com/office/powerpoint/2010/main" val="12199523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334A8E5-C2E6-4C57-9708-B470961B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pPr>
            <a:r>
              <a:rPr sz="3300" b="1">
                <a:solidFill>
                  <a:srgbClr val="173B46"/>
                </a:solidFill>
                <a:latin typeface="DengXian"/>
                <a:ea typeface="DengXian"/>
                <a:cs typeface="DengXian"/>
              </a:rPr>
              <a:t>生活台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A5A7C98-AA4D-483B-8B98-455E0A11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38250"/>
            <a:ext cx="10744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当前状态、内心、记忆与连接汇集在同一个管理入口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37504C7-5D35-4EF0-864E-CF1960C7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53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BFC7B-53F8-4659-B1D4-B9D168C07A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591868afd4d9b"/>
          <a:stretch xmlns:a="http://schemas.openxmlformats.org/drawingml/2006/main"/>
        </p:blipFill>
        <p:spPr>
          <a:xfrm xmlns:a="http://schemas.openxmlformats.org/drawingml/2006/main">
            <a:off x="2262957" y="1847850"/>
            <a:ext cx="7666087" cy="4314825"/>
          </a:xfrm>
          <a:prstGeom xmlns:a="http://schemas.openxmlformats.org/drawingml/2006/main" prst="rect">
            <a:avLst/>
          </a:prstGeom>
        </p:spPr>
      </p:pic>
      <p:sp>
        <p:nvSpPr>
          <p:cNvPr id="5" name="text-67">
            <a:extLst xmlns:a="http://schemas.openxmlformats.org/drawingml/2006/main">
              <a:ext uri="{FF2B5EF4-FFF2-40B4-BE49-F238E27FC236}">
                <a16:creationId xmlns:a16="http://schemas.microsoft.com/office/drawing/2014/main" id="{AF74FE07-E27B-4879-8DF4-8BB1B0A3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72200"/>
            <a:ext cx="952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rPr>
              <a:t>合成数据界面预览</a:t>
            </a:r>
          </a:p>
        </p:txBody>
      </p:sp>
    </p:spTree>
    <p:extLst>
      <p:ext uri="{BB962C8B-B14F-4D97-AF65-F5344CB8AC3E}">
        <p14:creationId xmlns:p14="http://schemas.microsoft.com/office/powerpoint/2010/main" val="2739986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F42832-5DF9-47C3-8D3B-6836B65E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pPr>
            <a:r>
              <a:rPr sz="3300" b="1">
                <a:solidFill>
                  <a:srgbClr val="173B46"/>
                </a:solidFill>
                <a:latin typeface="DengXian"/>
                <a:ea typeface="DengXian"/>
                <a:cs typeface="DengXian"/>
              </a:rPr>
              <a:t>DSH 插件与对话入口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7F502C8-8081-42FB-BC17-D4A73014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53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text-70">
            <a:extLst xmlns:a="http://schemas.openxmlformats.org/drawingml/2006/main">
              <a:ext uri="{FF2B5EF4-FFF2-40B4-BE49-F238E27FC236}">
                <a16:creationId xmlns:a16="http://schemas.microsoft.com/office/drawing/2014/main" id="{EF25B3FC-B75F-4439-81F9-985B73BA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925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925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925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925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925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925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925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925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925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925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pPr>
            <a:r>
              <a:rPr sz="2925" b="0">
                <a:solidFill>
                  <a:srgbClr val="367B72"/>
                </a:solidFill>
                <a:latin typeface="DengXian"/>
                <a:ea typeface="DengXian"/>
                <a:cs typeface="DengXian"/>
              </a:rPr>
              <a:t>DSH 承载推理与工具，肥鱼延续同一份角色生活</a:t>
            </a:r>
          </a:p>
        </p:txBody>
      </p:sp>
      <p:sp>
        <p:nvSpPr>
          <p:cNvPr id="4" name="text-71">
            <a:extLst xmlns:a="http://schemas.openxmlformats.org/drawingml/2006/main">
              <a:ext uri="{FF2B5EF4-FFF2-40B4-BE49-F238E27FC236}">
                <a16:creationId xmlns:a16="http://schemas.microsoft.com/office/drawing/2014/main" id="{8CB21F6B-F406-4459-9F9A-E1794848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86025"/>
            <a:ext cx="10458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rPr>
              <a:t>六个默认 DSH 插件，使用独立 profile feiyu</a:t>
            </a:r>
          </a:p>
        </p:txBody>
      </p:sp>
      <p:sp>
        <p:nvSpPr>
          <p:cNvPr id="5" name="separator">
            <a:extLst xmlns:a="http://schemas.openxmlformats.org/drawingml/2006/main">
              <a:ext uri="{FF2B5EF4-FFF2-40B4-BE49-F238E27FC236}">
                <a16:creationId xmlns:a16="http://schemas.microsoft.com/office/drawing/2014/main" id="{5723740F-DABE-4BC1-9D88-7428CBE0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CDF"/>
            </a:solidFill>
          </a:ln>
        </p:spPr>
      </p:sp>
      <p:sp>
        <p:nvSpPr>
          <p:cNvPr id="6" name="text-72">
            <a:extLst xmlns:a="http://schemas.openxmlformats.org/drawingml/2006/main">
              <a:ext uri="{FF2B5EF4-FFF2-40B4-BE49-F238E27FC236}">
                <a16:creationId xmlns:a16="http://schemas.microsoft.com/office/drawing/2014/main" id="{D46D1682-3A3A-4F78-BB45-C9C63E87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05225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pPr>
            <a:r>
              <a:rPr sz="2325" b="1">
                <a:solidFill>
                  <a:srgbClr val="173B46"/>
                </a:solidFill>
                <a:latin typeface="DengXian"/>
                <a:ea typeface="DengXian"/>
                <a:cs typeface="DengXian"/>
              </a:rPr>
              <a:t>快捷键语音与弹幕小窗</a:t>
            </a:r>
          </a:p>
        </p:txBody>
      </p:sp>
      <p:sp>
        <p:nvSpPr>
          <p:cNvPr id="7" name="text-73">
            <a:extLst xmlns:a="http://schemas.openxmlformats.org/drawingml/2006/main">
              <a:ext uri="{FF2B5EF4-FFF2-40B4-BE49-F238E27FC236}">
                <a16:creationId xmlns:a16="http://schemas.microsoft.com/office/drawing/2014/main" id="{73E1DD98-5A51-47B1-8BEA-32DFB302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51816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Ctrl + Alt + Space 录音切换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小窗支持文字、取消与托盘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两种入口接入同一肥鱼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B6C8EA-BF51-4BEB-A524-C77C00B96E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e03c0bc37048be"/>
          <a:stretch xmlns:a="http://schemas.openxmlformats.org/drawingml/2006/main"/>
        </p:blipFill>
        <p:spPr>
          <a:xfrm xmlns:a="http://schemas.openxmlformats.org/drawingml/2006/main">
            <a:off x="7216775" y="3533775"/>
            <a:ext cx="3378200" cy="2533650"/>
          </a:xfrm>
          <a:prstGeom xmlns:a="http://schemas.openxmlformats.org/drawingml/2006/main" prst="rect">
            <a:avLst/>
          </a:prstGeom>
        </p:spPr>
      </p:pic>
      <p:sp>
        <p:nvSpPr>
          <p:cNvPr id="9" name="text-74">
            <a:extLst xmlns:a="http://schemas.openxmlformats.org/drawingml/2006/main">
              <a:ext uri="{FF2B5EF4-FFF2-40B4-BE49-F238E27FC236}">
                <a16:creationId xmlns:a16="http://schemas.microsoft.com/office/drawing/2014/main" id="{641211DF-202B-48FF-B672-0DA15F8D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6124575"/>
            <a:ext cx="4819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rPr>
              <a:t>合成 WAV 与本机 HTTP 夹具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rPr>
              <a:t>Qt 离屏渲染，未实录/播放/注册全局键</a:t>
            </a:r>
          </a:p>
        </p:txBody>
      </p:sp>
      <p:sp>
        <p:nvSpPr>
          <p:cNvPr id="10" name="text-75">
            <a:extLst xmlns:a="http://schemas.openxmlformats.org/drawingml/2006/main">
              <a:ext uri="{FF2B5EF4-FFF2-40B4-BE49-F238E27FC236}">
                <a16:creationId xmlns:a16="http://schemas.microsoft.com/office/drawing/2014/main" id="{D59BFEFA-361C-4D9B-812D-77899030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529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首次配置后使用统一启动入口</a:t>
            </a:r>
          </a:p>
        </p:txBody>
      </p:sp>
    </p:spTree>
    <p:extLst>
      <p:ext uri="{BB962C8B-B14F-4D97-AF65-F5344CB8AC3E}">
        <p14:creationId xmlns:p14="http://schemas.microsoft.com/office/powerpoint/2010/main" val="15962859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4E3BED-7B0B-4355-BCFA-FC5EBA16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pPr>
            <a:r>
              <a:rPr sz="3300" b="1">
                <a:solidFill>
                  <a:srgbClr val="173B46"/>
                </a:solidFill>
                <a:latin typeface="DengXian"/>
                <a:ea typeface="DengXian"/>
                <a:cs typeface="DengXian"/>
              </a:rPr>
              <a:t>安装与第一次使用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DC79B2B-49FF-429F-B7AE-A49CF437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38250"/>
            <a:ext cx="10744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从可核验的最小链路开始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06BCA57-58B3-47AF-864D-BC040A44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53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text-79">
            <a:extLst xmlns:a="http://schemas.openxmlformats.org/drawingml/2006/main">
              <a:ext uri="{FF2B5EF4-FFF2-40B4-BE49-F238E27FC236}">
                <a16:creationId xmlns:a16="http://schemas.microsoft.com/office/drawing/2014/main" id="{958D9746-3F3F-480A-841A-96876971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621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pPr>
            <a:r>
              <a:rPr sz="3000" b="0">
                <a:solidFill>
                  <a:srgbClr val="367B72"/>
                </a:solidFill>
                <a:latin typeface="DengXian"/>
                <a:ea typeface="DengXian"/>
                <a:cs typeface="DengXian"/>
              </a:rPr>
              <a:t>01</a:t>
            </a:r>
          </a:p>
        </p:txBody>
      </p:sp>
      <p:sp>
        <p:nvSpPr>
          <p:cNvPr id="5" name="text-80">
            <a:extLst xmlns:a="http://schemas.openxmlformats.org/drawingml/2006/main">
              <a:ext uri="{FF2B5EF4-FFF2-40B4-BE49-F238E27FC236}">
                <a16:creationId xmlns:a16="http://schemas.microsoft.com/office/drawing/2014/main" id="{720AF6DE-4D32-4F27-9C67-D8743C53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0002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rPr>
              <a:t>解压发布包，运行 start.cmd 或 启动肥鱼.cmd</a:t>
            </a:r>
          </a:p>
        </p:txBody>
      </p:sp>
      <p:sp>
        <p:nvSpPr>
          <p:cNvPr id="6" name="separator">
            <a:extLst xmlns:a="http://schemas.openxmlformats.org/drawingml/2006/main">
              <a:ext uri="{FF2B5EF4-FFF2-40B4-BE49-F238E27FC236}">
                <a16:creationId xmlns:a16="http://schemas.microsoft.com/office/drawing/2014/main" id="{6BC033F4-24EE-4D87-9285-DC5E08FD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2415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CDF"/>
            </a:solidFill>
          </a:ln>
        </p:spPr>
      </p:sp>
      <p:sp>
        <p:nvSpPr>
          <p:cNvPr id="7" name="text-81">
            <a:extLst xmlns:a="http://schemas.openxmlformats.org/drawingml/2006/main">
              <a:ext uri="{FF2B5EF4-FFF2-40B4-BE49-F238E27FC236}">
                <a16:creationId xmlns:a16="http://schemas.microsoft.com/office/drawing/2014/main" id="{263F0AA9-A963-4CFD-A305-97BA082B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pPr>
            <a:r>
              <a:rPr sz="3000" b="0">
                <a:solidFill>
                  <a:srgbClr val="367B72"/>
                </a:solidFill>
                <a:latin typeface="DengXian"/>
                <a:ea typeface="DengXian"/>
                <a:cs typeface="DengXian"/>
              </a:rPr>
              <a:t>02</a:t>
            </a:r>
          </a:p>
        </p:txBody>
      </p:sp>
      <p:sp>
        <p:nvSpPr>
          <p:cNvPr id="8" name="text-82">
            <a:extLst xmlns:a="http://schemas.openxmlformats.org/drawingml/2006/main">
              <a:ext uri="{FF2B5EF4-FFF2-40B4-BE49-F238E27FC236}">
                <a16:creationId xmlns:a16="http://schemas.microsoft.com/office/drawing/2014/main" id="{3F849B3F-0D98-4D5A-B1EA-C919A7E7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9527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rPr>
              <a:t>按首次向导配置模型或已有网关</a:t>
            </a:r>
          </a:p>
        </p:txBody>
      </p:sp>
      <p:sp>
        <p:nvSpPr>
          <p:cNvPr id="9" name="separator">
            <a:extLst xmlns:a="http://schemas.openxmlformats.org/drawingml/2006/main">
              <a:ext uri="{FF2B5EF4-FFF2-40B4-BE49-F238E27FC236}">
                <a16:creationId xmlns:a16="http://schemas.microsoft.com/office/drawing/2014/main" id="{08C18E62-B355-4FBB-95D0-73B5DE79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7665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CDF"/>
            </a:solidFill>
          </a:ln>
        </p:spPr>
      </p:sp>
      <p:sp>
        <p:nvSpPr>
          <p:cNvPr id="10" name="text-83">
            <a:extLst xmlns:a="http://schemas.openxmlformats.org/drawingml/2006/main">
              <a:ext uri="{FF2B5EF4-FFF2-40B4-BE49-F238E27FC236}">
                <a16:creationId xmlns:a16="http://schemas.microsoft.com/office/drawing/2014/main" id="{D130C6D3-5933-4B3C-A03C-C7D58A54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671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pPr>
            <a:r>
              <a:rPr sz="3000" b="0">
                <a:solidFill>
                  <a:srgbClr val="367B72"/>
                </a:solidFill>
                <a:latin typeface="DengXian"/>
                <a:ea typeface="DengXian"/>
                <a:cs typeface="DengXian"/>
              </a:rPr>
              <a:t>03</a:t>
            </a:r>
          </a:p>
        </p:txBody>
      </p:sp>
      <p:sp>
        <p:nvSpPr>
          <p:cNvPr id="11" name="text-84">
            <a:extLst xmlns:a="http://schemas.openxmlformats.org/drawingml/2006/main">
              <a:ext uri="{FF2B5EF4-FFF2-40B4-BE49-F238E27FC236}">
                <a16:creationId xmlns:a16="http://schemas.microsoft.com/office/drawing/2014/main" id="{CFA363C7-163C-4622-A23E-B9745E0D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052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rPr>
              <a:t>安装依赖，建立独立 DSH profile feiyu</a:t>
            </a:r>
          </a:p>
        </p:txBody>
      </p:sp>
      <p:sp>
        <p:nvSpPr>
          <p:cNvPr id="12" name="separator">
            <a:extLst xmlns:a="http://schemas.openxmlformats.org/drawingml/2006/main">
              <a:ext uri="{FF2B5EF4-FFF2-40B4-BE49-F238E27FC236}">
                <a16:creationId xmlns:a16="http://schemas.microsoft.com/office/drawing/2014/main" id="{21AF36D8-947E-44B9-AD3B-2DB5610E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62915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CDF"/>
            </a:solidFill>
          </a:ln>
        </p:spPr>
      </p:sp>
      <p:sp>
        <p:nvSpPr>
          <p:cNvPr id="13" name="text-85">
            <a:extLst xmlns:a="http://schemas.openxmlformats.org/drawingml/2006/main">
              <a:ext uri="{FF2B5EF4-FFF2-40B4-BE49-F238E27FC236}">
                <a16:creationId xmlns:a16="http://schemas.microsoft.com/office/drawing/2014/main" id="{3C3A5692-DBDE-4E35-AF27-E0EFE4DC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96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00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pPr>
            <a:r>
              <a:rPr sz="3000" b="0">
                <a:solidFill>
                  <a:srgbClr val="367B72"/>
                </a:solidFill>
                <a:latin typeface="DengXian"/>
                <a:ea typeface="DengXian"/>
                <a:cs typeface="DengXian"/>
              </a:rPr>
              <a:t>04</a:t>
            </a:r>
          </a:p>
        </p:txBody>
      </p:sp>
      <p:sp>
        <p:nvSpPr>
          <p:cNvPr id="14" name="text-86">
            <a:extLst xmlns:a="http://schemas.openxmlformats.org/drawingml/2006/main">
              <a:ext uri="{FF2B5EF4-FFF2-40B4-BE49-F238E27FC236}">
                <a16:creationId xmlns:a16="http://schemas.microsoft.com/office/drawing/2014/main" id="{0510F2F0-3457-4D04-8A82-EE86EE12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8577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rPr>
              <a:t>核对语音和小窗，按需登录各平台账号</a:t>
            </a:r>
          </a:p>
        </p:txBody>
      </p:sp>
      <p:sp>
        <p:nvSpPr>
          <p:cNvPr id="15" name="text-87">
            <a:extLst xmlns:a="http://schemas.openxmlformats.org/drawingml/2006/main">
              <a:ext uri="{FF2B5EF4-FFF2-40B4-BE49-F238E27FC236}">
                <a16:creationId xmlns:a16="http://schemas.microsoft.com/office/drawing/2014/main" id="{849FB0A6-55FD-4D87-BE7E-FA23FD6D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72175"/>
            <a:ext cx="1052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首次需要配置模型或网关。平台账号登录由使用者完成。</a:t>
            </a:r>
          </a:p>
        </p:txBody>
      </p:sp>
    </p:spTree>
    <p:extLst>
      <p:ext uri="{BB962C8B-B14F-4D97-AF65-F5344CB8AC3E}">
        <p14:creationId xmlns:p14="http://schemas.microsoft.com/office/powerpoint/2010/main" val="1334276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2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E1DB49-7BCC-4C74-95EE-6806E6DA759A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6096000" y="3895725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7B72"/>
            </a:solidFill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790668-988B-4BEE-86F6-85529C2BFCD7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667625" y="3209925"/>
            <a:ext cx="1009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7B72"/>
            </a:solidFill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689FA6-64A0-4627-9C23-064BA645FD2C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514725" y="3209925"/>
            <a:ext cx="1009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7B72"/>
            </a:solidFill>
            <a:tailEnd type="triangle" w="sm" len="sm"/>
          </a:ln>
        </p:spPr>
      </p:cxnSp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0D3A6F7-171D-4AB7-AB24-83A86C34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pPr>
            <a:r>
              <a:rPr sz="3300" b="1">
                <a:solidFill>
                  <a:srgbClr val="173B46"/>
                </a:solidFill>
                <a:latin typeface="DengXian"/>
                <a:ea typeface="DengXian"/>
                <a:cs typeface="DengXian"/>
              </a:rPr>
              <a:t>架构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D27BDD0-C01C-4BCF-BDE1-F667935C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38250"/>
            <a:ext cx="10744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来源与通道接入同一角色，工具在权限边界内执行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F761D50-5632-4D2B-9195-B343CC83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53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来源与通信通道">
            <a:extLst xmlns:a="http://schemas.openxmlformats.org/drawingml/2006/main">
              <a:ext uri="{FF2B5EF4-FFF2-40B4-BE49-F238E27FC236}">
                <a16:creationId xmlns:a16="http://schemas.microsoft.com/office/drawing/2014/main" id="{BCDE6C64-DEDE-454C-BD4B-0608F74A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28098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8"/>
          </a:solidFill>
          <a:ln xmlns:a="http://schemas.openxmlformats.org/drawingml/2006/main" w="15240">
            <a:solidFill>
              <a:srgbClr val="367B72"/>
            </a:solidFill>
          </a:ln>
        </p:spPr>
      </p:sp>
      <p:sp>
        <p:nvSpPr>
          <p:cNvPr id="5" name="text-91">
            <a:extLst xmlns:a="http://schemas.openxmlformats.org/drawingml/2006/main">
              <a:ext uri="{FF2B5EF4-FFF2-40B4-BE49-F238E27FC236}">
                <a16:creationId xmlns:a16="http://schemas.microsoft.com/office/drawing/2014/main" id="{8571E7FD-AFC4-43A9-AA2E-D5310C08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76525"/>
            <a:ext cx="2466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rPr>
              <a:t>来源与通信通道</a:t>
            </a:r>
          </a:p>
        </p:txBody>
      </p:sp>
      <p:sp>
        <p:nvSpPr>
          <p:cNvPr id="6" name="text-92">
            <a:extLst xmlns:a="http://schemas.openxmlformats.org/drawingml/2006/main">
              <a:ext uri="{FF2B5EF4-FFF2-40B4-BE49-F238E27FC236}">
                <a16:creationId xmlns:a16="http://schemas.microsoft.com/office/drawing/2014/main" id="{378A464A-6EB9-4BC8-840D-432F3015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95625"/>
            <a:ext cx="24669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QQ、桌面对话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网页、平台和文件</a:t>
            </a:r>
          </a:p>
        </p:txBody>
      </p:sp>
      <p:sp>
        <p:nvSpPr>
          <p:cNvPr id="7" name="肥鱼角色循环">
            <a:extLst xmlns:a="http://schemas.openxmlformats.org/drawingml/2006/main">
              <a:ext uri="{FF2B5EF4-FFF2-40B4-BE49-F238E27FC236}">
                <a16:creationId xmlns:a16="http://schemas.microsoft.com/office/drawing/2014/main" id="{8BC8B16A-D0CE-4A81-89A0-2E1DDB02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24125"/>
            <a:ext cx="31432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8"/>
          </a:solidFill>
          <a:ln xmlns:a="http://schemas.openxmlformats.org/drawingml/2006/main" w="15240">
            <a:solidFill>
              <a:srgbClr val="367B72"/>
            </a:solidFill>
          </a:ln>
        </p:spPr>
      </p:sp>
      <p:sp>
        <p:nvSpPr>
          <p:cNvPr id="8" name="text-93">
            <a:extLst xmlns:a="http://schemas.openxmlformats.org/drawingml/2006/main">
              <a:ext uri="{FF2B5EF4-FFF2-40B4-BE49-F238E27FC236}">
                <a16:creationId xmlns:a16="http://schemas.microsoft.com/office/drawing/2014/main" id="{22C49FD9-6416-4DE0-8EC8-5941F4A6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676525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rPr>
              <a:t>肥鱼角色循环</a:t>
            </a:r>
          </a:p>
        </p:txBody>
      </p:sp>
      <p:sp>
        <p:nvSpPr>
          <p:cNvPr id="9" name="text-94">
            <a:extLst xmlns:a="http://schemas.openxmlformats.org/drawingml/2006/main">
              <a:ext uri="{FF2B5EF4-FFF2-40B4-BE49-F238E27FC236}">
                <a16:creationId xmlns:a16="http://schemas.microsoft.com/office/drawing/2014/main" id="{38894DE5-B257-4930-A07A-48E3F249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095625"/>
            <a:ext cx="2800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当前理解、持续内心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活动选择</a:t>
            </a:r>
          </a:p>
        </p:txBody>
      </p:sp>
      <p:sp>
        <p:nvSpPr>
          <p:cNvPr id="10" name="DSH 工具与任务">
            <a:extLst xmlns:a="http://schemas.openxmlformats.org/drawingml/2006/main">
              <a:ext uri="{FF2B5EF4-FFF2-40B4-BE49-F238E27FC236}">
                <a16:creationId xmlns:a16="http://schemas.microsoft.com/office/drawing/2014/main" id="{2E9EF0E3-95A5-4E62-90A0-E31BA71D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524125"/>
            <a:ext cx="28098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8"/>
          </a:solidFill>
          <a:ln xmlns:a="http://schemas.openxmlformats.org/drawingml/2006/main" w="15240">
            <a:solidFill>
              <a:srgbClr val="367B72"/>
            </a:solidFill>
          </a:ln>
        </p:spPr>
      </p:sp>
      <p:sp>
        <p:nvSpPr>
          <p:cNvPr id="11" name="text-95">
            <a:extLst xmlns:a="http://schemas.openxmlformats.org/drawingml/2006/main">
              <a:ext uri="{FF2B5EF4-FFF2-40B4-BE49-F238E27FC236}">
                <a16:creationId xmlns:a16="http://schemas.microsoft.com/office/drawing/2014/main" id="{BB552096-7B25-4606-99E9-A004C205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676525"/>
            <a:ext cx="2466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rPr>
              <a:t>DSH 工具与任务</a:t>
            </a:r>
          </a:p>
        </p:txBody>
      </p:sp>
      <p:sp>
        <p:nvSpPr>
          <p:cNvPr id="12" name="text-96">
            <a:extLst xmlns:a="http://schemas.openxmlformats.org/drawingml/2006/main">
              <a:ext uri="{FF2B5EF4-FFF2-40B4-BE49-F238E27FC236}">
                <a16:creationId xmlns:a16="http://schemas.microsoft.com/office/drawing/2014/main" id="{BB5F1299-655D-4ECC-8F82-9A4F54FE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095625"/>
            <a:ext cx="24669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受限工具、独立工作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真实回执</a:t>
            </a:r>
          </a:p>
        </p:txBody>
      </p:sp>
      <p:sp>
        <p:nvSpPr>
          <p:cNvPr id="15" name="角色本地档案">
            <a:extLst xmlns:a="http://schemas.openxmlformats.org/drawingml/2006/main">
              <a:ext uri="{FF2B5EF4-FFF2-40B4-BE49-F238E27FC236}">
                <a16:creationId xmlns:a16="http://schemas.microsoft.com/office/drawing/2014/main" id="{C133D8ED-870B-4F80-924B-523C4E27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752975"/>
            <a:ext cx="3143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8"/>
          </a:solidFill>
          <a:ln xmlns:a="http://schemas.openxmlformats.org/drawingml/2006/main" w="15240">
            <a:solidFill>
              <a:srgbClr val="367B72"/>
            </a:solidFill>
          </a:ln>
        </p:spPr>
      </p:sp>
      <p:sp>
        <p:nvSpPr>
          <p:cNvPr id="16" name="text-97">
            <a:extLst xmlns:a="http://schemas.openxmlformats.org/drawingml/2006/main">
              <a:ext uri="{FF2B5EF4-FFF2-40B4-BE49-F238E27FC236}">
                <a16:creationId xmlns:a16="http://schemas.microsoft.com/office/drawing/2014/main" id="{4B653707-5863-4BBA-B44A-B8F6EDF1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905375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rPr>
              <a:t>角色本地档案</a:t>
            </a:r>
          </a:p>
        </p:txBody>
      </p:sp>
      <p:sp>
        <p:nvSpPr>
          <p:cNvPr id="17" name="text-98">
            <a:extLst xmlns:a="http://schemas.openxmlformats.org/drawingml/2006/main">
              <a:ext uri="{FF2B5EF4-FFF2-40B4-BE49-F238E27FC236}">
                <a16:creationId xmlns:a16="http://schemas.microsoft.com/office/drawing/2014/main" id="{E10FA712-FA78-446D-8C00-0BD24392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324475"/>
            <a:ext cx="2800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来源、经历与态度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兴趣与版本</a:t>
            </a:r>
          </a:p>
        </p:txBody>
      </p:sp>
      <p:sp>
        <p:nvSpPr>
          <p:cNvPr id="19" name="text-99">
            <a:extLst xmlns:a="http://schemas.openxmlformats.org/drawingml/2006/main">
              <a:ext uri="{FF2B5EF4-FFF2-40B4-BE49-F238E27FC236}">
                <a16:creationId xmlns:a16="http://schemas.microsoft.com/office/drawing/2014/main" id="{213C7A6F-750C-4FD9-AD4A-512999AA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325" b="1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325" b="1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325" b="1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325" b="1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325" b="1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325" b="1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325" b="1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325" b="1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325" b="1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pPr>
            <a:r>
              <a:rPr sz="2325" b="1">
                <a:solidFill>
                  <a:srgbClr val="367B72"/>
                </a:solidFill>
                <a:latin typeface="DengXian"/>
                <a:ea typeface="DengXian"/>
                <a:cs typeface="DengXian"/>
              </a:rPr>
              <a:t>生活台</a:t>
            </a:r>
          </a:p>
        </p:txBody>
      </p:sp>
      <p:sp>
        <p:nvSpPr>
          <p:cNvPr id="20" name="text-100">
            <a:extLst xmlns:a="http://schemas.openxmlformats.org/drawingml/2006/main">
              <a:ext uri="{FF2B5EF4-FFF2-40B4-BE49-F238E27FC236}">
                <a16:creationId xmlns:a16="http://schemas.microsoft.com/office/drawing/2014/main" id="{EF3F3D2C-F657-44C6-88C7-E1D347E1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62575"/>
            <a:ext cx="276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管理状态与权限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检索跨来源记录</a:t>
            </a:r>
          </a:p>
        </p:txBody>
      </p:sp>
      <p:sp>
        <p:nvSpPr>
          <p:cNvPr id="21" name="text-101">
            <a:extLst xmlns:a="http://schemas.openxmlformats.org/drawingml/2006/main">
              <a:ext uri="{FF2B5EF4-FFF2-40B4-BE49-F238E27FC236}">
                <a16:creationId xmlns:a16="http://schemas.microsoft.com/office/drawing/2014/main" id="{E2B65DFE-D8C1-4FE2-A3DD-F2ADF730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848225"/>
            <a:ext cx="27527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平台适配负责能力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角色档案承接连续性</a:t>
            </a:r>
          </a:p>
        </p:txBody>
      </p:sp>
    </p:spTree>
    <p:extLst>
      <p:ext uri="{BB962C8B-B14F-4D97-AF65-F5344CB8AC3E}">
        <p14:creationId xmlns:p14="http://schemas.microsoft.com/office/powerpoint/2010/main" val="17193775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2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DAA7C7-CCED-4847-8C18-18855C0D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pPr>
            <a:r>
              <a:rPr sz="3300" b="1">
                <a:solidFill>
                  <a:srgbClr val="173B46"/>
                </a:solidFill>
                <a:latin typeface="DengXian"/>
                <a:ea typeface="DengXian"/>
                <a:cs typeface="DengXian"/>
              </a:rPr>
              <a:t>验证范围与局限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7B74473-D2D2-4501-806F-7FFBFC94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53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text-104">
            <a:extLst xmlns:a="http://schemas.openxmlformats.org/drawingml/2006/main">
              <a:ext uri="{FF2B5EF4-FFF2-40B4-BE49-F238E27FC236}">
                <a16:creationId xmlns:a16="http://schemas.microsoft.com/office/drawing/2014/main" id="{E16FCCAC-76C2-49C7-9D69-0657B868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550" b="1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550" b="1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550" b="1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550" b="1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550" b="1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550" b="1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550" b="1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550" b="1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550" b="1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pPr>
            <a:r>
              <a:rPr sz="2550" b="1">
                <a:solidFill>
                  <a:srgbClr val="367B72"/>
                </a:solidFill>
                <a:latin typeface="DengXian"/>
                <a:ea typeface="DengXian"/>
                <a:cs typeface="DengXian"/>
              </a:rPr>
              <a:t>可以复核的证据</a:t>
            </a:r>
          </a:p>
        </p:txBody>
      </p:sp>
      <p:sp>
        <p:nvSpPr>
          <p:cNvPr id="4" name="text-105">
            <a:extLst xmlns:a="http://schemas.openxmlformats.org/drawingml/2006/main">
              <a:ext uri="{FF2B5EF4-FFF2-40B4-BE49-F238E27FC236}">
                <a16:creationId xmlns:a16="http://schemas.microsoft.com/office/drawing/2014/main" id="{F348FAE4-1FB3-4179-8761-4E9A189B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485775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rPr>
              <a:t>官方 npm 依赖与独立 DSH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rPr>
              <a:t>隔离空档案的核心启动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rPr>
              <a:t>原生插件、鉴权与完整停机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rPr>
              <a:t>语音运行时与离线 Whisper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rPr>
              <a:t>合成静音识别及缺模型失败</a:t>
            </a:r>
          </a:p>
        </p:txBody>
      </p:sp>
      <p:sp>
        <p:nvSpPr>
          <p:cNvPr id="5" name="text-106">
            <a:extLst xmlns:a="http://schemas.openxmlformats.org/drawingml/2006/main">
              <a:ext uri="{FF2B5EF4-FFF2-40B4-BE49-F238E27FC236}">
                <a16:creationId xmlns:a16="http://schemas.microsoft.com/office/drawing/2014/main" id="{C7AB6308-98C1-4E8D-BCA9-429CB6EA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67640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550" b="1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550" b="1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550" b="1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550" b="1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550" b="1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550" b="1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550" b="1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550" b="1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550" b="1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pPr>
            <a:r>
              <a:rPr sz="2550" b="1">
                <a:solidFill>
                  <a:srgbClr val="367B72"/>
                </a:solidFill>
                <a:latin typeface="DengXian"/>
                <a:ea typeface="DengXian"/>
                <a:cs typeface="DengXian"/>
              </a:rPr>
              <a:t>持续存在的边界</a:t>
            </a:r>
          </a:p>
        </p:txBody>
      </p:sp>
      <p:sp>
        <p:nvSpPr>
          <p:cNvPr id="6" name="text-107">
            <a:extLst xmlns:a="http://schemas.openxmlformats.org/drawingml/2006/main">
              <a:ext uri="{FF2B5EF4-FFF2-40B4-BE49-F238E27FC236}">
                <a16:creationId xmlns:a16="http://schemas.microsoft.com/office/drawing/2014/main" id="{8D7CC91F-82B7-4146-8C59-1935B8A4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400300"/>
            <a:ext cx="485775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rPr>
              <a:t>真实麦克风、播放与全局键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rPr>
              <a:t>QQ 真实送达与云模型回复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rPr>
              <a:t>平台账号登录与实际互动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rPr>
              <a:t>采样画面不等于完整观看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rPr>
              <a:t>少量样本不能证明长期稳定</a:t>
            </a:r>
          </a:p>
        </p:txBody>
      </p:sp>
      <p:sp>
        <p:nvSpPr>
          <p:cNvPr id="7" name="separator">
            <a:extLst xmlns:a="http://schemas.openxmlformats.org/drawingml/2006/main">
              <a:ext uri="{FF2B5EF4-FFF2-40B4-BE49-F238E27FC236}">
                <a16:creationId xmlns:a16="http://schemas.microsoft.com/office/drawing/2014/main" id="{7D8C7D20-409B-42AB-A9B8-95081E4F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CDF"/>
            </a:solidFill>
          </a:ln>
        </p:spPr>
      </p:sp>
      <p:sp>
        <p:nvSpPr>
          <p:cNvPr id="8" name="text-108">
            <a:extLst xmlns:a="http://schemas.openxmlformats.org/drawingml/2006/main">
              <a:ext uri="{FF2B5EF4-FFF2-40B4-BE49-F238E27FC236}">
                <a16:creationId xmlns:a16="http://schemas.microsoft.com/office/drawing/2014/main" id="{59D31B75-1881-48DE-A677-A94BF202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5251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隔离核心启动、离线识别模型已实测。真实设备与账号链待使用者验证。</a:t>
            </a:r>
          </a:p>
        </p:txBody>
      </p:sp>
    </p:spTree>
    <p:extLst>
      <p:ext uri="{BB962C8B-B14F-4D97-AF65-F5344CB8AC3E}">
        <p14:creationId xmlns:p14="http://schemas.microsoft.com/office/powerpoint/2010/main" val="206251371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A0E40B-8124-4E10-B897-2F580B778F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f9caab81a04fc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xt-109">
            <a:extLst xmlns:a="http://schemas.openxmlformats.org/drawingml/2006/main">
              <a:ext uri="{FF2B5EF4-FFF2-40B4-BE49-F238E27FC236}">
                <a16:creationId xmlns:a16="http://schemas.microsoft.com/office/drawing/2014/main" id="{67515FAE-22A4-4308-98DF-B36EFC84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37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37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37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37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37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37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37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37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37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pPr>
            <a:r>
              <a:rPr sz="3375" b="1">
                <a:solidFill>
                  <a:srgbClr val="173B46"/>
                </a:solidFill>
                <a:latin typeface="DengXian"/>
                <a:ea typeface="DengXian"/>
                <a:cs typeface="DengXian"/>
              </a:rPr>
              <a:t>开源与贡献</a:t>
            </a:r>
          </a:p>
        </p:txBody>
      </p:sp>
      <p:sp>
        <p:nvSpPr>
          <p:cNvPr id="3" name="text-110">
            <a:extLst xmlns:a="http://schemas.openxmlformats.org/drawingml/2006/main">
              <a:ext uri="{FF2B5EF4-FFF2-40B4-BE49-F238E27FC236}">
                <a16:creationId xmlns:a16="http://schemas.microsoft.com/office/drawing/2014/main" id="{ABD0FCF7-7F39-42A7-932F-FA38E076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85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85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85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85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85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85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85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85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85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850" b="0">
                <a:solidFill>
                  <a:srgbClr val="367B72"/>
                </a:solidFill>
                <a:latin typeface="DengXian"/>
                <a:ea typeface="DengXian"/>
                <a:cs typeface="DengXian"/>
              </a:defRPr>
            </a:pPr>
            <a:r>
              <a:rPr sz="2850" b="0">
                <a:solidFill>
                  <a:srgbClr val="367B72"/>
                </a:solidFill>
                <a:latin typeface="DengXian"/>
                <a:ea typeface="DengXian"/>
                <a:cs typeface="DengXian"/>
              </a:rPr>
              <a:t>公开代码、说明与合成演示</a:t>
            </a:r>
          </a:p>
        </p:txBody>
      </p:sp>
      <p:sp>
        <p:nvSpPr>
          <p:cNvPr id="4" name="text-111">
            <a:extLst xmlns:a="http://schemas.openxmlformats.org/drawingml/2006/main">
              <a:ext uri="{FF2B5EF4-FFF2-40B4-BE49-F238E27FC236}">
                <a16:creationId xmlns:a16="http://schemas.microsoft.com/office/drawing/2014/main" id="{8A674113-3A3F-45FF-A4FD-FBC2048C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rPr>
              <a:t>保留上游来源、许可证与必要补丁。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B46"/>
                </a:solidFill>
                <a:latin typeface="Microsoft YaHei"/>
                <a:ea typeface="Microsoft YaHei"/>
                <a:cs typeface="Microsoft YaHei"/>
              </a:rPr>
              <a:t>真实角色档案、聊天、凭据与备份留在本地。</a:t>
            </a:r>
          </a:p>
        </p:txBody>
      </p:sp>
      <p:sp>
        <p:nvSpPr>
          <p:cNvPr id="5" name="text-112">
            <a:extLst xmlns:a="http://schemas.openxmlformats.org/drawingml/2006/main">
              <a:ext uri="{FF2B5EF4-FFF2-40B4-BE49-F238E27FC236}">
                <a16:creationId xmlns:a16="http://schemas.microsoft.com/office/drawing/2014/main" id="{4CB1753D-FE9F-43AA-8106-D323EF9C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8147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3B46"/>
                </a:solidFill>
                <a:latin typeface="DengXian"/>
                <a:ea typeface="DengXian"/>
                <a:cs typeface="DengXian"/>
              </a:defRPr>
            </a:pPr>
            <a:r>
              <a:rPr sz="2325" b="1">
                <a:solidFill>
                  <a:srgbClr val="173B46"/>
                </a:solidFill>
                <a:latin typeface="DengXian"/>
                <a:ea typeface="DengXian"/>
                <a:cs typeface="DengXian"/>
              </a:rPr>
              <a:t>适合贡献的方向</a:t>
            </a:r>
          </a:p>
        </p:txBody>
      </p:sp>
      <p:sp>
        <p:nvSpPr>
          <p:cNvPr id="6" name="text-113">
            <a:extLst xmlns:a="http://schemas.openxmlformats.org/drawingml/2006/main">
              <a:ext uri="{FF2B5EF4-FFF2-40B4-BE49-F238E27FC236}">
                <a16:creationId xmlns:a16="http://schemas.microsoft.com/office/drawing/2014/main" id="{F5693939-AEEB-4A0C-89BF-0B7B60F6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1000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可复现的来源适配、记忆评测、界面与可访问性，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49656E"/>
                </a:solidFill>
                <a:latin typeface="Microsoft YaHei"/>
                <a:ea typeface="Microsoft YaHei"/>
                <a:cs typeface="Microsoft YaHei"/>
              </a:rPr>
              <a:t>以及带清楚边界和回执的工具能力。</a:t>
            </a:r>
          </a:p>
        </p:txBody>
      </p:sp>
      <p:sp>
        <p:nvSpPr>
          <p:cNvPr id="7" name="text-114">
            <a:extLst xmlns:a="http://schemas.openxmlformats.org/drawingml/2006/main">
              <a:ext uri="{FF2B5EF4-FFF2-40B4-BE49-F238E27FC236}">
                <a16:creationId xmlns:a16="http://schemas.microsoft.com/office/drawing/2014/main" id="{8AFF9ADF-B6F6-4361-87D1-99C18EC7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67B72"/>
                </a:solidFill>
                <a:latin typeface="Microsoft YaHei"/>
                <a:ea typeface="Microsoft YaHei"/>
                <a:cs typeface="Microsoft YaHei"/>
              </a:rPr>
              <a:t>README 与配套功能、使用、边界文档</a:t>
            </a:r>
          </a:p>
        </p:txBody>
      </p:sp>
    </p:spTree>
    <p:extLst>
      <p:ext uri="{BB962C8B-B14F-4D97-AF65-F5344CB8AC3E}">
        <p14:creationId xmlns:p14="http://schemas.microsoft.com/office/powerpoint/2010/main" val="1558659456"/>
      </p:ext>
    </p:extLst>
  </p:cSld>
</p:sld>
</file>

<file path=ppt/theme/theme1.xml><?xml version="1.0" encoding="utf-8"?>
<a:theme xmlns:a="http://schemas.openxmlformats.org/drawingml/2006/main" name="ChatGPT">
  <a:themeElements>
    <a:clrScheme name="Feiyu Tide">
      <a:dk1>
        <a:srgbClr val="000000"/>
      </a:dk1>
      <a:lt1>
        <a:srgbClr val="FFFFFF"/>
      </a:lt1>
      <a:dk2>
        <a:srgbClr val="173B46"/>
      </a:dk2>
      <a:lt2>
        <a:srgbClr val="E3EDEC"/>
      </a:lt2>
      <a:accent1>
        <a:srgbClr val="367B72"/>
      </a:accent1>
      <a:accent2>
        <a:srgbClr val="173B46"/>
      </a:accent2>
      <a:accent3>
        <a:srgbClr val="7DA6A1"/>
      </a:accent3>
      <a:accent4>
        <a:srgbClr val="AD8A62"/>
      </a:accent4>
      <a:accent5>
        <a:srgbClr val="7D8EAE"/>
      </a:accent5>
      <a:accent6>
        <a:srgbClr val="A9BDA5"/>
      </a:accent6>
      <a:hlink>
        <a:srgbClr val="367B72"/>
      </a:hlink>
      <a:folHlink>
        <a:srgbClr val="367B72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Feiyu Tid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Feiyu Contributors</dc:creator>
  <lastModifiedBy>Feiyu Contributors</lastModifiedBy>
  <dc:title>Presentation</dc:title>
  <dcterms:created xsi:type="dcterms:W3CDTF">2026-10-28T11:48:26.0750000Z</dcterms:created>
  <dcterms:modified xsi:type="dcterms:W3CDTF">2026-10-28T11:48:26.0750000Z</dcterms:modified>
</coreProperties>
</file>